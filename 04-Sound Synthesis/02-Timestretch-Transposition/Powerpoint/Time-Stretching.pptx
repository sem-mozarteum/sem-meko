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media/image1.png" ContentType="image/png"/>
  <Override PartName="/ppt/media/image4.png" ContentType="image/png"/>
  <Override PartName="/ppt/media/image12.png" ContentType="image/png"/>
  <Override PartName="/ppt/media/image5.png" ContentType="image/png"/>
  <Override PartName="/ppt/media/image13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10.png" ContentType="image/png"/>
  <Override PartName="/ppt/media/image2.png" ContentType="image/png"/>
  <Override PartName="/ppt/media/image9.png" ContentType="image/png"/>
  <Override PartName="/ppt/media/image11.png" ContentType="image/png"/>
  <Override PartName="/ppt/media/image3.png" ContentType="image/png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A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4426920" cy="324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Aft>
                <a:spcPts val="1414"/>
              </a:spcAft>
              <a:buNone/>
            </a:pPr>
            <a:endParaRPr b="0" lang="de-A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/>
          </p:nvPr>
        </p:nvSpPr>
        <p:spPr>
          <a:xfrm>
            <a:off x="5152680" y="1769040"/>
            <a:ext cx="4426920" cy="324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Aft>
                <a:spcPts val="1414"/>
              </a:spcAft>
              <a:buNone/>
            </a:pPr>
            <a:endParaRPr b="0" lang="de-A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D473FA-B991-45B5-9151-2A19D012AC6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A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324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Aft>
                <a:spcPts val="1414"/>
              </a:spcAft>
              <a:buNone/>
            </a:pPr>
            <a:endParaRPr b="0" lang="de-A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ECE28A-892F-4444-A13A-5CF11CB6215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A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324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A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0C9034-37FC-46BD-A013-8EC10FA3FE8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AT" sz="4400" strike="noStrike" u="none">
                <a:solidFill>
                  <a:srgbClr val="000000"/>
                </a:solidFill>
                <a:uFillTx/>
                <a:latin typeface="Arial"/>
              </a:rPr>
              <a:t>Format des Titeltextes durch Klicken bearbeiten</a:t>
            </a:r>
            <a:endParaRPr b="0" lang="de-A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324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3200" strike="noStrike" u="none">
                <a:solidFill>
                  <a:srgbClr val="000000"/>
                </a:solidFill>
                <a:uFillTx/>
                <a:latin typeface="Arial"/>
              </a:rPr>
              <a:t>Format des Gliederungstextes durch Klicken bearbeiten</a:t>
            </a:r>
            <a:endParaRPr b="0" lang="de-AT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Aft>
                <a:spcPts val="113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AT" sz="2800" strike="noStrike" u="none">
                <a:solidFill>
                  <a:srgbClr val="000000"/>
                </a:solidFill>
                <a:uFillTx/>
                <a:latin typeface="Arial"/>
              </a:rPr>
              <a:t>Zweite Gliederungsebene</a:t>
            </a:r>
            <a:endParaRPr b="0" lang="de-AT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2400" strike="noStrike" u="none">
                <a:solidFill>
                  <a:srgbClr val="000000"/>
                </a:solidFill>
                <a:uFillTx/>
                <a:latin typeface="Arial"/>
              </a:rPr>
              <a:t>Dritte Gliederungsebene</a:t>
            </a:r>
            <a:endParaRPr b="0" lang="de-AT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AT" sz="2000" strike="noStrike" u="none">
                <a:solidFill>
                  <a:srgbClr val="000000"/>
                </a:solidFill>
                <a:uFillTx/>
                <a:latin typeface="Arial"/>
              </a:rPr>
              <a:t>Vierte Gliederungsebene</a:t>
            </a:r>
            <a:endParaRPr b="0" lang="de-AT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2000" strike="noStrike" u="none">
                <a:solidFill>
                  <a:srgbClr val="000000"/>
                </a:solidFill>
                <a:uFillTx/>
                <a:latin typeface="Arial"/>
              </a:rPr>
              <a:t>Fünfte Gliederungsebene</a:t>
            </a:r>
            <a:endParaRPr b="0" lang="de-AT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2000" strike="noStrike" u="none">
                <a:solidFill>
                  <a:srgbClr val="000000"/>
                </a:solidFill>
                <a:uFillTx/>
                <a:latin typeface="Arial"/>
              </a:rPr>
              <a:t>Sechste Gliederungsebene</a:t>
            </a:r>
            <a:endParaRPr b="0" lang="de-AT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2000" strike="noStrike" u="none">
                <a:solidFill>
                  <a:srgbClr val="000000"/>
                </a:solidFill>
                <a:uFillTx/>
                <a:latin typeface="Arial"/>
              </a:rPr>
              <a:t>Siebte Gliederungsebene</a:t>
            </a:r>
            <a:endParaRPr b="0" lang="de-AT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de-AT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de-AT" sz="1400" strike="noStrike" u="none">
                <a:solidFill>
                  <a:srgbClr val="000000"/>
                </a:solidFill>
                <a:uFillTx/>
                <a:latin typeface="Times New Roman"/>
              </a:rPr>
              <a:t>&lt;Datum/Uhrzeit&gt;</a:t>
            </a:r>
            <a:endParaRPr b="0" lang="de-AT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de-AT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AT" sz="1400" strike="noStrike" u="none">
                <a:solidFill>
                  <a:srgbClr val="000000"/>
                </a:solidFill>
                <a:uFillTx/>
                <a:latin typeface="Times New Roman"/>
              </a:rPr>
              <a:t>&lt;Fußzeile&gt;</a:t>
            </a:r>
            <a:endParaRPr b="0" lang="de-AT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de-AT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874CAAD-469F-44C7-AA94-48CE6F6091C0}" type="slidenum">
              <a:rPr b="0" lang="de-AT" sz="1400" strike="noStrike" u="none">
                <a:solidFill>
                  <a:srgbClr val="000000"/>
                </a:solidFill>
                <a:uFillTx/>
                <a:latin typeface="Times New Roman"/>
              </a:rPr>
              <a:t>&lt;Foliennummer&gt;</a:t>
            </a:fld>
            <a:endParaRPr b="0" lang="de-AT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file:///Users/bornhoeft/Documents/lehre/Mozarteum/Lehre/2024/SS24/lehre/meko/04-Sound%20Synthesis/02-timestretch-transposition/nuernberg/timestretch/samples/Mouth_bow-005.wav" TargetMode="External"/><Relationship Id="rId2" Type="http://schemas.openxmlformats.org/officeDocument/2006/relationships/image" Target="../media/image1.png"/><Relationship Id="rId3" Type="http://schemas.openxmlformats.org/officeDocument/2006/relationships/hyperlink" Target="file:///Users/bornhoeft/Documents/lehre/Mozarteum/Lehre/2024/SS24/lehre/meko/04-Sound%20Synthesis/02-timestretch-transposition/nuernberg//timestretch/samples/Mouth_bow-006.wav" TargetMode="External"/><Relationship Id="rId4" Type="http://schemas.openxmlformats.org/officeDocument/2006/relationships/image" Target="../media/image2.png"/><Relationship Id="rId5" Type="http://schemas.openxmlformats.org/officeDocument/2006/relationships/hyperlink" Target="file:///Users/bornhoeft/Documents/lehre/Mozarteum/Lehre/2024/SS24/lehre/meko/04-Sound%20Synthesis/02-timestretch-transposition/nuernberg/timestretch/samples/Mouth_bow-004.wav" TargetMode="External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hyperlink" Target="file:///Users/bornhoeft/Documents/lehre/Mozarteum/Lehre/2024/SS24/lehre/meko/04-Sound%20Synthesis/02-timestretch-transposition/nuernberg/timestretch/mouth_bow_100ms_0.5.wav" TargetMode="External"/><Relationship Id="rId3" Type="http://schemas.openxmlformats.org/officeDocument/2006/relationships/hyperlink" Target="file:///Users/bornhoeft/Documents/lehre/Mozarteum/Lehre/2024/SS24/lehre/meko/04-Sound%20Synthesis/02-timestretch-transposition/nuernberg/timestretch/ola_mouth_bow_2_100ms_0.5.wav" TargetMode="External"/><Relationship Id="rId4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hyperlink" Target="file:///Users/bornhoeft/Documents/lehre/Mozarteum/Lehre/2024/SS24/lehre/meko/04-Sound%20Synthesis/02-timestretch-transposition/nuernberg/timestretch/samples/mouth_bow_transient_opt_0.25.wav" TargetMode="Externa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AT" sz="4400" strike="noStrike" u="none">
                <a:solidFill>
                  <a:srgbClr val="000000"/>
                </a:solidFill>
                <a:uFillTx/>
                <a:latin typeface="Arial"/>
              </a:rPr>
              <a:t>Time Stretching</a:t>
            </a:r>
            <a:endParaRPr b="0" lang="de-A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98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AT" sz="3200" strike="noStrike" u="none">
                <a:solidFill>
                  <a:srgbClr val="000000"/>
                </a:solidFill>
                <a:uFillTx/>
                <a:latin typeface="Arial"/>
              </a:rPr>
              <a:t>Alexander Bauer</a:t>
            </a:r>
            <a:endParaRPr b="0" lang="de-A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/>
          </p:nvPr>
        </p:nvSpPr>
        <p:spPr>
          <a:xfrm>
            <a:off x="504000" y="792000"/>
            <a:ext cx="9071640" cy="596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TSM → „Time Scale Modification“</a:t>
            </a: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Änderung der Abspielgeschwindigkeit ohne gleichzeitige Änderung der Tonhöhe</a:t>
            </a: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Stretching </a:t>
            </a:r>
            <a:r>
              <a:rPr b="0" lang="de-AT" sz="1800" strike="noStrike" u="none">
                <a:solidFill>
                  <a:srgbClr val="000000"/>
                </a:solidFill>
                <a:uFillTx/>
                <a:latin typeface="Wingdings"/>
                <a:ea typeface="Wingdings"/>
              </a:rPr>
              <a:t></a:t>
            </a: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 Compression</a:t>
            </a: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Zwei Grundtechniken: Zeit- und Frequenzdomäne</a:t>
            </a: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0">
              <a:spcAft>
                <a:spcPts val="1414"/>
              </a:spcAft>
              <a:buNone/>
            </a:pP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56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AT" sz="2400" strike="noStrike" u="none">
                <a:solidFill>
                  <a:srgbClr val="000000"/>
                </a:solidFill>
                <a:uFillTx/>
                <a:latin typeface="Arial"/>
              </a:rPr>
              <a:t>Problematik</a:t>
            </a:r>
            <a:endParaRPr b="0" lang="de-AT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504000" y="1080000"/>
            <a:ext cx="7920000" cy="119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Änderung der Abspielgeschwindigkeit (digital: „resampling“) korreliert mit </a:t>
            </a: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Änderung</a:t>
            </a: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 der Tonhöhe</a:t>
            </a: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0">
              <a:spcAft>
                <a:spcPts val="850"/>
              </a:spcAft>
              <a:buNone/>
            </a:pP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7" name="" descr="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936000" y="4798800"/>
            <a:ext cx="4320000" cy="961200"/>
          </a:xfrm>
          <a:prstGeom prst="rect">
            <a:avLst/>
          </a:prstGeom>
          <a:ln w="0">
            <a:noFill/>
          </a:ln>
        </p:spPr>
      </p:pic>
      <p:pic>
        <p:nvPicPr>
          <p:cNvPr id="18" name="" descr="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936000" y="6120000"/>
            <a:ext cx="4320000" cy="964800"/>
          </a:xfrm>
          <a:prstGeom prst="rect">
            <a:avLst/>
          </a:prstGeom>
          <a:ln w="0">
            <a:noFill/>
          </a:ln>
        </p:spPr>
      </p:pic>
      <p:pic>
        <p:nvPicPr>
          <p:cNvPr id="19" name="" descr="">
            <a:hlinkClick r:id="rId5"/>
          </p:cNvPr>
          <p:cNvPicPr/>
          <p:nvPr/>
        </p:nvPicPr>
        <p:blipFill>
          <a:blip r:embed="rId6"/>
          <a:stretch/>
        </p:blipFill>
        <p:spPr>
          <a:xfrm>
            <a:off x="936000" y="3672000"/>
            <a:ext cx="4320000" cy="961200"/>
          </a:xfrm>
          <a:prstGeom prst="rect">
            <a:avLst/>
          </a:prstGeom>
          <a:ln w="0">
            <a:noFill/>
          </a:ln>
        </p:spPr>
      </p:pic>
      <p:sp>
        <p:nvSpPr>
          <p:cNvPr id="20" name=""/>
          <p:cNvSpPr txBox="1"/>
          <p:nvPr/>
        </p:nvSpPr>
        <p:spPr>
          <a:xfrm>
            <a:off x="5400000" y="4062240"/>
            <a:ext cx="3600000" cy="392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Rate 1.0</a:t>
            </a: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Rate 0.5   (-1 Oktave)</a:t>
            </a: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Rate 0.25 (-2 Oktaven)</a:t>
            </a: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1008000" y="4320000"/>
            <a:ext cx="0" cy="936000"/>
          </a:xfrm>
          <a:custGeom>
            <a:avLst/>
            <a:gdLst/>
            <a:ahLst/>
            <a:rect l="0" t="0" r="r" b="b"/>
            <a:pathLst>
              <a:path fill="none" w="0" h="2600">
                <a:moveTo>
                  <a:pt x="0" y="0"/>
                </a:moveTo>
                <a:lnTo>
                  <a:pt x="0" y="2600"/>
                </a:lnTo>
              </a:path>
            </a:pathLst>
          </a:custGeom>
          <a:ln w="0">
            <a:solidFill>
              <a:srgbClr val="ff3333"/>
            </a:solidFill>
            <a:tailEnd len="med" type="triangle" w="med"/>
          </a:ln>
        </p:spPr>
        <p:txBody>
          <a:bodyPr lIns="90000" rIns="90000" tIns="45000" bIns="45000" anchor="ctr">
            <a:noAutofit/>
          </a:bodyPr>
          <a:p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1728000" y="4392000"/>
            <a:ext cx="648000" cy="864000"/>
          </a:xfrm>
          <a:custGeom>
            <a:avLst/>
            <a:gdLst/>
            <a:ahLst/>
            <a:rect l="0" t="0" r="r" b="b"/>
            <a:pathLst>
              <a:path fill="none" w="1800" h="2400">
                <a:moveTo>
                  <a:pt x="0" y="0"/>
                </a:moveTo>
                <a:lnTo>
                  <a:pt x="1800" y="2400"/>
                </a:lnTo>
              </a:path>
            </a:pathLst>
          </a:custGeom>
          <a:ln w="0">
            <a:solidFill>
              <a:srgbClr val="ff3333"/>
            </a:solidFill>
            <a:tailEnd len="med" type="triangle" w="med"/>
          </a:ln>
        </p:spPr>
        <p:txBody>
          <a:bodyPr lIns="90000" rIns="90000" tIns="45000" bIns="45000" anchor="ctr">
            <a:noAutofit/>
          </a:bodyPr>
          <a:p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1730160" y="4393080"/>
            <a:ext cx="648000" cy="864000"/>
          </a:xfrm>
          <a:custGeom>
            <a:avLst/>
            <a:gdLst/>
            <a:ahLst/>
            <a:rect l="0" t="0" r="r" b="b"/>
            <a:pathLst>
              <a:path fill="none" w="1800" h="2400">
                <a:moveTo>
                  <a:pt x="0" y="0"/>
                </a:moveTo>
                <a:lnTo>
                  <a:pt x="1800" y="2400"/>
                </a:lnTo>
              </a:path>
            </a:pathLst>
          </a:custGeom>
          <a:ln w="0">
            <a:solidFill>
              <a:srgbClr val="ff3333"/>
            </a:solidFill>
            <a:tailEnd len="med" type="triangle" w="med"/>
          </a:ln>
        </p:spPr>
        <p:txBody>
          <a:bodyPr lIns="90000" rIns="90000" tIns="45000" bIns="45000" anchor="ctr">
            <a:noAutofit/>
          </a:bodyPr>
          <a:p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1008000" y="4320000"/>
            <a:ext cx="19080" cy="2160000"/>
          </a:xfrm>
          <a:custGeom>
            <a:avLst/>
            <a:gdLst/>
            <a:ahLst/>
            <a:rect l="0" t="0" r="r" b="b"/>
            <a:pathLst>
              <a:path fill="none" w="53" h="6000">
                <a:moveTo>
                  <a:pt x="53" y="0"/>
                </a:moveTo>
                <a:lnTo>
                  <a:pt x="0" y="6000"/>
                </a:lnTo>
              </a:path>
            </a:pathLst>
          </a:custGeom>
          <a:ln w="0">
            <a:solidFill>
              <a:srgbClr val="ff3333"/>
            </a:solidFill>
            <a:tailEnd len="med" type="triangle" w="med"/>
          </a:ln>
        </p:spPr>
        <p:txBody>
          <a:bodyPr lIns="90000" rIns="90000" tIns="45000" bIns="45000" anchor="ctr">
            <a:noAutofit/>
          </a:bodyPr>
          <a:p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1732320" y="4394160"/>
            <a:ext cx="2155680" cy="2157840"/>
          </a:xfrm>
          <a:custGeom>
            <a:avLst/>
            <a:gdLst/>
            <a:ahLst/>
            <a:rect l="0" t="0" r="r" b="b"/>
            <a:pathLst>
              <a:path fill="none" w="5988" h="5994">
                <a:moveTo>
                  <a:pt x="0" y="0"/>
                </a:moveTo>
                <a:lnTo>
                  <a:pt x="5988" y="5994"/>
                </a:lnTo>
              </a:path>
            </a:pathLst>
          </a:custGeom>
          <a:ln w="0">
            <a:solidFill>
              <a:srgbClr val="ff3333"/>
            </a:solidFill>
            <a:tailEnd len="med" type="triangle" w="med"/>
          </a:ln>
        </p:spPr>
        <p:txBody>
          <a:bodyPr lIns="90000" rIns="90000" tIns="45000" bIns="45000" anchor="ctr">
            <a:noAutofit/>
          </a:bodyPr>
          <a:p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6" name="" descr=""/>
          <p:cNvPicPr/>
          <p:nvPr/>
        </p:nvPicPr>
        <p:blipFill>
          <a:blip r:embed="rId7"/>
          <a:stretch/>
        </p:blipFill>
        <p:spPr>
          <a:xfrm>
            <a:off x="936000" y="1738800"/>
            <a:ext cx="4320000" cy="1645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" dur="indefinite" restart="never" nodeType="tmRoot">
          <p:childTnLst>
            <p:seq>
              <p:cTn id="20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4000" y="229320"/>
            <a:ext cx="9071640" cy="49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AT" sz="3200" strike="noStrike" u="none">
                <a:solidFill>
                  <a:srgbClr val="000000"/>
                </a:solidFill>
                <a:uFillTx/>
                <a:latin typeface="Arial"/>
              </a:rPr>
              <a:t>TSM in der Time-Domain</a:t>
            </a:r>
            <a:endParaRPr b="0" lang="de-A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504000" y="1008000"/>
            <a:ext cx="9071640" cy="567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OLA (Overlap-Add):</a:t>
            </a: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9" name="" descr=""/>
          <p:cNvPicPr/>
          <p:nvPr/>
        </p:nvPicPr>
        <p:blipFill>
          <a:blip r:embed="rId1">
            <a:lum bright="17000"/>
          </a:blip>
          <a:srcRect l="0" t="0" r="40075" b="0"/>
          <a:stretch/>
        </p:blipFill>
        <p:spPr>
          <a:xfrm>
            <a:off x="592560" y="1360800"/>
            <a:ext cx="3743640" cy="4615560"/>
          </a:xfrm>
          <a:prstGeom prst="rect">
            <a:avLst/>
          </a:prstGeom>
          <a:ln w="0">
            <a:noFill/>
          </a:ln>
        </p:spPr>
      </p:pic>
      <p:sp>
        <p:nvSpPr>
          <p:cNvPr id="30" name=""/>
          <p:cNvSpPr/>
          <p:nvPr/>
        </p:nvSpPr>
        <p:spPr>
          <a:xfrm>
            <a:off x="504000" y="1440360"/>
            <a:ext cx="936000" cy="1439640"/>
          </a:xfrm>
          <a:prstGeom prst="triangle">
            <a:avLst>
              <a:gd name="adj" fmla="val 50000"/>
            </a:avLst>
          </a:prstGeom>
          <a:noFill/>
          <a:ln w="38160">
            <a:solidFill>
              <a:srgbClr val="ff3333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109080" rIns="109080" tIns="64080" bIns="64080" anchor="ctr">
            <a:noAutofit/>
          </a:bodyPr>
          <a:p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720000" y="1440360"/>
            <a:ext cx="936000" cy="1439640"/>
          </a:xfrm>
          <a:prstGeom prst="triangle">
            <a:avLst>
              <a:gd name="adj" fmla="val 50000"/>
            </a:avLst>
          </a:prstGeom>
          <a:noFill/>
          <a:ln w="38160">
            <a:solidFill>
              <a:srgbClr val="ff3333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109080" rIns="109080" tIns="64080" bIns="64080" anchor="ctr">
            <a:noAutofit/>
          </a:bodyPr>
          <a:p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936000" y="1440000"/>
            <a:ext cx="936000" cy="1440000"/>
          </a:xfrm>
          <a:prstGeom prst="triangle">
            <a:avLst>
              <a:gd name="adj" fmla="val 50000"/>
            </a:avLst>
          </a:prstGeom>
          <a:noFill/>
          <a:ln w="38160">
            <a:solidFill>
              <a:srgbClr val="ff3333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109080" rIns="109080" tIns="64080" bIns="64080" anchor="ctr">
            <a:noAutofit/>
          </a:bodyPr>
          <a:p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1152000" y="1440000"/>
            <a:ext cx="936000" cy="1440000"/>
          </a:xfrm>
          <a:prstGeom prst="triangle">
            <a:avLst>
              <a:gd name="adj" fmla="val 50000"/>
            </a:avLst>
          </a:prstGeom>
          <a:noFill/>
          <a:ln w="38160">
            <a:solidFill>
              <a:srgbClr val="ff3333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109080" rIns="109080" tIns="64080" bIns="64080" anchor="ctr">
            <a:noAutofit/>
          </a:bodyPr>
          <a:p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936000" y="3024000"/>
            <a:ext cx="936000" cy="576000"/>
          </a:xfrm>
          <a:prstGeom prst="triangle">
            <a:avLst>
              <a:gd name="adj" fmla="val 50173"/>
            </a:avLst>
          </a:prstGeom>
          <a:noFill/>
          <a:ln w="38160">
            <a:solidFill>
              <a:srgbClr val="ff3333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109080" rIns="109080" tIns="64080" bIns="64080" anchor="ctr">
            <a:noAutofit/>
          </a:bodyPr>
          <a:p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1368000" y="3744000"/>
            <a:ext cx="1080000" cy="576000"/>
          </a:xfrm>
          <a:prstGeom prst="triangle">
            <a:avLst>
              <a:gd name="adj" fmla="val 50173"/>
            </a:avLst>
          </a:prstGeom>
          <a:noFill/>
          <a:ln w="38160">
            <a:solidFill>
              <a:srgbClr val="ff3333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109080" rIns="109080" tIns="64080" bIns="64080" anchor="ctr">
            <a:noAutofit/>
          </a:bodyPr>
          <a:p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1872000" y="3024000"/>
            <a:ext cx="1008000" cy="576000"/>
          </a:xfrm>
          <a:prstGeom prst="triangle">
            <a:avLst>
              <a:gd name="adj" fmla="val 50173"/>
            </a:avLst>
          </a:prstGeom>
          <a:noFill/>
          <a:ln w="38160">
            <a:solidFill>
              <a:srgbClr val="ff3333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109080" rIns="109080" tIns="64080" bIns="64080" anchor="ctr">
            <a:noAutofit/>
          </a:bodyPr>
          <a:p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2448000" y="3744000"/>
            <a:ext cx="936000" cy="576000"/>
          </a:xfrm>
          <a:prstGeom prst="triangle">
            <a:avLst>
              <a:gd name="adj" fmla="val 50173"/>
            </a:avLst>
          </a:prstGeom>
          <a:noFill/>
          <a:ln w="38160">
            <a:solidFill>
              <a:srgbClr val="ff3333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109080" rIns="109080" tIns="64080" bIns="64080" anchor="ctr">
            <a:noAutofit/>
          </a:bodyPr>
          <a:p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2423880" y="4556160"/>
            <a:ext cx="936000" cy="1420200"/>
          </a:xfrm>
          <a:prstGeom prst="triangle">
            <a:avLst>
              <a:gd name="adj" fmla="val 50173"/>
            </a:avLst>
          </a:prstGeom>
          <a:noFill/>
          <a:ln w="38160">
            <a:solidFill>
              <a:srgbClr val="ff3333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109080" rIns="109080" tIns="64080" bIns="64080" anchor="ctr">
            <a:noAutofit/>
          </a:bodyPr>
          <a:p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1944000" y="4536360"/>
            <a:ext cx="936000" cy="1440000"/>
          </a:xfrm>
          <a:prstGeom prst="triangle">
            <a:avLst>
              <a:gd name="adj" fmla="val 50173"/>
            </a:avLst>
          </a:prstGeom>
          <a:noFill/>
          <a:ln w="38160">
            <a:solidFill>
              <a:srgbClr val="ff3333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109080" rIns="109080" tIns="64080" bIns="64080" anchor="ctr">
            <a:noAutofit/>
          </a:bodyPr>
          <a:p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936000" y="4536000"/>
            <a:ext cx="936000" cy="1440000"/>
          </a:xfrm>
          <a:prstGeom prst="triangle">
            <a:avLst>
              <a:gd name="adj" fmla="val 50173"/>
            </a:avLst>
          </a:prstGeom>
          <a:noFill/>
          <a:ln w="38160">
            <a:solidFill>
              <a:srgbClr val="ff3333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109080" rIns="109080" tIns="64080" bIns="64080" anchor="ctr">
            <a:noAutofit/>
          </a:bodyPr>
          <a:p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1440000" y="4536360"/>
            <a:ext cx="936000" cy="1440000"/>
          </a:xfrm>
          <a:prstGeom prst="triangle">
            <a:avLst>
              <a:gd name="adj" fmla="val 50173"/>
            </a:avLst>
          </a:prstGeom>
          <a:noFill/>
          <a:ln w="38160">
            <a:solidFill>
              <a:srgbClr val="ff3333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109080" rIns="109080" tIns="64080" bIns="64080" anchor="ctr">
            <a:noAutofit/>
          </a:bodyPr>
          <a:p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4814640" y="1800000"/>
            <a:ext cx="4778640" cy="13701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1. Analyse (Frames)</a:t>
            </a: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Abstand der Fenster → </a:t>
            </a:r>
            <a:r>
              <a:rPr b="0" lang="de-AT" sz="1800" strike="noStrike" u="none">
                <a:solidFill>
                  <a:srgbClr val="ff3333"/>
                </a:solidFill>
                <a:uFillTx/>
                <a:latin typeface="Arial"/>
              </a:rPr>
              <a:t>in-hop-size</a:t>
            </a: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4824000" y="3501720"/>
            <a:ext cx="3865320" cy="6022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2. Relokation </a:t>
            </a: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Abstand der Fenster → </a:t>
            </a:r>
            <a:r>
              <a:rPr b="0" lang="de-AT" sz="1800" strike="noStrike" u="none">
                <a:solidFill>
                  <a:srgbClr val="00cc33"/>
                </a:solidFill>
                <a:uFillTx/>
                <a:latin typeface="Arial"/>
              </a:rPr>
              <a:t>out-hop-size</a:t>
            </a: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4" name="" descr="">
            <a:hlinkClick r:id="rId2"/>
          </p:cNvPr>
          <p:cNvPicPr/>
          <p:nvPr/>
        </p:nvPicPr>
        <p:blipFill>
          <a:blip r:embed="">
            <a:biLevel thresh="50000"/>
          </a:blip>
          <a:stretch/>
        </p:blipFill>
        <p:spPr>
          <a:xfrm>
            <a:off x="8856000" y="4867200"/>
            <a:ext cx="360000" cy="460800"/>
          </a:xfrm>
          <a:prstGeom prst="rect">
            <a:avLst/>
          </a:prstGeom>
          <a:ln w="0">
            <a:noFill/>
          </a:ln>
        </p:spPr>
      </p:pic>
      <p:pic>
        <p:nvPicPr>
          <p:cNvPr id="45" name="" descr="">
            <a:hlinkClick r:id="rId3"/>
          </p:cNvPr>
          <p:cNvPicPr/>
          <p:nvPr/>
        </p:nvPicPr>
        <p:blipFill>
          <a:blip r:embed="">
            <a:biLevel thresh="50000"/>
          </a:blip>
          <a:stretch/>
        </p:blipFill>
        <p:spPr>
          <a:xfrm>
            <a:off x="8856000" y="3571200"/>
            <a:ext cx="360000" cy="460800"/>
          </a:xfrm>
          <a:prstGeom prst="rect">
            <a:avLst/>
          </a:prstGeom>
          <a:ln w="0">
            <a:noFill/>
          </a:ln>
        </p:spPr>
      </p:pic>
      <p:sp>
        <p:nvSpPr>
          <p:cNvPr id="46" name=""/>
          <p:cNvSpPr txBox="1"/>
          <p:nvPr/>
        </p:nvSpPr>
        <p:spPr>
          <a:xfrm>
            <a:off x="5036400" y="4837680"/>
            <a:ext cx="112104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3. Output</a:t>
            </a: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 flipV="1">
            <a:off x="936000" y="6033600"/>
            <a:ext cx="504000" cy="153720"/>
          </a:xfrm>
          <a:prstGeom prst="leftRightArrow">
            <a:avLst>
              <a:gd name="adj1" fmla="val 50000"/>
              <a:gd name="adj2" fmla="val 65270"/>
            </a:avLst>
          </a:prstGeom>
          <a:solidFill>
            <a:srgbClr val="00ff66"/>
          </a:soli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08720" rIns="108720" tIns="13320" bIns="13320" anchor="ctr">
            <a:noAutofit/>
          </a:bodyPr>
          <a:p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1152000" y="1440360"/>
            <a:ext cx="720000" cy="2375640"/>
          </a:xfrm>
          <a:custGeom>
            <a:avLst/>
            <a:gdLst/>
            <a:ahLst/>
            <a:rect l="0" t="0" r="r" b="b"/>
            <a:pathLst>
              <a:path fill="none" w="2000" h="6599">
                <a:moveTo>
                  <a:pt x="0" y="0"/>
                </a:moveTo>
                <a:lnTo>
                  <a:pt x="2000" y="6599"/>
                </a:lnTo>
              </a:path>
            </a:pathLst>
          </a:custGeom>
          <a:ln w="0">
            <a:solidFill>
              <a:srgbClr val="000000"/>
            </a:solidFill>
            <a:tailEnd len="med" type="triangle" w="med"/>
          </a:ln>
        </p:spPr>
        <p:txBody>
          <a:bodyPr lIns="90000" rIns="90000" tIns="45000" bIns="45000" anchor="ctr">
            <a:noAutofit/>
          </a:bodyPr>
          <a:p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936000" y="1440360"/>
            <a:ext cx="432000" cy="1655640"/>
          </a:xfrm>
          <a:custGeom>
            <a:avLst/>
            <a:gdLst/>
            <a:ahLst/>
            <a:rect l="0" t="0" r="r" b="b"/>
            <a:pathLst>
              <a:path fill="none" w="1200" h="4599">
                <a:moveTo>
                  <a:pt x="0" y="0"/>
                </a:moveTo>
                <a:lnTo>
                  <a:pt x="1200" y="4599"/>
                </a:lnTo>
              </a:path>
            </a:pathLst>
          </a:custGeom>
          <a:ln w="0">
            <a:solidFill>
              <a:srgbClr val="000000"/>
            </a:solidFill>
            <a:tailEnd len="med" type="triangle" w="med"/>
          </a:ln>
        </p:spPr>
        <p:txBody>
          <a:bodyPr lIns="90000" rIns="90000" tIns="45000" bIns="45000" anchor="ctr">
            <a:noAutofit/>
          </a:bodyPr>
          <a:p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1368000" y="1440360"/>
            <a:ext cx="1008000" cy="1583640"/>
          </a:xfrm>
          <a:custGeom>
            <a:avLst/>
            <a:gdLst/>
            <a:ahLst/>
            <a:rect l="0" t="0" r="r" b="b"/>
            <a:pathLst>
              <a:path fill="none" w="2800" h="4399">
                <a:moveTo>
                  <a:pt x="0" y="0"/>
                </a:moveTo>
                <a:lnTo>
                  <a:pt x="2800" y="4399"/>
                </a:lnTo>
              </a:path>
            </a:pathLst>
          </a:custGeom>
          <a:ln w="0">
            <a:solidFill>
              <a:srgbClr val="000000"/>
            </a:solidFill>
            <a:tailEnd len="med" type="triangle" w="med"/>
          </a:ln>
        </p:spPr>
        <p:txBody>
          <a:bodyPr lIns="90000" rIns="90000" tIns="45000" bIns="45000" anchor="ctr">
            <a:noAutofit/>
          </a:bodyPr>
          <a:p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1656000" y="1440360"/>
            <a:ext cx="1296000" cy="2375640"/>
          </a:xfrm>
          <a:custGeom>
            <a:avLst/>
            <a:gdLst/>
            <a:ahLst/>
            <a:rect l="0" t="0" r="r" b="b"/>
            <a:pathLst>
              <a:path fill="none" w="3600" h="6599">
                <a:moveTo>
                  <a:pt x="0" y="0"/>
                </a:moveTo>
                <a:lnTo>
                  <a:pt x="3600" y="6599"/>
                </a:lnTo>
              </a:path>
            </a:pathLst>
          </a:custGeom>
          <a:ln w="0">
            <a:solidFill>
              <a:srgbClr val="000000"/>
            </a:solidFill>
            <a:tailEnd len="med" type="triangle" w="med"/>
          </a:ln>
        </p:spPr>
        <p:txBody>
          <a:bodyPr lIns="90000" rIns="90000" tIns="45000" bIns="45000" anchor="ctr">
            <a:noAutofit/>
          </a:bodyPr>
          <a:p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 flipV="1">
            <a:off x="936000" y="4207320"/>
            <a:ext cx="432000" cy="153720"/>
          </a:xfrm>
          <a:prstGeom prst="leftRightArrow">
            <a:avLst>
              <a:gd name="adj1" fmla="val 50000"/>
              <a:gd name="adj2" fmla="val 55946"/>
            </a:avLst>
          </a:prstGeom>
          <a:solidFill>
            <a:srgbClr val="00cc33"/>
          </a:soli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08720" rIns="108720" tIns="13320" bIns="13320" anchor="ctr">
            <a:noAutofit/>
          </a:bodyPr>
          <a:p>
            <a:endParaRPr b="0" lang="de-A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 flipV="1">
            <a:off x="504000" y="2948040"/>
            <a:ext cx="216000" cy="153720"/>
          </a:xfrm>
          <a:prstGeom prst="leftRightArrow">
            <a:avLst>
              <a:gd name="adj1" fmla="val 50000"/>
              <a:gd name="adj2" fmla="val 27973"/>
            </a:avLst>
          </a:prstGeom>
          <a:solidFill>
            <a:srgbClr val="ff0000"/>
          </a:soli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08720" rIns="108720" tIns="13320" bIns="13320" anchor="ctr">
            <a:noAutofit/>
          </a:bodyPr>
          <a:p>
            <a:endParaRPr b="0" lang="de-A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4680000" y="5400000"/>
            <a:ext cx="4248000" cy="1114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→ </a:t>
            </a: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Stretch-Faktor = Verhältnis zw. Einlese-</a:t>
            </a:r>
            <a:r>
              <a:rPr b="0" lang="de-AT" sz="1800" strike="noStrike" u="none">
                <a:solidFill>
                  <a:srgbClr val="ff3333"/>
                </a:solidFill>
                <a:uFillTx/>
                <a:latin typeface="Arial"/>
              </a:rPr>
              <a:t> (in-hop) </a:t>
            </a: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und Ausleseabstand </a:t>
            </a:r>
            <a:r>
              <a:rPr b="0" lang="de-AT" sz="1800" strike="noStrike" u="none">
                <a:solidFill>
                  <a:srgbClr val="00cc33"/>
                </a:solidFill>
                <a:uFillTx/>
                <a:latin typeface="Arial"/>
              </a:rPr>
              <a:t>(out-hop) </a:t>
            </a: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der Fenster </a:t>
            </a: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→ </a:t>
            </a: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Synchrone Synthese </a:t>
            </a: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1" dur="indefinite" restart="never" nodeType="tmRoot">
          <p:childTnLst>
            <p:seq>
              <p:cTn id="42" dur="indefinite" nodeType="mainSeq">
                <p:childTnLst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/>
          </p:nvPr>
        </p:nvSpPr>
        <p:spPr>
          <a:xfrm>
            <a:off x="504000" y="720000"/>
            <a:ext cx="9071640" cy="603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Vorteile: lokale Strukturen (in Fenstern) bleiben erhalten, Transienten lassen sich gut abbilden; CPU-sparend</a:t>
            </a: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Besonders gut für Signale mit wenig harmonischem bzw. Chroma-Anteil (z.B. perkussive Klänge)</a:t>
            </a: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Probleme: </a:t>
            </a: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Aft>
                <a:spcPts val="113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Phase Jumping: bei Nichtbeachtung der kontinuierlichen Periodizität der Wellenformen → Phasiness, Auslöschungen </a:t>
            </a:r>
            <a:br>
              <a:rPr sz="1800"/>
            </a:br>
            <a:br>
              <a:rPr sz="1800"/>
            </a:br>
            <a:br>
              <a:rPr sz="1800"/>
            </a:b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Aft>
                <a:spcPts val="113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Transient Doubling bzw. Skipping</a:t>
            </a: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0">
              <a:spcAft>
                <a:spcPts val="1134"/>
              </a:spcAft>
              <a:buNone/>
            </a:pP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Aft>
                <a:spcPts val="113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Färbung bzw. AM-artige Artefakte durch hohe „Fensterrate“</a:t>
            </a:r>
            <a:br>
              <a:rPr sz="1800"/>
            </a:b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Optimierung: Granularstretch: z.B. Random auf: Fensterposition und Abspielfrequenz (→ Vermeidung von periodischer „Fensterrate“)</a:t>
            </a: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56" name="" descr=""/>
          <p:cNvPicPr/>
          <p:nvPr/>
        </p:nvPicPr>
        <p:blipFill>
          <a:blip r:embed="rId1">
            <a:lum bright="50000" contrast="100000"/>
          </a:blip>
          <a:stretch/>
        </p:blipFill>
        <p:spPr>
          <a:xfrm flipH="1" rot="10800000">
            <a:off x="1283040" y="3168000"/>
            <a:ext cx="3252960" cy="582480"/>
          </a:xfrm>
          <a:prstGeom prst="rect">
            <a:avLst/>
          </a:prstGeom>
          <a:ln w="0">
            <a:noFill/>
          </a:ln>
        </p:spPr>
      </p:pic>
      <p:pic>
        <p:nvPicPr>
          <p:cNvPr id="57" name="" descr=""/>
          <p:cNvPicPr/>
          <p:nvPr/>
        </p:nvPicPr>
        <p:blipFill>
          <a:blip r:embed="rId2">
            <a:lum contrast="100000"/>
          </a:blip>
          <a:stretch/>
        </p:blipFill>
        <p:spPr>
          <a:xfrm>
            <a:off x="6048000" y="2954160"/>
            <a:ext cx="1731600" cy="1437840"/>
          </a:xfrm>
          <a:prstGeom prst="rect">
            <a:avLst/>
          </a:prstGeom>
          <a:ln w="0">
            <a:noFill/>
          </a:ln>
        </p:spPr>
      </p:pic>
      <p:sp>
        <p:nvSpPr>
          <p:cNvPr id="58" name=""/>
          <p:cNvSpPr/>
          <p:nvPr/>
        </p:nvSpPr>
        <p:spPr>
          <a:xfrm>
            <a:off x="6408000" y="3456000"/>
            <a:ext cx="0" cy="288000"/>
          </a:xfrm>
          <a:prstGeom prst="line">
            <a:avLst/>
          </a:prstGeom>
          <a:ln w="0"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6480000" y="3456000"/>
            <a:ext cx="144000" cy="288000"/>
          </a:xfrm>
          <a:prstGeom prst="line">
            <a:avLst/>
          </a:prstGeom>
          <a:ln w="0"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/>
          </p:nvPr>
        </p:nvSpPr>
        <p:spPr>
          <a:xfrm>
            <a:off x="504000" y="1224000"/>
            <a:ext cx="4426560" cy="553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1900" strike="noStrike" u="none">
                <a:solidFill>
                  <a:srgbClr val="000000"/>
                </a:solidFill>
                <a:uFillTx/>
                <a:latin typeface="Arial"/>
              </a:rPr>
              <a:t>Lokale Strukturen der Fenster bleiben erhalten</a:t>
            </a:r>
            <a:endParaRPr b="0" lang="de-AT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1900" strike="noStrike" u="none">
                <a:solidFill>
                  <a:srgbClr val="000000"/>
                </a:solidFill>
                <a:uFillTx/>
                <a:latin typeface="Arial"/>
              </a:rPr>
              <a:t>Besonders effektiv bei perkussiven Klängen bzw. nicht-harmonischem Signalanteil</a:t>
            </a:r>
            <a:endParaRPr b="0" lang="de-AT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1900" strike="noStrike" u="none">
                <a:solidFill>
                  <a:srgbClr val="000000"/>
                </a:solidFill>
                <a:uFillTx/>
                <a:latin typeface="Arial"/>
              </a:rPr>
              <a:t>CPU-sparend</a:t>
            </a:r>
            <a:endParaRPr b="0" lang="de-AT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5149440" y="1224000"/>
            <a:ext cx="4426560" cy="618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1900" strike="noStrike" u="none">
                <a:solidFill>
                  <a:srgbClr val="000000"/>
                </a:solidFill>
                <a:uFillTx/>
                <a:latin typeface="Arial"/>
              </a:rPr>
              <a:t>Phase Jumping: </a:t>
            </a: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bei Nichtbeachtung der kontinuierlichen Periodizität der Wellenformen → Phasiness, Auslöschungen</a:t>
            </a:r>
            <a:br>
              <a:rPr sz="1900"/>
            </a:br>
            <a:br>
              <a:rPr sz="1900"/>
            </a:br>
            <a:br>
              <a:rPr sz="1900"/>
            </a:br>
            <a:r>
              <a:rPr b="0" lang="de-AT" sz="1900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endParaRPr b="0" lang="de-AT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1900" strike="noStrike" u="none">
                <a:solidFill>
                  <a:srgbClr val="000000"/>
                </a:solidFill>
                <a:uFillTx/>
                <a:latin typeface="Arial"/>
              </a:rPr>
              <a:t>Transient doubling bzw. Skipping</a:t>
            </a:r>
            <a:endParaRPr b="0" lang="de-AT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0">
              <a:spcAft>
                <a:spcPts val="1414"/>
              </a:spcAft>
              <a:buNone/>
            </a:pPr>
            <a:br>
              <a:rPr sz="1900"/>
            </a:br>
            <a:br>
              <a:rPr sz="1900"/>
            </a:br>
            <a:br>
              <a:rPr sz="1900"/>
            </a:br>
            <a:br>
              <a:rPr sz="1900"/>
            </a:br>
            <a:br>
              <a:rPr sz="1900"/>
            </a:br>
            <a:br>
              <a:rPr sz="1900"/>
            </a:br>
            <a:endParaRPr b="0" lang="de-AT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1900" strike="noStrike" u="none">
                <a:solidFill>
                  <a:srgbClr val="000000"/>
                </a:solidFill>
                <a:uFillTx/>
                <a:latin typeface="Arial"/>
              </a:rPr>
              <a:t>bei  geringer in-hop und out-hop-size AM-Artige Artefakte</a:t>
            </a:r>
            <a:endParaRPr b="0" lang="de-AT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>
            <a:lum contrast="100000"/>
          </a:blip>
          <a:stretch/>
        </p:blipFill>
        <p:spPr>
          <a:xfrm>
            <a:off x="5688000" y="4034160"/>
            <a:ext cx="1731600" cy="1437840"/>
          </a:xfrm>
          <a:prstGeom prst="rect">
            <a:avLst/>
          </a:prstGeom>
          <a:ln w="0">
            <a:noFill/>
          </a:ln>
        </p:spPr>
      </p:pic>
      <p:sp>
        <p:nvSpPr>
          <p:cNvPr id="63" name=""/>
          <p:cNvSpPr/>
          <p:nvPr/>
        </p:nvSpPr>
        <p:spPr>
          <a:xfrm>
            <a:off x="6048000" y="4536000"/>
            <a:ext cx="0" cy="288000"/>
          </a:xfrm>
          <a:custGeom>
            <a:avLst/>
            <a:gdLst/>
            <a:ahLst/>
            <a:rect l="0" t="0" r="r" b="b"/>
            <a:pathLst>
              <a:path fill="none" w="0" h="800">
                <a:moveTo>
                  <a:pt x="0" y="0"/>
                </a:moveTo>
                <a:lnTo>
                  <a:pt x="0" y="800"/>
                </a:lnTo>
              </a:path>
            </a:pathLst>
          </a:custGeom>
          <a:ln w="0">
            <a:solidFill>
              <a:srgbClr val="ff3333"/>
            </a:solidFill>
            <a:tailEnd len="med" type="triangle" w="med"/>
          </a:ln>
        </p:spPr>
        <p:txBody>
          <a:bodyPr lIns="90000" rIns="90000" tIns="45000" bIns="45000" anchor="ctr">
            <a:noAutofit/>
          </a:bodyPr>
          <a:p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6120000" y="4536000"/>
            <a:ext cx="144000" cy="288000"/>
          </a:xfrm>
          <a:custGeom>
            <a:avLst/>
            <a:gdLst/>
            <a:ahLst/>
            <a:rect l="0" t="0" r="r" b="b"/>
            <a:pathLst>
              <a:path fill="none" w="400" h="800">
                <a:moveTo>
                  <a:pt x="0" y="0"/>
                </a:moveTo>
                <a:lnTo>
                  <a:pt x="400" y="800"/>
                </a:lnTo>
              </a:path>
            </a:pathLst>
          </a:custGeom>
          <a:ln w="0">
            <a:solidFill>
              <a:srgbClr val="ff3333"/>
            </a:solidFill>
            <a:tailEnd len="med" type="triangle" w="med"/>
          </a:ln>
        </p:spPr>
        <p:txBody>
          <a:bodyPr lIns="90000" rIns="90000" tIns="45000" bIns="45000" anchor="ctr">
            <a:noAutofit/>
          </a:bodyPr>
          <a:p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65" name="" descr=""/>
          <p:cNvPicPr/>
          <p:nvPr/>
        </p:nvPicPr>
        <p:blipFill>
          <a:blip r:embed="rId2">
            <a:lum bright="50000" contrast="100000"/>
          </a:blip>
          <a:stretch/>
        </p:blipFill>
        <p:spPr>
          <a:xfrm flipH="1" rot="10800000">
            <a:off x="5531040" y="2460960"/>
            <a:ext cx="3252960" cy="582480"/>
          </a:xfrm>
          <a:prstGeom prst="rect">
            <a:avLst/>
          </a:prstGeom>
          <a:ln w="0">
            <a:noFill/>
          </a:ln>
        </p:spPr>
      </p:pic>
      <p:sp>
        <p:nvSpPr>
          <p:cNvPr id="66" name=""/>
          <p:cNvSpPr txBox="1"/>
          <p:nvPr/>
        </p:nvSpPr>
        <p:spPr>
          <a:xfrm>
            <a:off x="1944000" y="361800"/>
            <a:ext cx="4782960" cy="43020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de-AT" sz="2400" strike="noStrike" u="none">
                <a:solidFill>
                  <a:srgbClr val="000000"/>
                </a:solidFill>
                <a:uFillTx/>
                <a:latin typeface="Arial"/>
              </a:rPr>
              <a:t>+</a:t>
            </a:r>
            <a:r>
              <a:rPr b="0" lang="de-AT" sz="2400" strike="noStrike" u="none">
                <a:solidFill>
                  <a:srgbClr val="000000"/>
                </a:solidFill>
                <a:uFillTx/>
                <a:latin typeface="Arial"/>
              </a:rPr>
              <a:t>	</a:t>
            </a:r>
            <a:r>
              <a:rPr b="0" lang="de-AT" sz="2400" strike="noStrike" u="none">
                <a:solidFill>
                  <a:srgbClr val="000000"/>
                </a:solidFill>
                <a:uFillTx/>
                <a:latin typeface="Arial"/>
              </a:rPr>
              <a:t>	</a:t>
            </a:r>
            <a:r>
              <a:rPr b="0" lang="de-AT" sz="2400" strike="noStrike" u="none">
                <a:solidFill>
                  <a:srgbClr val="000000"/>
                </a:solidFill>
                <a:uFillTx/>
                <a:latin typeface="Arial"/>
              </a:rPr>
              <a:t>	</a:t>
            </a:r>
            <a:r>
              <a:rPr b="0" lang="de-AT" sz="2400" strike="noStrike" u="none">
                <a:solidFill>
                  <a:srgbClr val="000000"/>
                </a:solidFill>
                <a:uFillTx/>
                <a:latin typeface="Arial"/>
              </a:rPr>
              <a:t>	</a:t>
            </a:r>
            <a:r>
              <a:rPr b="0" lang="de-AT" sz="2400" strike="noStrike" u="none">
                <a:solidFill>
                  <a:srgbClr val="000000"/>
                </a:solidFill>
                <a:uFillTx/>
                <a:latin typeface="Arial"/>
              </a:rPr>
              <a:t>	</a:t>
            </a:r>
            <a:r>
              <a:rPr b="0" lang="de-AT" sz="2400" strike="noStrike" u="none">
                <a:solidFill>
                  <a:srgbClr val="000000"/>
                </a:solidFill>
                <a:uFillTx/>
                <a:latin typeface="Arial"/>
              </a:rPr>
              <a:t>	</a:t>
            </a:r>
            <a:r>
              <a:rPr b="0" lang="de-AT" sz="2400" strike="noStrike" u="none">
                <a:solidFill>
                  <a:srgbClr val="000000"/>
                </a:solidFill>
                <a:uFillTx/>
                <a:latin typeface="Arial"/>
              </a:rPr>
              <a:t>	</a:t>
            </a:r>
            <a:r>
              <a:rPr b="0" lang="de-AT" sz="2400" strike="noStrike" u="none">
                <a:solidFill>
                  <a:srgbClr val="000000"/>
                </a:solidFill>
                <a:uFillTx/>
                <a:latin typeface="Arial"/>
              </a:rPr>
              <a:t>	</a:t>
            </a:r>
            <a:r>
              <a:rPr b="0" lang="de-AT" sz="2400" strike="noStrike" u="none">
                <a:solidFill>
                  <a:srgbClr val="000000"/>
                </a:solidFill>
                <a:uFillTx/>
                <a:latin typeface="Arial"/>
              </a:rPr>
              <a:t>	</a:t>
            </a:r>
            <a:r>
              <a:rPr b="0" lang="de-AT" sz="2400" strike="noStrike" u="none">
                <a:solidFill>
                  <a:srgbClr val="000000"/>
                </a:solidFill>
                <a:uFillTx/>
                <a:latin typeface="Arial"/>
              </a:rPr>
              <a:t>	</a:t>
            </a:r>
            <a:r>
              <a:rPr b="0" lang="de-AT" sz="2400" strike="noStrike" u="none">
                <a:solidFill>
                  <a:srgbClr val="000000"/>
                </a:solidFill>
                <a:uFillTx/>
                <a:latin typeface="Arial"/>
              </a:rPr>
              <a:t>-</a:t>
            </a:r>
            <a:endParaRPr b="0" lang="de-AT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5" dur="indefinite" restart="never" nodeType="tmRoot">
          <p:childTnLst>
            <p:seq>
              <p:cTn id="106" dur="indefinite" nodeType="mainSeq">
                <p:childTnLst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56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AT" sz="2400" strike="noStrike" u="none">
                <a:solidFill>
                  <a:srgbClr val="000000"/>
                </a:solidFill>
                <a:uFillTx/>
                <a:latin typeface="Arial"/>
              </a:rPr>
              <a:t>OLA-Varianten:</a:t>
            </a:r>
            <a:endParaRPr b="0" lang="de-AT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504000" y="1080000"/>
            <a:ext cx="9071640" cy="616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WSOLA (Waveform Similarity Overlap-Add)</a:t>
            </a: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Aft>
                <a:spcPts val="1134"/>
              </a:spcAft>
              <a:buClr>
                <a:srgbClr val="000000"/>
              </a:buClr>
              <a:buSzPct val="45000"/>
              <a:buFont typeface="Wingdings" charset="2"/>
              <a:buChar char=""/>
            </a:pP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in-hop-point wird so gewählt, dass ein möglichst</a:t>
            </a:r>
            <a:br>
              <a:rPr sz="1800"/>
            </a:b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kontinuierlicher periodischer Verlauf der Welle</a:t>
            </a:r>
            <a:br>
              <a:rPr sz="1800"/>
            </a:b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erreicht wird</a:t>
            </a: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Aft>
                <a:spcPts val="1134"/>
              </a:spcAft>
              <a:buClr>
                <a:srgbClr val="000000"/>
              </a:buClr>
              <a:buSzPct val="45000"/>
              <a:buFont typeface="Wingdings" charset="2"/>
              <a:buChar char=""/>
            </a:pP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+ Weniger Phasiness / Diskoninuitäten</a:t>
            </a: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Aft>
                <a:spcPts val="1134"/>
              </a:spcAft>
              <a:buClr>
                <a:srgbClr val="000000"/>
              </a:buClr>
              <a:buSzPct val="45000"/>
              <a:buFont typeface="Wingdings" charset="2"/>
              <a:buChar char=""/>
            </a:pP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- Transient Doubling</a:t>
            </a:r>
            <a:br>
              <a:rPr sz="1800"/>
            </a:br>
            <a:br>
              <a:rPr sz="1800"/>
            </a:br>
            <a:br>
              <a:rPr sz="1800"/>
            </a:br>
            <a:br>
              <a:rPr sz="1800"/>
            </a:br>
            <a:br>
              <a:rPr sz="1800"/>
            </a:br>
            <a:br>
              <a:rPr sz="1800"/>
            </a:br>
            <a:br>
              <a:rPr sz="1800"/>
            </a:br>
            <a:br>
              <a:rPr sz="1800"/>
            </a:br>
            <a:br>
              <a:rPr sz="1800"/>
            </a:br>
            <a:br>
              <a:rPr sz="1800"/>
            </a:br>
            <a:br>
              <a:rPr sz="1800"/>
            </a:b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Transient-Optimized WSOLA</a:t>
            </a: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Aft>
                <a:spcPts val="1134"/>
              </a:spcAft>
              <a:buClr>
                <a:srgbClr val="000000"/>
              </a:buClr>
              <a:buSzPct val="45000"/>
              <a:buFont typeface="Wingdings" charset="2"/>
              <a:buChar char=""/>
            </a:pP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Transienten werden nicht</a:t>
            </a:r>
            <a:br>
              <a:rPr sz="1800"/>
            </a:b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gestretched, nur harmonischer</a:t>
            </a:r>
            <a:br>
              <a:rPr sz="1800"/>
            </a:b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Anteil</a:t>
            </a: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69" name="" descr="">
            <a:hlinkClick r:id="rId1"/>
          </p:cNvPr>
          <p:cNvPicPr/>
          <p:nvPr/>
        </p:nvPicPr>
        <p:blipFill>
          <a:blip r:embed="rId2">
            <a:lum bright="50000" contrast="100000"/>
          </a:blip>
          <a:stretch/>
        </p:blipFill>
        <p:spPr>
          <a:xfrm>
            <a:off x="4968000" y="4607280"/>
            <a:ext cx="4104000" cy="2304720"/>
          </a:xfrm>
          <a:prstGeom prst="rect">
            <a:avLst/>
          </a:prstGeom>
          <a:ln w="0">
            <a:noFill/>
          </a:ln>
        </p:spPr>
      </p:pic>
      <p:sp>
        <p:nvSpPr>
          <p:cNvPr id="70" name=""/>
          <p:cNvSpPr/>
          <p:nvPr/>
        </p:nvSpPr>
        <p:spPr>
          <a:xfrm>
            <a:off x="4968000" y="4571280"/>
            <a:ext cx="792000" cy="2340720"/>
          </a:xfrm>
          <a:prstGeom prst="rect">
            <a:avLst/>
          </a:prstGeom>
          <a:solidFill>
            <a:srgbClr val="00cc00">
              <a:alpha val="50000"/>
            </a:srgbClr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endParaRPr b="0" lang="de-A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5544000" y="2160000"/>
            <a:ext cx="3921840" cy="1656000"/>
          </a:xfrm>
          <a:prstGeom prst="rect">
            <a:avLst/>
          </a:prstGeom>
          <a:blipFill rotWithShape="0">
            <a:blip r:embed="rId3">
              <a:lum bright="50000" contrast="50000"/>
            </a:blip>
            <a:stretch/>
          </a:blipFill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/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72" name="" descr=""/>
          <p:cNvPicPr/>
          <p:nvPr/>
        </p:nvPicPr>
        <p:blipFill>
          <a:blip r:embed="rId4"/>
          <a:stretch/>
        </p:blipFill>
        <p:spPr>
          <a:xfrm>
            <a:off x="950760" y="3204720"/>
            <a:ext cx="2793240" cy="2411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9" dur="indefinite" restart="never" nodeType="tmRoot">
          <p:childTnLst>
            <p:seq>
              <p:cTn id="140" dur="indefinite" nodeType="mainSeq">
                <p:childTnLst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70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AT" sz="2400" strike="noStrike" u="none">
                <a:solidFill>
                  <a:srgbClr val="000000"/>
                </a:solidFill>
                <a:uFillTx/>
                <a:latin typeface="Arial"/>
              </a:rPr>
              <a:t>TSM auf Frequency Domain</a:t>
            </a:r>
            <a:endParaRPr b="0" lang="de-AT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93920" y="1059840"/>
            <a:ext cx="9071640" cy="611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Phase Vocoder</a:t>
            </a: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FFT (Fast Fourier Transformation)</a:t>
            </a: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0">
              <a:spcAft>
                <a:spcPts val="1414"/>
              </a:spcAft>
              <a:buNone/>
            </a:pP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→  </a:t>
            </a: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Signale können als Summe von einzelnen periodischen Schwingungen aufgefasst bzw. dargestellt werden</a:t>
            </a: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Analyse → SFT → Resynthese (IFFT)</a:t>
            </a: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Eingangssignal wird dabei von der Zeit- auf Frequenzebene (Spektrum) übertragen</a:t>
            </a: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Analyse in Zeitfenstern (size N) in Samples → Potenzen von 2 (z.B. 256, 512, 1024, 2048 etc.)</a:t>
            </a: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Analyse in „Bins“ bzw. Channels, die linear über das Spektrum (0 – N/2) verteilt werden  </a:t>
            </a: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44100 / 512 = 86,1328125  </a:t>
            </a: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N =  512 → 256 bins </a:t>
            </a: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"/>
            </a:pP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Klangqualität abhängig von Größe der Fenster bzw. Anzahl der Bins</a:t>
            </a: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FFT verhält sich wie eine Filterbank (das Eingangssignal wird mit dem eigenen Schwingungssystem verglichen)</a:t>
            </a: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Frequenzen, die nicht der Größe eines Fensters entsprechen, werden zwischen Bins aufgeteilt („spectral leakage“)</a:t>
            </a: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73" dur="indefinite" restart="never" nodeType="tmRoot">
          <p:childTnLst>
            <p:seq>
              <p:cTn id="174" dur="indefinite" nodeType="mainSeq">
                <p:childTnLst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/>
          </p:nvPr>
        </p:nvSpPr>
        <p:spPr>
          <a:xfrm>
            <a:off x="504000" y="288000"/>
            <a:ext cx="9072000" cy="429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FFT fasst ein Analysefenster als vollständigen Zyklus einer Welle auf</a:t>
            </a: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Aft>
                <a:spcPts val="113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Hanning-Window (bessere Resultate in Bins)</a:t>
            </a: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0">
              <a:spcAft>
                <a:spcPts val="1414"/>
              </a:spcAft>
              <a:buNone/>
            </a:pP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0">
              <a:spcAft>
                <a:spcPts val="1414"/>
              </a:spcAft>
              <a:buNone/>
            </a:pPr>
            <a:br>
              <a:rPr sz="1800"/>
            </a:br>
            <a:br>
              <a:rPr sz="1800"/>
            </a:b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0">
              <a:spcAft>
                <a:spcPts val="1414"/>
              </a:spcAft>
              <a:buNone/>
            </a:pP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Überlappende Analysefenster (in-hop-size meist N / 4)</a:t>
            </a: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TSM durch Größe der in-hop-size (je geringer der Abstand der Fenster, desto mehr Stretch)</a:t>
            </a: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Phase Propagation: die Phasen aller Spektrallinien werden an die des vorherigen Analysefenstern angepasst  → Spektrale Kontinuität</a:t>
            </a: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76" name="" descr=""/>
          <p:cNvPicPr/>
          <p:nvPr/>
        </p:nvPicPr>
        <p:blipFill>
          <a:blip r:embed="rId1"/>
          <a:stretch/>
        </p:blipFill>
        <p:spPr>
          <a:xfrm>
            <a:off x="935640" y="1224000"/>
            <a:ext cx="1368360" cy="1360440"/>
          </a:xfrm>
          <a:prstGeom prst="rect">
            <a:avLst/>
          </a:prstGeom>
          <a:ln w="0">
            <a:noFill/>
          </a:ln>
        </p:spPr>
      </p:pic>
      <p:pic>
        <p:nvPicPr>
          <p:cNvPr id="77" name="" descr=""/>
          <p:cNvPicPr/>
          <p:nvPr/>
        </p:nvPicPr>
        <p:blipFill>
          <a:blip r:embed="rId2"/>
          <a:stretch/>
        </p:blipFill>
        <p:spPr>
          <a:xfrm>
            <a:off x="2808000" y="1656000"/>
            <a:ext cx="1943640" cy="299160"/>
          </a:xfrm>
          <a:prstGeom prst="rect">
            <a:avLst/>
          </a:prstGeom>
          <a:ln w="0">
            <a:noFill/>
          </a:ln>
        </p:spPr>
      </p:pic>
      <p:pic>
        <p:nvPicPr>
          <p:cNvPr id="78" name="" descr=""/>
          <p:cNvPicPr/>
          <p:nvPr/>
        </p:nvPicPr>
        <p:blipFill>
          <a:blip r:embed="rId3"/>
          <a:stretch/>
        </p:blipFill>
        <p:spPr>
          <a:xfrm>
            <a:off x="5793480" y="1598400"/>
            <a:ext cx="3350520" cy="489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19" dur="indefinite" restart="never" nodeType="tmRoot">
          <p:childTnLst>
            <p:seq>
              <p:cTn id="220" dur="indefinite" nodeType="mainSeq">
                <p:childTnLst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/>
          </p:nvPr>
        </p:nvSpPr>
        <p:spPr>
          <a:xfrm>
            <a:off x="504000" y="1224000"/>
            <a:ext cx="4426560" cy="553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besonders effektiv bei harmonischen Signalen </a:t>
            </a: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Langes Stretchen möglich bei vergleichsweise wenig Qualitätsverlust</a:t>
            </a: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5149440" y="1224000"/>
            <a:ext cx="4426560" cy="618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„</a:t>
            </a: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Transient smearing“ → ungünstig für perkussive Signalanteile</a:t>
            </a: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„</a:t>
            </a: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Phasiness“</a:t>
            </a: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CPU-Intensiv</a:t>
            </a: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2273040" y="361800"/>
            <a:ext cx="4782960" cy="43020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de-AT" sz="2400" strike="noStrike" u="none">
                <a:solidFill>
                  <a:srgbClr val="000000"/>
                </a:solidFill>
                <a:uFillTx/>
                <a:latin typeface="Arial"/>
              </a:rPr>
              <a:t>+</a:t>
            </a:r>
            <a:r>
              <a:rPr b="0" lang="de-AT" sz="2400" strike="noStrike" u="none">
                <a:solidFill>
                  <a:srgbClr val="000000"/>
                </a:solidFill>
                <a:uFillTx/>
                <a:latin typeface="Arial"/>
              </a:rPr>
              <a:t>	</a:t>
            </a:r>
            <a:r>
              <a:rPr b="0" lang="de-AT" sz="2400" strike="noStrike" u="none">
                <a:solidFill>
                  <a:srgbClr val="000000"/>
                </a:solidFill>
                <a:uFillTx/>
                <a:latin typeface="Arial"/>
              </a:rPr>
              <a:t>	</a:t>
            </a:r>
            <a:r>
              <a:rPr b="0" lang="de-AT" sz="2400" strike="noStrike" u="none">
                <a:solidFill>
                  <a:srgbClr val="000000"/>
                </a:solidFill>
                <a:uFillTx/>
                <a:latin typeface="Arial"/>
              </a:rPr>
              <a:t>	</a:t>
            </a:r>
            <a:r>
              <a:rPr b="0" lang="de-AT" sz="2400" strike="noStrike" u="none">
                <a:solidFill>
                  <a:srgbClr val="000000"/>
                </a:solidFill>
                <a:uFillTx/>
                <a:latin typeface="Arial"/>
              </a:rPr>
              <a:t>	</a:t>
            </a:r>
            <a:r>
              <a:rPr b="0" lang="de-AT" sz="2400" strike="noStrike" u="none">
                <a:solidFill>
                  <a:srgbClr val="000000"/>
                </a:solidFill>
                <a:uFillTx/>
                <a:latin typeface="Arial"/>
              </a:rPr>
              <a:t>	</a:t>
            </a:r>
            <a:r>
              <a:rPr b="0" lang="de-AT" sz="2400" strike="noStrike" u="none">
                <a:solidFill>
                  <a:srgbClr val="000000"/>
                </a:solidFill>
                <a:uFillTx/>
                <a:latin typeface="Arial"/>
              </a:rPr>
              <a:t>	</a:t>
            </a:r>
            <a:r>
              <a:rPr b="0" lang="de-AT" sz="2400" strike="noStrike" u="none">
                <a:solidFill>
                  <a:srgbClr val="000000"/>
                </a:solidFill>
                <a:uFillTx/>
                <a:latin typeface="Arial"/>
              </a:rPr>
              <a:t>	</a:t>
            </a:r>
            <a:r>
              <a:rPr b="0" lang="de-AT" sz="2400" strike="noStrike" u="none">
                <a:solidFill>
                  <a:srgbClr val="000000"/>
                </a:solidFill>
                <a:uFillTx/>
                <a:latin typeface="Arial"/>
              </a:rPr>
              <a:t>	</a:t>
            </a:r>
            <a:r>
              <a:rPr b="0" lang="de-AT" sz="2400" strike="noStrike" u="none">
                <a:solidFill>
                  <a:srgbClr val="000000"/>
                </a:solidFill>
                <a:uFillTx/>
                <a:latin typeface="Arial"/>
              </a:rPr>
              <a:t>	</a:t>
            </a:r>
            <a:r>
              <a:rPr b="0" lang="de-AT" sz="2400" strike="noStrike" u="none">
                <a:solidFill>
                  <a:srgbClr val="000000"/>
                </a:solidFill>
                <a:uFillTx/>
                <a:latin typeface="Arial"/>
              </a:rPr>
              <a:t>	</a:t>
            </a:r>
            <a:r>
              <a:rPr b="0" lang="de-AT" sz="2400" strike="noStrike" u="none">
                <a:solidFill>
                  <a:srgbClr val="000000"/>
                </a:solidFill>
                <a:uFillTx/>
                <a:latin typeface="Arial"/>
              </a:rPr>
              <a:t>-</a:t>
            </a:r>
            <a:endParaRPr b="0" lang="de-AT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55" dur="indefinite" restart="never" nodeType="tmRoot">
          <p:childTnLst>
            <p:seq>
              <p:cTn id="256" dur="indefinite" nodeType="mainSeq">
                <p:childTnLst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/>
          </p:nvPr>
        </p:nvSpPr>
        <p:spPr>
          <a:xfrm>
            <a:off x="468000" y="576000"/>
            <a:ext cx="9071640" cy="618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"/>
            </a:pP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Klang bzw. Musik → komplexe Mischung aus verschiedenen Bestandteilen (perkussive Klänge, harmonischer Anteil etc.)</a:t>
            </a: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"/>
            </a:pP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Unterschiedliche Methoden für unterschiedliche Problemstellungen</a:t>
            </a: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"/>
            </a:pP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Korrektur vs. Ästhetisches Mittel</a:t>
            </a: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"/>
            </a:pP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Fehler“ in Resynthese bergen Potenzial zur künstlerischen Nutzung</a:t>
            </a: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0">
              <a:spcAft>
                <a:spcPts val="1414"/>
              </a:spcAft>
              <a:buNone/>
            </a:pP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0">
              <a:spcAft>
                <a:spcPts val="1414"/>
              </a:spcAft>
              <a:buNone/>
            </a:pPr>
            <a:r>
              <a:rPr b="0" lang="de-AT" sz="1800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endParaRPr b="0" lang="de-A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77" dur="indefinite" restart="never" nodeType="tmRoot">
          <p:childTnLst>
            <p:seq>
              <p:cTn id="278" dur="indefinite" nodeType="mainSeq">
                <p:childTnLst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5805</TotalTime>
  <Application>LibreOffice/24.8.3.2$MacOSX_AARCH64 LibreOffice_project/48a6bac9e7e268aeb4c3483fcf825c94556d9f92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2022-07-22T10:56:56Z</dcterms:created>
  <dc:creator>Alexander Bauer</dc:creator>
  <dc:description/>
  <dc:language>it-IT</dc:language>
  <cp:lastModifiedBy>Alexander Bauer</cp:lastModifiedBy>
  <dcterms:modified xsi:type="dcterms:W3CDTF">2022-07-28T07:53:42Z</dcterms:modified>
  <cp:revision>357</cp:revision>
  <dc:subject/>
  <dc:title/>
</cp:coreProperties>
</file>