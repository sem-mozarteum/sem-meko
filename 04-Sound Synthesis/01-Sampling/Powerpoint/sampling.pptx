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9" r:id="rId3"/>
    <p:sldId id="266" r:id="rId4"/>
    <p:sldId id="265" r:id="rId5"/>
    <p:sldId id="274" r:id="rId6"/>
    <p:sldId id="268" r:id="rId7"/>
    <p:sldId id="269" r:id="rId8"/>
    <p:sldId id="270" r:id="rId9"/>
    <p:sldId id="275" r:id="rId10"/>
    <p:sldId id="285" r:id="rId11"/>
    <p:sldId id="278" r:id="rId12"/>
    <p:sldId id="277" r:id="rId13"/>
    <p:sldId id="271" r:id="rId14"/>
    <p:sldId id="272" r:id="rId15"/>
    <p:sldId id="280" r:id="rId16"/>
    <p:sldId id="273" r:id="rId17"/>
    <p:sldId id="282" r:id="rId18"/>
    <p:sldId id="281" r:id="rId19"/>
    <p:sldId id="283" r:id="rId20"/>
    <p:sldId id="284" r:id="rId21"/>
  </p:sldIdLst>
  <p:sldSz cx="10080625" cy="7559675"/>
  <p:notesSz cx="6886575" cy="96234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4"/>
  </p:normalViewPr>
  <p:slideViewPr>
    <p:cSldViewPr>
      <p:cViewPr varScale="1">
        <p:scale>
          <a:sx n="112" d="100"/>
          <a:sy n="112" d="100"/>
        </p:scale>
        <p:origin x="1552" y="20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A8840B7F-3902-7ECE-5E46-873665C95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86575" cy="9623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0" name="AutoShape 2">
            <a:extLst>
              <a:ext uri="{FF2B5EF4-FFF2-40B4-BE49-F238E27FC236}">
                <a16:creationId xmlns:a16="http://schemas.microsoft.com/office/drawing/2014/main" id="{F7A5A699-99BE-233B-A2DF-D588142A4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86575" cy="9623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6B6F4011-0B67-F232-7972-C207C9EFE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4DF04B8E-ACD7-1344-1492-7DA1FC66C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952B224-6AD8-31DD-0246-DACA2901F8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38225" y="731838"/>
            <a:ext cx="4806950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37A4C03-EFE0-8605-AF09-386019F9640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8975" y="4570413"/>
            <a:ext cx="5505450" cy="432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A4DB1442-4061-1383-B9A5-B421B4A97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D34E6964-B5CE-C3AF-5CFF-88AFCF27B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89EBC245-88D8-5197-3897-112A81146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1E314C05-D375-4859-0076-41122A47C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>
            <a:extLst>
              <a:ext uri="{FF2B5EF4-FFF2-40B4-BE49-F238E27FC236}">
                <a16:creationId xmlns:a16="http://schemas.microsoft.com/office/drawing/2014/main" id="{F68232B2-EB95-0E6A-10D5-1AE2CC10513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8370" name="Text Box 2">
            <a:extLst>
              <a:ext uri="{FF2B5EF4-FFF2-40B4-BE49-F238E27FC236}">
                <a16:creationId xmlns:a16="http://schemas.microsoft.com/office/drawing/2014/main" id="{A3C60742-9D30-8712-C67E-B8D61A058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>
            <a:extLst>
              <a:ext uri="{FF2B5EF4-FFF2-40B4-BE49-F238E27FC236}">
                <a16:creationId xmlns:a16="http://schemas.microsoft.com/office/drawing/2014/main" id="{52C510D8-44D2-A0DC-6363-D0862E5B34C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>
            <a:extLst>
              <a:ext uri="{FF2B5EF4-FFF2-40B4-BE49-F238E27FC236}">
                <a16:creationId xmlns:a16="http://schemas.microsoft.com/office/drawing/2014/main" id="{2AC79456-EA84-1956-23DF-AC429A04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>
            <a:extLst>
              <a:ext uri="{FF2B5EF4-FFF2-40B4-BE49-F238E27FC236}">
                <a16:creationId xmlns:a16="http://schemas.microsoft.com/office/drawing/2014/main" id="{0C42BFCF-E168-A8A2-97D8-EE3FD0E08F4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>
            <a:extLst>
              <a:ext uri="{FF2B5EF4-FFF2-40B4-BE49-F238E27FC236}">
                <a16:creationId xmlns:a16="http://schemas.microsoft.com/office/drawing/2014/main" id="{CFFCAB65-6D11-EDB4-2E12-A7649F411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>
            <a:extLst>
              <a:ext uri="{FF2B5EF4-FFF2-40B4-BE49-F238E27FC236}">
                <a16:creationId xmlns:a16="http://schemas.microsoft.com/office/drawing/2014/main" id="{7B874B72-4967-C03C-4CAD-A7FF969D3DB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0418" name="Text Box 2">
            <a:extLst>
              <a:ext uri="{FF2B5EF4-FFF2-40B4-BE49-F238E27FC236}">
                <a16:creationId xmlns:a16="http://schemas.microsoft.com/office/drawing/2014/main" id="{182813B0-5874-48B1-647C-C8CFF2F1E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>
            <a:extLst>
              <a:ext uri="{FF2B5EF4-FFF2-40B4-BE49-F238E27FC236}">
                <a16:creationId xmlns:a16="http://schemas.microsoft.com/office/drawing/2014/main" id="{DB58483E-3A00-83B6-5FA4-140AAD9E2C2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1442" name="Text Box 2">
            <a:extLst>
              <a:ext uri="{FF2B5EF4-FFF2-40B4-BE49-F238E27FC236}">
                <a16:creationId xmlns:a16="http://schemas.microsoft.com/office/drawing/2014/main" id="{8818B818-C418-6B77-845D-1459BA9FF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AA1A6606-6F18-5F12-E202-572E549CAD3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32E6B346-5926-4A37-F614-E5CE008F5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>
            <a:extLst>
              <a:ext uri="{FF2B5EF4-FFF2-40B4-BE49-F238E27FC236}">
                <a16:creationId xmlns:a16="http://schemas.microsoft.com/office/drawing/2014/main" id="{204B3861-F228-4C80-69B4-0DE9D572B32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0418" name="Text Box 2">
            <a:extLst>
              <a:ext uri="{FF2B5EF4-FFF2-40B4-BE49-F238E27FC236}">
                <a16:creationId xmlns:a16="http://schemas.microsoft.com/office/drawing/2014/main" id="{8897F191-E4FB-CBB0-0A65-DF2A5697D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8193A9A1-DC2C-7EA8-F532-54CA46804A0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6DA027F8-581A-C1B0-C9BB-9454F294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20A5F483-6CDC-69CB-DA07-A9C6C263FFA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C00F02C0-EA09-FF14-383E-4A7BAEE7A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A100AC27-E6DD-ADA2-C9EE-40638B31B38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7F734D0E-81B5-B903-35D1-11EC86733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97FDC24C-D4D4-A61A-CD66-83FC712AD99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69920ACE-A413-1A1A-2567-C61854554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5377864D-C19E-6A90-C593-6BFA45648A0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900CE334-B281-69D6-1C83-D05932378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CD5B97D7-A5D0-8377-F8B5-17BC7F0E5E6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66B68C33-7682-A9CE-26BF-39FB0516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B6E3F484-1A41-0B67-2A9D-A9C1EB46AB5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D00B08C4-B81B-0820-6CE1-2B06E63D9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61B120DE-5418-C698-42CE-B2FD98E099E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BDBF94BD-7770-23BC-30F0-168A2E11A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B499EE6C-5083-FDA8-8841-70C7B3E04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D2871CA6-8B5C-C40D-B1AA-13DB5B60489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F045229C-F54A-0E9B-1238-7B9F0F105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19324360-7CB9-03D5-B729-ABC6C999F18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9C57340D-3F0E-BF28-46B9-255CE50E4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9B3FDB84-1E48-CA1A-242E-5857C196079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A8B1F74D-9086-B49E-B89E-E1B5607DB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AT"/>
              <a:t>Master-Untertitelformat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44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59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493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1363" y="2101850"/>
            <a:ext cx="4225925" cy="4757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19688" y="2101850"/>
            <a:ext cx="4225925" cy="4757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074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98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61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28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1748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8581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39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94550" y="627063"/>
            <a:ext cx="2151063" cy="6232525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41363" y="627063"/>
            <a:ext cx="6300787" cy="6232525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372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D4F17F1B-1503-99ED-B7FE-7579ED2D6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1363" y="627063"/>
            <a:ext cx="86042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Klicken Sie, um das Format des Titeltextes zu bearbeiten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67189BDD-6D3F-D293-DB97-AD213FB08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1363" y="2101850"/>
            <a:ext cx="8604250" cy="475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/>
              <a:t>Klicken Sie, um die Formate des Gliederungstextes zu bearbeiten</a:t>
            </a:r>
          </a:p>
          <a:p>
            <a:pPr lvl="1"/>
            <a:r>
              <a:rPr lang="en-GB" altLang="de-DE"/>
              <a:t>Zweite Gliederungsebene</a:t>
            </a:r>
          </a:p>
          <a:p>
            <a:pPr lvl="2"/>
            <a:r>
              <a:rPr lang="en-GB" altLang="de-DE"/>
              <a:t>Dritte Gliederungsebene</a:t>
            </a:r>
          </a:p>
          <a:p>
            <a:pPr lvl="3"/>
            <a:r>
              <a:rPr lang="en-GB" altLang="de-DE"/>
              <a:t>Vierte Gliederungsebene</a:t>
            </a:r>
          </a:p>
          <a:p>
            <a:pPr lvl="4"/>
            <a:r>
              <a:rPr lang="en-GB" altLang="de-DE"/>
              <a:t>Fünfte Gliederungsebene</a:t>
            </a:r>
          </a:p>
          <a:p>
            <a:pPr lvl="4"/>
            <a:r>
              <a:rPr lang="en-GB" altLang="de-DE"/>
              <a:t>Sechste Gliederungsebene</a:t>
            </a:r>
          </a:p>
          <a:p>
            <a:pPr lvl="4"/>
            <a:r>
              <a:rPr lang="en-GB" altLang="de-DE"/>
              <a:t>Siebente Gliederungsebene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78C08A-1252-C34F-E6EF-444A24C20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7094538"/>
            <a:ext cx="1841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2pPr>
      <a:lvl3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3pPr>
      <a:lvl4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4pPr>
      <a:lvl5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5pPr>
      <a:lvl6pPr marL="25146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6pPr>
      <a:lvl7pPr marL="29718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7pPr>
      <a:lvl8pPr marL="34290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8pPr>
      <a:lvl9pPr marL="38862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9pPr>
    </p:titleStyle>
    <p:bodyStyle>
      <a:lvl1pPr marL="342900" indent="-3429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BE221D19-CB0F-795F-7782-B5356AA0E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8534400" cy="351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r>
              <a:rPr lang="de-DE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Sampling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endParaRPr lang="de-DE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endParaRPr lang="de-DE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de-DE" sz="18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Samplingrate</a:t>
            </a: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 (</a:t>
            </a:r>
            <a:r>
              <a:rPr lang="de-DE" sz="18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Downsampling</a:t>
            </a: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)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Bitrate (</a:t>
            </a:r>
            <a:r>
              <a:rPr lang="de-DE" sz="18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Bitcrushing</a:t>
            </a: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)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de-DE" sz="18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Envelope</a:t>
            </a:r>
            <a:endParaRPr lang="de-DE" sz="1800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Looping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Transposition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endParaRPr lang="de-DE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D4530C5A-4AF0-6163-959D-8F91FFDC9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8534400" cy="47418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Sampling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 der Musik bezeichnet (Sound) Sampling den Vorgang, einen Teil einer – bereits fertigen – Ton- oder Musikaufnahme (ein Sample; engl. für ‚Auswahl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‚Muster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‚Beispiel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von lat. exemplum: ‚Abbild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‚Beispiel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Sound Sample für ‚Klangprobe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) in einem neuen, häufig musikalischen Kontext zu verwenden.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(http://de.wikipedia.org/wiki/Sampling_(Musik)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Historisch gesehen unterscheidet sich Sampling als konkrete aufgenommene Klänge von synthetischen Klängen analoger Schwingungsformen.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 einer digitalen Produktionsumgebung (Computer) sind auch die basialen Schwingungsformen in Form von Samples abgelegt.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Daher ist heutzutage jegliche Form der Synthese Samplingsynthese.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BF46CAAA-F5F9-90C1-7315-FE8351D8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20462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Speicherplatz</a:t>
            </a:r>
          </a:p>
        </p:txBody>
      </p:sp>
      <p:pic>
        <p:nvPicPr>
          <p:cNvPr id="7171" name="Bild 1" descr="Sampling2.gif">
            <a:extLst>
              <a:ext uri="{FF2B5EF4-FFF2-40B4-BE49-F238E27FC236}">
                <a16:creationId xmlns:a16="http://schemas.microsoft.com/office/drawing/2014/main" id="{F13571A3-7789-568A-8F34-3EF30E73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1619250"/>
            <a:ext cx="4968875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hteck 2">
            <a:extLst>
              <a:ext uri="{FF2B5EF4-FFF2-40B4-BE49-F238E27FC236}">
                <a16:creationId xmlns:a16="http://schemas.microsoft.com/office/drawing/2014/main" id="{A4C9C47A-0F61-4692-901F-D8E9CA5F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5003800"/>
            <a:ext cx="9144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de-DE" altLang="de-DE">
                <a:solidFill>
                  <a:schemeClr val="tx1"/>
                </a:solidFill>
              </a:rPr>
              <a:t>Speicherbedarf = Samplingrate x Samplingtiefe:</a:t>
            </a:r>
          </a:p>
          <a:p>
            <a:pPr algn="ctr"/>
            <a:endParaRPr lang="de-DE" altLang="de-DE">
              <a:solidFill>
                <a:schemeClr val="tx1"/>
              </a:solidFill>
            </a:endParaRPr>
          </a:p>
          <a:p>
            <a:pPr algn="ctr"/>
            <a:r>
              <a:rPr lang="de-DE" altLang="de-DE" sz="2000">
                <a:solidFill>
                  <a:schemeClr val="tx1"/>
                </a:solidFill>
              </a:rPr>
              <a:t>44100 (1/s) x 16 Bit x 60 s (pro Minute) x 2 (bei Stereo) = 84672000 Bit = ( /8) 10584000 Byte = ( /1028) 10296 kB = ( /1028) ca. 10 MB pro Minute </a:t>
            </a:r>
            <a:br>
              <a:rPr lang="de-DE" altLang="de-DE" sz="2000">
                <a:solidFill>
                  <a:schemeClr val="tx1"/>
                </a:solidFill>
              </a:rPr>
            </a:br>
            <a:endParaRPr lang="de-DE" altLang="de-DE" sz="2000">
              <a:solidFill>
                <a:schemeClr val="tx1"/>
              </a:solidFill>
            </a:endParaRPr>
          </a:p>
          <a:p>
            <a:pPr algn="ctr"/>
            <a:r>
              <a:rPr lang="de-DE" altLang="de-DE">
                <a:solidFill>
                  <a:schemeClr val="tx1"/>
                </a:solidFill>
              </a:rPr>
              <a:t>(96 kHz / 24 Bit ca. 33 MB pro Minute)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AFEE5427-019F-C1A1-D2DE-2F53308AB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31908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de-DE" altLang="de-DE">
                <a:solidFill>
                  <a:srgbClr val="000000"/>
                </a:solidFill>
              </a:rPr>
              <a:t>Wort-Größe / Bit-Tiefe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C720F80-AA7F-AEB2-4543-2671526E7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88" y="1692275"/>
            <a:ext cx="6108700" cy="307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291" name="Rectangle 3">
            <a:extLst>
              <a:ext uri="{FF2B5EF4-FFF2-40B4-BE49-F238E27FC236}">
                <a16:creationId xmlns:a16="http://schemas.microsoft.com/office/drawing/2014/main" id="{E46F401C-0722-B2F6-7C03-714333DBB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5227638"/>
            <a:ext cx="7010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en-US" altLang="de-DE" sz="1600">
                <a:solidFill>
                  <a:srgbClr val="000000"/>
                </a:solidFill>
              </a:rPr>
              <a:t>1 Bit Wortlänge = Verdopplung des Dynamik-Wertebereichs = 6 dB</a:t>
            </a:r>
          </a:p>
          <a:p>
            <a:pPr>
              <a:buClrTx/>
              <a:buFontTx/>
              <a:buNone/>
            </a:pPr>
            <a:r>
              <a:rPr lang="en-US" altLang="de-DE" sz="1600">
                <a:solidFill>
                  <a:srgbClr val="000000"/>
                </a:solidFill>
              </a:rPr>
              <a:t>(10 dB entsprechend der wahrgenommenen Lautstärkeverdopplung)</a:t>
            </a:r>
          </a:p>
          <a:p>
            <a:pPr>
              <a:buClrTx/>
              <a:buFontTx/>
              <a:buNone/>
            </a:pPr>
            <a:r>
              <a:rPr lang="en-US" altLang="de-DE" sz="1600">
                <a:solidFill>
                  <a:srgbClr val="000000"/>
                </a:solidFill>
              </a:rPr>
              <a:t>8 Bit Wortlänge = 48 dB (z.B. 00000000 = –48 dB)</a:t>
            </a:r>
          </a:p>
          <a:p>
            <a:pPr>
              <a:buClrTx/>
              <a:buFontTx/>
              <a:buNone/>
            </a:pPr>
            <a:r>
              <a:rPr lang="en-US" altLang="de-DE" sz="1600">
                <a:solidFill>
                  <a:srgbClr val="000000"/>
                </a:solidFill>
              </a:rPr>
              <a:t>16 Bit Wortlänge = 96 dB</a:t>
            </a:r>
          </a:p>
          <a:p>
            <a:pPr>
              <a:buClrTx/>
              <a:buFontTx/>
              <a:buNone/>
            </a:pPr>
            <a:r>
              <a:rPr lang="en-US" altLang="de-DE" sz="1600">
                <a:solidFill>
                  <a:srgbClr val="000000"/>
                </a:solidFill>
              </a:rPr>
              <a:t>24 Bit Wortlänge = 144 dB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A6F77B18-B3B6-26DB-9741-B98AE2A59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257968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Bitcrushing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Effekt</a:t>
            </a:r>
          </a:p>
        </p:txBody>
      </p:sp>
      <p:pic>
        <p:nvPicPr>
          <p:cNvPr id="11267" name="Bild 2" descr="b0abc4840475c7ba66c4ab0ac6a71430.gif">
            <a:extLst>
              <a:ext uri="{FF2B5EF4-FFF2-40B4-BE49-F238E27FC236}">
                <a16:creationId xmlns:a16="http://schemas.microsoft.com/office/drawing/2014/main" id="{004EECC6-552B-2A3B-AEE1-CC0E4234C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1403350"/>
            <a:ext cx="306070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Bild 3" descr="DJM-800-crush.jpg">
            <a:extLst>
              <a:ext uri="{FF2B5EF4-FFF2-40B4-BE49-F238E27FC236}">
                <a16:creationId xmlns:a16="http://schemas.microsoft.com/office/drawing/2014/main" id="{16B96335-3008-47D8-4373-2394132D4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1835150"/>
            <a:ext cx="4922838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A753EE6D-56A2-DBD4-704F-466B0314B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4525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>
                <a:solidFill>
                  <a:srgbClr val="000000"/>
                </a:solidFill>
                <a:ea typeface="ＭＳ Ｐゴシック" charset="0"/>
              </a:rPr>
              <a:t>Sampling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FF3F743-A6A4-BC53-13AC-1FB808D0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1619250"/>
            <a:ext cx="41179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5363" name="Picture 3">
            <a:extLst>
              <a:ext uri="{FF2B5EF4-FFF2-40B4-BE49-F238E27FC236}">
                <a16:creationId xmlns:a16="http://schemas.microsoft.com/office/drawing/2014/main" id="{3B8CDB2F-FF2F-5579-D6A8-6A547E566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1619250"/>
            <a:ext cx="4038600" cy="213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3317" name="Bild 1" descr="sampling1.gif">
            <a:extLst>
              <a:ext uri="{FF2B5EF4-FFF2-40B4-BE49-F238E27FC236}">
                <a16:creationId xmlns:a16="http://schemas.microsoft.com/office/drawing/2014/main" id="{E74E0AAE-FC81-3F79-CC3A-1702DEA29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4140200"/>
            <a:ext cx="4537075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6E859369-E76C-78D8-50A1-D6C4ED79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40767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Effekt geringer </a:t>
            </a: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Samplingrate</a:t>
            </a:r>
            <a:endParaRPr lang="de-DE" dirty="0">
              <a:solidFill>
                <a:srgbClr val="000000"/>
              </a:solidFill>
              <a:ea typeface="ＭＳ Ｐゴシック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8D9CFF0B-5C4A-3DF8-4FEA-DC89A71F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646238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id="{419FAFC3-7953-29CD-E225-3D68AFB4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4618038"/>
            <a:ext cx="47593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CBD737D4-9082-0A1E-CEC9-58792BCAF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35639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Effekte von Datenfehlern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9AB6BDF-EC84-466B-725D-CD0430F34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916238"/>
            <a:ext cx="447675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1508" name="Bild 1" descr="0c11e356d22cf72454dbc0bec18649ca.gif">
            <a:extLst>
              <a:ext uri="{FF2B5EF4-FFF2-40B4-BE49-F238E27FC236}">
                <a16:creationId xmlns:a16="http://schemas.microsoft.com/office/drawing/2014/main" id="{7EFDA14D-6004-5BD1-AA7C-8D848D345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75" y="2051050"/>
            <a:ext cx="4559300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0FF09C36-84FE-0869-657D-B802B98C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4525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>
                <a:solidFill>
                  <a:srgbClr val="000000"/>
                </a:solidFill>
                <a:ea typeface="ＭＳ Ｐゴシック" charset="0"/>
              </a:rPr>
              <a:t>Sampling</a:t>
            </a:r>
          </a:p>
        </p:txBody>
      </p:sp>
      <p:pic>
        <p:nvPicPr>
          <p:cNvPr id="19459" name="Bild 1" descr="334f79ed51bf2e6eac4b1960ce362b67.gif">
            <a:extLst>
              <a:ext uri="{FF2B5EF4-FFF2-40B4-BE49-F238E27FC236}">
                <a16:creationId xmlns:a16="http://schemas.microsoft.com/office/drawing/2014/main" id="{2A0755C9-CE56-F1BF-4DFC-4BA7D0942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979613"/>
            <a:ext cx="842010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1E2EDE70-24A6-63F7-CC73-63052570C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7594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de-DE" altLang="de-DE">
                <a:solidFill>
                  <a:srgbClr val="000000"/>
                </a:solidFill>
              </a:rPr>
              <a:t>Transposition – Samplingrate Conversion/Interpolation</a:t>
            </a:r>
          </a:p>
        </p:txBody>
      </p:sp>
      <p:pic>
        <p:nvPicPr>
          <p:cNvPr id="41987" name="Bild 2" descr="7513e7e104a10bb8677306b733704115.gif">
            <a:extLst>
              <a:ext uri="{FF2B5EF4-FFF2-40B4-BE49-F238E27FC236}">
                <a16:creationId xmlns:a16="http://schemas.microsoft.com/office/drawing/2014/main" id="{52C17030-A3A7-52EF-D6CF-77AE964B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692275"/>
            <a:ext cx="6121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3302737C-CCDB-1CEC-C8EA-AD7E44BB7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306705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Downsampling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Effekt </a:t>
            </a:r>
          </a:p>
        </p:txBody>
      </p:sp>
      <p:pic>
        <p:nvPicPr>
          <p:cNvPr id="17411" name="Bild 1" descr="f447639fc418c18aa4636a83967f1939.gif">
            <a:extLst>
              <a:ext uri="{FF2B5EF4-FFF2-40B4-BE49-F238E27FC236}">
                <a16:creationId xmlns:a16="http://schemas.microsoft.com/office/drawing/2014/main" id="{5701A267-3F77-AFDA-77D5-B52E6F665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1763713"/>
            <a:ext cx="3960813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6367314B-5A47-CB2D-0B9C-0245B30FB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38258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Envelope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/ Implementation</a:t>
            </a:r>
          </a:p>
        </p:txBody>
      </p:sp>
      <p:pic>
        <p:nvPicPr>
          <p:cNvPr id="23555" name="Bild 1" descr="a43a0b29377823bdbf57a271dfd7abe0.gif">
            <a:extLst>
              <a:ext uri="{FF2B5EF4-FFF2-40B4-BE49-F238E27FC236}">
                <a16:creationId xmlns:a16="http://schemas.microsoft.com/office/drawing/2014/main" id="{E6EB96E0-5137-E3A5-5DB1-4AFEEE1DE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75" y="323850"/>
            <a:ext cx="3403600" cy="697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F1ED9983-1476-3966-55A2-E13E2C2FF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2779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Looping</a:t>
            </a:r>
          </a:p>
        </p:txBody>
      </p:sp>
      <p:pic>
        <p:nvPicPr>
          <p:cNvPr id="25603" name="Bild 1" descr="2c6efe1e07e775209d93dd8dbc5b5d83.gif">
            <a:extLst>
              <a:ext uri="{FF2B5EF4-FFF2-40B4-BE49-F238E27FC236}">
                <a16:creationId xmlns:a16="http://schemas.microsoft.com/office/drawing/2014/main" id="{8BA9AF76-4CE9-AA6F-95EE-A958EAFD2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1187450"/>
            <a:ext cx="30353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9A49809F-3F4E-6ADF-EC46-40AD4DC43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28178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Envelope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/ Looping</a:t>
            </a:r>
          </a:p>
        </p:txBody>
      </p:sp>
      <p:pic>
        <p:nvPicPr>
          <p:cNvPr id="27651" name="Bild 2" descr="3f918942b73bf5badc489a196ad9f799.gif">
            <a:extLst>
              <a:ext uri="{FF2B5EF4-FFF2-40B4-BE49-F238E27FC236}">
                <a16:creationId xmlns:a16="http://schemas.microsoft.com/office/drawing/2014/main" id="{46AFC09C-11D1-D611-9EF9-4450367C5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63713"/>
            <a:ext cx="8424863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Bild 3" descr="Seiten aus loop-aesthetics1.pdf">
            <a:extLst>
              <a:ext uri="{FF2B5EF4-FFF2-40B4-BE49-F238E27FC236}">
                <a16:creationId xmlns:a16="http://schemas.microsoft.com/office/drawing/2014/main" id="{3175999F-6086-0FF5-2FB1-A1F8D0452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466725"/>
            <a:ext cx="57610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45455636-D347-B65A-7422-F25398279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2779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Looping</a:t>
            </a:r>
          </a:p>
        </p:txBody>
      </p:sp>
      <p:pic>
        <p:nvPicPr>
          <p:cNvPr id="31747" name="Bild 1" descr="83cadea924a6fa3127474d18f21e5b04.gif">
            <a:extLst>
              <a:ext uri="{FF2B5EF4-FFF2-40B4-BE49-F238E27FC236}">
                <a16:creationId xmlns:a16="http://schemas.microsoft.com/office/drawing/2014/main" id="{4448928A-EBA6-F46D-7EBD-719B0C492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547813"/>
            <a:ext cx="6337300" cy="536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Bild 1" descr="Seiten aus loop-aesthetics2.pdf">
            <a:extLst>
              <a:ext uri="{FF2B5EF4-FFF2-40B4-BE49-F238E27FC236}">
                <a16:creationId xmlns:a16="http://schemas.microsoft.com/office/drawing/2014/main" id="{546FD9E0-CCAE-2E1C-FA02-013DCF546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971550"/>
            <a:ext cx="6824663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Bild 3" descr="Seiten aus loop-aesthetics2-2.pdf">
            <a:extLst>
              <a:ext uri="{FF2B5EF4-FFF2-40B4-BE49-F238E27FC236}">
                <a16:creationId xmlns:a16="http://schemas.microsoft.com/office/drawing/2014/main" id="{6335B94F-8A5E-1D33-8988-E18533428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42988"/>
            <a:ext cx="6769100" cy="575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Bild 1" descr="lang-dw2-6-7.pdf">
            <a:extLst>
              <a:ext uri="{FF2B5EF4-FFF2-40B4-BE49-F238E27FC236}">
                <a16:creationId xmlns:a16="http://schemas.microsoft.com/office/drawing/2014/main" id="{BAFE8593-4066-05F3-1634-F02DF5D0A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619250"/>
            <a:ext cx="2519362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0102A4F-37F7-089A-19C8-810813591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39750"/>
            <a:ext cx="6737350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Bernhard Lang</a:t>
            </a:r>
          </a:p>
          <a:p>
            <a:pPr>
              <a:buClrTx/>
              <a:buFont typeface="Times New Roman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Differenz Wiederholung 2 - Dead </a:t>
            </a:r>
            <a:r>
              <a:rPr lang="de-DE" sz="2000" dirty="0" err="1">
                <a:solidFill>
                  <a:srgbClr val="000000"/>
                </a:solidFill>
                <a:ea typeface="ＭＳ Ｐゴシック" charset="0"/>
              </a:rPr>
              <a:t>Repetitions</a:t>
            </a: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 (1998-99)</a:t>
            </a:r>
          </a:p>
        </p:txBody>
      </p:sp>
      <p:sp>
        <p:nvSpPr>
          <p:cNvPr id="37892" name="Rechteck 5">
            <a:extLst>
              <a:ext uri="{FF2B5EF4-FFF2-40B4-BE49-F238E27FC236}">
                <a16:creationId xmlns:a16="http://schemas.microsoft.com/office/drawing/2014/main" id="{6BC524DE-5342-113D-98E2-20E9DF1AE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692275"/>
            <a:ext cx="2376487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chemeClr val="tx1"/>
                </a:solidFill>
              </a:rPr>
              <a:t>(Takt 6-7)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Verkleinerung der Loop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von 4/4 auf 7/8 mit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Stauchung des Loop-Inhalts</a:t>
            </a:r>
          </a:p>
        </p:txBody>
      </p:sp>
      <p:pic>
        <p:nvPicPr>
          <p:cNvPr id="37893" name="Bild 6" descr="lang-dw2-22-25.pdf">
            <a:extLst>
              <a:ext uri="{FF2B5EF4-FFF2-40B4-BE49-F238E27FC236}">
                <a16:creationId xmlns:a16="http://schemas.microsoft.com/office/drawing/2014/main" id="{6377A4DB-41AA-DA76-B8FE-AF3969511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3132138"/>
            <a:ext cx="5903913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Rechteck 7">
            <a:extLst>
              <a:ext uri="{FF2B5EF4-FFF2-40B4-BE49-F238E27FC236}">
                <a16:creationId xmlns:a16="http://schemas.microsoft.com/office/drawing/2014/main" id="{F0B30A81-DA7C-3BF8-A557-84189C4A3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2051050"/>
            <a:ext cx="23764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22-25)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kanonische Verschiebung mit gleichen Noten und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modifiziertem Rhythmus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BD8982A-2F34-BA7E-E3C0-E82622197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39750"/>
            <a:ext cx="6737350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Bernhard Lang</a:t>
            </a:r>
          </a:p>
          <a:p>
            <a:pPr>
              <a:buClrTx/>
              <a:buFont typeface="Times New Roman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Differenz Wiederholung 2 - Dead </a:t>
            </a:r>
            <a:r>
              <a:rPr lang="de-DE" sz="2000" dirty="0" err="1">
                <a:solidFill>
                  <a:srgbClr val="000000"/>
                </a:solidFill>
                <a:ea typeface="ＭＳ Ｐゴシック" charset="0"/>
              </a:rPr>
              <a:t>Repetitions</a:t>
            </a: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 (1998-99)</a:t>
            </a:r>
          </a:p>
        </p:txBody>
      </p:sp>
      <p:sp>
        <p:nvSpPr>
          <p:cNvPr id="39939" name="Rechteck 5">
            <a:extLst>
              <a:ext uri="{FF2B5EF4-FFF2-40B4-BE49-F238E27FC236}">
                <a16:creationId xmlns:a16="http://schemas.microsoft.com/office/drawing/2014/main" id="{8603DFE4-A047-36A9-2897-5BBB2CB4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763713"/>
            <a:ext cx="23764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57a-c)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symmetrische Aufteilung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des LoopInhalts</a:t>
            </a:r>
          </a:p>
        </p:txBody>
      </p:sp>
      <p:sp>
        <p:nvSpPr>
          <p:cNvPr id="39940" name="Rechteck 7">
            <a:extLst>
              <a:ext uri="{FF2B5EF4-FFF2-40B4-BE49-F238E27FC236}">
                <a16:creationId xmlns:a16="http://schemas.microsoft.com/office/drawing/2014/main" id="{ABE2DD92-178E-D1E4-AA34-5299AC5D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2124075"/>
            <a:ext cx="23764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68a-f)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asymmetrische Loop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mit einem artifiziellen</a:t>
            </a:r>
          </a:p>
          <a:p>
            <a:r>
              <a:rPr lang="en-GB" altLang="en-GB" sz="1600">
                <a:solidFill>
                  <a:srgbClr val="000000"/>
                </a:solidFill>
              </a:rPr>
              <a:t>“</a:t>
            </a:r>
            <a:r>
              <a:rPr lang="en-GB" altLang="ja-JP" sz="1600">
                <a:solidFill>
                  <a:srgbClr val="000000"/>
                </a:solidFill>
              </a:rPr>
              <a:t>Fehler</a:t>
            </a:r>
            <a:r>
              <a:rPr lang="en-GB" altLang="en-GB" sz="1600">
                <a:solidFill>
                  <a:srgbClr val="000000"/>
                </a:solidFill>
              </a:rPr>
              <a:t>”</a:t>
            </a:r>
            <a:endParaRPr lang="en-GB" altLang="de-DE" sz="1600">
              <a:solidFill>
                <a:srgbClr val="000000"/>
              </a:solidFill>
            </a:endParaRPr>
          </a:p>
        </p:txBody>
      </p:sp>
      <p:pic>
        <p:nvPicPr>
          <p:cNvPr id="39941" name="Bild 2" descr="lang-dw2-57a-c.pdf">
            <a:extLst>
              <a:ext uri="{FF2B5EF4-FFF2-40B4-BE49-F238E27FC236}">
                <a16:creationId xmlns:a16="http://schemas.microsoft.com/office/drawing/2014/main" id="{571B265B-6092-B6B7-374A-1A3E05533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619250"/>
            <a:ext cx="3889375" cy="523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Bild 3" descr="lang-dw2-68a-f.pdf">
            <a:extLst>
              <a:ext uri="{FF2B5EF4-FFF2-40B4-BE49-F238E27FC236}">
                <a16:creationId xmlns:a16="http://schemas.microsoft.com/office/drawing/2014/main" id="{E8ED8368-AF2C-AC44-A1AB-F86E0BC1A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713" y="3348038"/>
            <a:ext cx="5256212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Design">
  <a:themeElements>
    <a:clrScheme name="Office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-Design">
      <a:majorFont>
        <a:latin typeface="Verdana"/>
        <a:ea typeface="ＭＳ Ｐゴシック"/>
        <a:cs typeface="MS Gothic"/>
      </a:majorFont>
      <a:minorFont>
        <a:latin typeface="Arial"/>
        <a:ea typeface="ＭＳ Ｐゴシック"/>
        <a:cs typeface="MS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;Helvetica" charset="0"/>
            <a:ea typeface="ＭＳ Ｐゴシック" charset="0"/>
            <a:cs typeface="MS Gothi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;Helvetica" charset="0"/>
            <a:ea typeface="ＭＳ Ｐゴシック" charset="0"/>
            <a:cs typeface="MS Gothic" charset="0"/>
          </a:defRPr>
        </a:defPPr>
      </a:lstStyle>
    </a:lnDef>
  </a:objectDefaults>
  <a:extraClrSchemeLst>
    <a:extraClrScheme>
      <a:clrScheme name="Office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Macintosh PowerPoint</Application>
  <PresentationFormat>Benutzerdefiniert</PresentationFormat>
  <Paragraphs>56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Arial;Helvetica</vt:lpstr>
      <vt:lpstr>Times New Roman</vt:lpstr>
      <vt:lpstr>Verdana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Analogien: Film - Elektronische Musik</dc:title>
  <dc:creator>Achim Bornhoeft</dc:creator>
  <cp:lastModifiedBy>Microsoft Office User</cp:lastModifiedBy>
  <cp:revision>338</cp:revision>
  <cp:lastPrinted>1601-01-01T00:00:00Z</cp:lastPrinted>
  <dcterms:created xsi:type="dcterms:W3CDTF">2010-10-14T08:13:50Z</dcterms:created>
  <dcterms:modified xsi:type="dcterms:W3CDTF">2023-01-11T08:23:57Z</dcterms:modified>
</cp:coreProperties>
</file>