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9" r:id="rId3"/>
    <p:sldId id="272" r:id="rId4"/>
    <p:sldId id="277" r:id="rId5"/>
    <p:sldId id="271" r:id="rId6"/>
    <p:sldId id="276" r:id="rId7"/>
    <p:sldId id="280" r:id="rId8"/>
    <p:sldId id="273" r:id="rId9"/>
    <p:sldId id="282" r:id="rId10"/>
    <p:sldId id="281" r:id="rId11"/>
    <p:sldId id="283" r:id="rId12"/>
    <p:sldId id="284" r:id="rId13"/>
  </p:sldIdLst>
  <p:sldSz cx="10080625" cy="7559675"/>
  <p:notesSz cx="6886575" cy="9623425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;Helvetica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>
      <p:cViewPr varScale="1">
        <p:scale>
          <a:sx n="112" d="100"/>
          <a:sy n="112" d="100"/>
        </p:scale>
        <p:origin x="1856" y="20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>
            <a:extLst>
              <a:ext uri="{FF2B5EF4-FFF2-40B4-BE49-F238E27FC236}">
                <a16:creationId xmlns:a16="http://schemas.microsoft.com/office/drawing/2014/main" id="{FB56571D-18E2-16DB-B64A-53EBC7EEA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86575" cy="96234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  <p:sp>
        <p:nvSpPr>
          <p:cNvPr id="2050" name="AutoShape 2">
            <a:extLst>
              <a:ext uri="{FF2B5EF4-FFF2-40B4-BE49-F238E27FC236}">
                <a16:creationId xmlns:a16="http://schemas.microsoft.com/office/drawing/2014/main" id="{C20FE6CA-B44C-DF68-5C85-98C097363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86575" cy="9623425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  <p:sp>
        <p:nvSpPr>
          <p:cNvPr id="2051" name="Text Box 3">
            <a:extLst>
              <a:ext uri="{FF2B5EF4-FFF2-40B4-BE49-F238E27FC236}">
                <a16:creationId xmlns:a16="http://schemas.microsoft.com/office/drawing/2014/main" id="{F0573F38-9153-3068-0F69-1198F300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75" y="923925"/>
            <a:ext cx="4441825" cy="33305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  <p:sp>
        <p:nvSpPr>
          <p:cNvPr id="2052" name="Text Box 4">
            <a:extLst>
              <a:ext uri="{FF2B5EF4-FFF2-40B4-BE49-F238E27FC236}">
                <a16:creationId xmlns:a16="http://schemas.microsoft.com/office/drawing/2014/main" id="{390E807E-A344-CE85-A5AB-2A5ED8921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578350"/>
            <a:ext cx="4759325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AD3FA21-E0BA-90C6-2797-8575BB188D4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038225" y="731838"/>
            <a:ext cx="4806950" cy="36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BC9AA0D6-D984-8E2E-02DA-0B3A22DF44C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8975" y="4570413"/>
            <a:ext cx="5505450" cy="432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de-DE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ＭＳ Ｐゴシック" charset="0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1">
            <a:extLst>
              <a:ext uri="{FF2B5EF4-FFF2-40B4-BE49-F238E27FC236}">
                <a16:creationId xmlns:a16="http://schemas.microsoft.com/office/drawing/2014/main" id="{F6A8DDD9-D144-12D1-CD45-E5758D6C3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75" y="923925"/>
            <a:ext cx="4441825" cy="33305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  <p:sp>
        <p:nvSpPr>
          <p:cNvPr id="48130" name="Text Box 2">
            <a:extLst>
              <a:ext uri="{FF2B5EF4-FFF2-40B4-BE49-F238E27FC236}">
                <a16:creationId xmlns:a16="http://schemas.microsoft.com/office/drawing/2014/main" id="{A9323960-55E8-5D0D-291F-57BC31948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578350"/>
            <a:ext cx="4759325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1">
            <a:extLst>
              <a:ext uri="{FF2B5EF4-FFF2-40B4-BE49-F238E27FC236}">
                <a16:creationId xmlns:a16="http://schemas.microsoft.com/office/drawing/2014/main" id="{75D633A7-27A6-E731-E53D-6C45BA281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75" y="923925"/>
            <a:ext cx="4441825" cy="3330575"/>
          </a:xfrm>
          <a:prstGeom prst="rect">
            <a:avLst/>
          </a:prstGeom>
          <a:solidFill>
            <a:srgbClr val="FFFFFF"/>
          </a:solidFill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  <p:sp>
        <p:nvSpPr>
          <p:cNvPr id="48130" name="Text Box 2">
            <a:extLst>
              <a:ext uri="{FF2B5EF4-FFF2-40B4-BE49-F238E27FC236}">
                <a16:creationId xmlns:a16="http://schemas.microsoft.com/office/drawing/2014/main" id="{E132B425-FAAE-156C-AFBF-F62AF9306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578350"/>
            <a:ext cx="4759325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46B19A45-BE2E-FB2B-2C06-DA62A1C42D5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15AC9B12-405B-BEBE-1AF5-1F432B338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805C0D06-405C-E79D-55F0-2304F0E1B1E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AEB3312C-8033-1444-3BE6-0D33562D9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51DC6304-2DFA-478E-36BC-23A99E9B7C5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FE3B6C77-2A6B-6C53-CE30-6B945DEF0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8193A9A1-DC2C-7EA8-F532-54CA46804A0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6DA027F8-581A-C1B0-C9BB-9454F294B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A5477D3F-377A-342F-A7D0-088A4C39C8A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7BE2AC31-7914-0999-61D1-BC0136C1E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F59931FA-0B02-3188-33AD-1BBA1731DED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3C81AAE5-83AA-07FB-65B3-E02FA5524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CA52527C-AFC9-959E-AD72-FA3982891EF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910078DA-4513-95D8-E70A-B12F52D9D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  <p:sp>
        <p:nvSpPr>
          <p:cNvPr id="2" name="Notizenplatzhalter 1">
            <a:extLst>
              <a:ext uri="{FF2B5EF4-FFF2-40B4-BE49-F238E27FC236}">
                <a16:creationId xmlns:a16="http://schemas.microsoft.com/office/drawing/2014/main" id="{737409B9-ABFE-B227-365A-F318C9788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Times New Roman" charset="0"/>
              <a:buNone/>
              <a:defRPr/>
            </a:pPr>
            <a:endParaRPr lang="en-GB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5069873D-0FB5-F0B1-81ED-B88A0A956E9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BB4EC8FE-8321-F099-CC1B-80E07E4B6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B64B5772-A4F9-0FEA-6AB4-D7475C7648A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2E1D5924-720A-E3AE-E749-3FF0F8171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>
            <a:extLst>
              <a:ext uri="{FF2B5EF4-FFF2-40B4-BE49-F238E27FC236}">
                <a16:creationId xmlns:a16="http://schemas.microsoft.com/office/drawing/2014/main" id="{A44B8BE8-BC85-4EEA-E3C9-95DAB50D4E6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990600" y="685800"/>
            <a:ext cx="4875213" cy="36576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6FCAB40A-8508-25BB-8FD9-BB758E13A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72000"/>
            <a:ext cx="502761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  <a:cs typeface="MS Gothic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AT"/>
              <a:t>Master-Untertitelformat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2254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1189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AT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7860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41363" y="2101850"/>
            <a:ext cx="4225925" cy="47577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119688" y="2101850"/>
            <a:ext cx="4225925" cy="47577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3923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1706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8365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51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AT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8511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AT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858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0239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94550" y="627063"/>
            <a:ext cx="2151063" cy="6232525"/>
          </a:xfrm>
        </p:spPr>
        <p:txBody>
          <a:bodyPr vert="eaVert"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741363" y="627063"/>
            <a:ext cx="6300787" cy="6232525"/>
          </a:xfrm>
        </p:spPr>
        <p:txBody>
          <a:bodyPr vert="eaVert"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609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7889228A-6B18-D682-9D61-C39C4540C8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41363" y="627063"/>
            <a:ext cx="8604250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Klicken Sie, um das Format des Titeltextes zu bearbeiten</a:t>
            </a:r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35A5BB7E-CE35-0ED5-03C2-E9129656F1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1363" y="2101850"/>
            <a:ext cx="8604250" cy="475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de-DE"/>
              <a:t>Klicken Sie, um die Formate des Gliederungstextes zu bearbeiten</a:t>
            </a:r>
          </a:p>
          <a:p>
            <a:pPr lvl="1"/>
            <a:r>
              <a:rPr lang="en-GB" altLang="de-DE"/>
              <a:t>Zweite Gliederungsebene</a:t>
            </a:r>
          </a:p>
          <a:p>
            <a:pPr lvl="2"/>
            <a:r>
              <a:rPr lang="en-GB" altLang="de-DE"/>
              <a:t>Dritte Gliederungsebene</a:t>
            </a:r>
          </a:p>
          <a:p>
            <a:pPr lvl="3"/>
            <a:r>
              <a:rPr lang="en-GB" altLang="de-DE"/>
              <a:t>Vierte Gliederungsebene</a:t>
            </a:r>
          </a:p>
          <a:p>
            <a:pPr lvl="4"/>
            <a:r>
              <a:rPr lang="en-GB" altLang="de-DE"/>
              <a:t>Fünfte Gliederungsebene</a:t>
            </a:r>
          </a:p>
          <a:p>
            <a:pPr lvl="4"/>
            <a:r>
              <a:rPr lang="en-GB" altLang="de-DE"/>
              <a:t>Sechste Gliederungsebene</a:t>
            </a:r>
          </a:p>
          <a:p>
            <a:pPr lvl="4"/>
            <a:r>
              <a:rPr lang="en-GB" altLang="de-DE"/>
              <a:t>Siebente Gliederungsebene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0151C8-74D4-AB02-9D45-7959DBAD7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7094538"/>
            <a:ext cx="1841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de-DE">
              <a:ea typeface="ＭＳ Ｐゴシック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2pPr>
      <a:lvl3pPr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3pPr>
      <a:lvl4pPr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4pPr>
      <a:lvl5pPr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5pPr>
      <a:lvl6pPr marL="2514600" indent="-228600"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6pPr>
      <a:lvl7pPr marL="2971800" indent="-228600"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7pPr>
      <a:lvl8pPr marL="3429000" indent="-228600"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8pPr>
      <a:lvl9pPr marL="3886200" indent="-228600" algn="l" defTabSz="449263" rtl="0" eaLnBrk="0" fontAlgn="base" hangingPunct="0">
        <a:lnSpc>
          <a:spcPct val="85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400">
          <a:solidFill>
            <a:srgbClr val="000000"/>
          </a:solidFill>
          <a:latin typeface="Verdana" charset="0"/>
          <a:ea typeface="ＭＳ Ｐゴシック" charset="0"/>
          <a:cs typeface="MS Gothic" charset="0"/>
        </a:defRPr>
      </a:lvl9pPr>
    </p:titleStyle>
    <p:bodyStyle>
      <a:lvl1pPr marL="342900" indent="-3429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676767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676767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676767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676767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676767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676767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676767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676767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lnSpc>
          <a:spcPct val="85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676767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>
            <a:extLst>
              <a:ext uri="{FF2B5EF4-FFF2-40B4-BE49-F238E27FC236}">
                <a16:creationId xmlns:a16="http://schemas.microsoft.com/office/drawing/2014/main" id="{E88767A7-7B32-67F7-0330-07E4BBC12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838200"/>
            <a:ext cx="8534400" cy="351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FFFFFF"/>
                </a:solidFill>
                <a:latin typeface="Arial;Helvetica" charset="0"/>
                <a:ea typeface="ＭＳ Ｐゴシック" charset="0"/>
                <a:cs typeface="MS Gothic" charset="0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  <a:defRPr/>
            </a:pPr>
            <a:r>
              <a:rPr lang="de-DE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Looping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defRPr/>
            </a:pPr>
            <a:endParaRPr lang="de-DE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  <a:p>
            <a:pPr marL="285750" indent="-285750">
              <a:lnSpc>
                <a:spcPct val="11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/>
            </a:pPr>
            <a:r>
              <a:rPr lang="de-DE" sz="1800" dirty="0" err="1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Envelope</a:t>
            </a:r>
            <a:endParaRPr lang="de-DE" sz="1800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  <a:p>
            <a:pPr marL="285750" indent="-285750">
              <a:lnSpc>
                <a:spcPct val="11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/>
            </a:pPr>
            <a:r>
              <a:rPr lang="de-DE" sz="1800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Looping</a:t>
            </a:r>
          </a:p>
          <a:p>
            <a:pPr marL="285750" indent="-285750">
              <a:lnSpc>
                <a:spcPct val="11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/>
            </a:pPr>
            <a:r>
              <a:rPr lang="de-DE" sz="1800" dirty="0"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</a:rPr>
              <a:t>Transposition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  <a:defRPr/>
            </a:pPr>
            <a:endParaRPr lang="de-DE" dirty="0">
              <a:solidFill>
                <a:srgbClr val="00000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>
            <a:extLst>
              <a:ext uri="{FF2B5EF4-FFF2-40B4-BE49-F238E27FC236}">
                <a16:creationId xmlns:a16="http://schemas.microsoft.com/office/drawing/2014/main" id="{C7398375-FC57-6A0B-76E7-39FAC5050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838200"/>
            <a:ext cx="8534400" cy="47418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</a:pPr>
            <a:r>
              <a:rPr lang="de-DE" altLang="de-DE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Sampling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</a:pPr>
            <a:endParaRPr lang="de-DE" altLang="de-DE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</a:pP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In der Musik bezeichnet (Sound) Sampling den Vorgang, einen Teil einer – bereits fertigen – Ton- oder Musikaufnahme (ein Sample; engl. für ‚Auswahl</a:t>
            </a:r>
            <a:r>
              <a:rPr lang="de-DE" altLang="en-GB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‘</a:t>
            </a: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, ‚Muster</a:t>
            </a:r>
            <a:r>
              <a:rPr lang="de-DE" altLang="en-GB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‘</a:t>
            </a: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, ‚Beispiel</a:t>
            </a:r>
            <a:r>
              <a:rPr lang="de-DE" altLang="en-GB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‘</a:t>
            </a: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, von lat. exemplum: ‚Abbild</a:t>
            </a:r>
            <a:r>
              <a:rPr lang="de-DE" altLang="en-GB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‘</a:t>
            </a: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, ‚Beispiel</a:t>
            </a:r>
            <a:r>
              <a:rPr lang="de-DE" altLang="en-GB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‘</a:t>
            </a: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, Sound Sample für ‚Klangprobe</a:t>
            </a:r>
            <a:r>
              <a:rPr lang="de-DE" altLang="en-GB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‘</a:t>
            </a: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) in einem neuen, häufig musikalischen Kontext zu verwenden.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</a:pPr>
            <a:r>
              <a:rPr lang="de-DE" altLang="de-DE" sz="1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(http://de.wikipedia.org/wiki/Sampling_(Musik)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</a:pPr>
            <a:endParaRPr lang="de-DE" altLang="de-DE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de-DE" altLang="de-DE" sz="1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Historisch gesehen unterscheidet sich Sampling als konkrete aufgenommene Klänge von synthetischen Klängen analoger Schwingungsformen.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de-DE" altLang="de-DE" sz="1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In einer digitalen Produktionsumgebung (Computer) sind auch die basialen Schwingungsformen in Form von Samples abgelegt.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de-DE" altLang="de-DE" sz="18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Daher ist heutzutage jegliche Form der Synthese Samplingsynthese.</a:t>
            </a:r>
          </a:p>
          <a:p>
            <a:pPr>
              <a:lnSpc>
                <a:spcPct val="110000"/>
              </a:lnSpc>
              <a:spcBef>
                <a:spcPts val="600"/>
              </a:spcBef>
              <a:buClrTx/>
              <a:buFontTx/>
              <a:buNone/>
            </a:pPr>
            <a:endParaRPr lang="de-DE" altLang="de-DE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5F16343F-F334-0FCB-E1AB-A660D48AD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281781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dirty="0" err="1">
                <a:solidFill>
                  <a:srgbClr val="000000"/>
                </a:solidFill>
                <a:ea typeface="ＭＳ Ｐゴシック" charset="0"/>
              </a:rPr>
              <a:t>Envelope</a:t>
            </a:r>
            <a:r>
              <a:rPr lang="de-DE" dirty="0">
                <a:solidFill>
                  <a:srgbClr val="000000"/>
                </a:solidFill>
                <a:ea typeface="ＭＳ Ｐゴシック" charset="0"/>
              </a:rPr>
              <a:t> / Looping</a:t>
            </a:r>
          </a:p>
        </p:txBody>
      </p:sp>
      <p:pic>
        <p:nvPicPr>
          <p:cNvPr id="27651" name="Bild 2" descr="3f918942b73bf5badc489a196ad9f799.gif">
            <a:extLst>
              <a:ext uri="{FF2B5EF4-FFF2-40B4-BE49-F238E27FC236}">
                <a16:creationId xmlns:a16="http://schemas.microsoft.com/office/drawing/2014/main" id="{E9CF51AE-2015-89FD-F3F5-9DCFFCA23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763713"/>
            <a:ext cx="8424863" cy="463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AE019279-C8E0-F515-8B37-4A96DD3D7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38258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dirty="0" err="1">
                <a:solidFill>
                  <a:srgbClr val="000000"/>
                </a:solidFill>
                <a:ea typeface="ＭＳ Ｐゴシック" charset="0"/>
              </a:rPr>
              <a:t>Envelope</a:t>
            </a:r>
            <a:r>
              <a:rPr lang="de-DE" dirty="0">
                <a:solidFill>
                  <a:srgbClr val="000000"/>
                </a:solidFill>
                <a:ea typeface="ＭＳ Ｐゴシック" charset="0"/>
              </a:rPr>
              <a:t> / Implementation</a:t>
            </a:r>
          </a:p>
        </p:txBody>
      </p:sp>
      <p:pic>
        <p:nvPicPr>
          <p:cNvPr id="23555" name="Bild 1" descr="a43a0b29377823bdbf57a271dfd7abe0.gif">
            <a:extLst>
              <a:ext uri="{FF2B5EF4-FFF2-40B4-BE49-F238E27FC236}">
                <a16:creationId xmlns:a16="http://schemas.microsoft.com/office/drawing/2014/main" id="{00E82779-1F18-20EE-2CE3-65FCCDA53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575" y="323850"/>
            <a:ext cx="3403600" cy="697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A30EB97F-53FE-BFE4-0FD1-F40EF37FB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12779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dirty="0">
                <a:solidFill>
                  <a:srgbClr val="000000"/>
                </a:solidFill>
                <a:ea typeface="ＭＳ Ｐゴシック" charset="0"/>
              </a:rPr>
              <a:t>Looping</a:t>
            </a:r>
          </a:p>
        </p:txBody>
      </p:sp>
      <p:pic>
        <p:nvPicPr>
          <p:cNvPr id="25603" name="Bild 1" descr="2c6efe1e07e775209d93dd8dbc5b5d83.gif">
            <a:extLst>
              <a:ext uri="{FF2B5EF4-FFF2-40B4-BE49-F238E27FC236}">
                <a16:creationId xmlns:a16="http://schemas.microsoft.com/office/drawing/2014/main" id="{EC1D5099-EAAD-A17D-4C75-7E0B94954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550" y="1187450"/>
            <a:ext cx="3035300" cy="581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1E2EDE70-24A6-63F7-CC73-63052570C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75946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;Helvetica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r>
              <a:rPr lang="de-DE" altLang="de-DE">
                <a:solidFill>
                  <a:srgbClr val="000000"/>
                </a:solidFill>
              </a:rPr>
              <a:t>Transposition – Samplingrate Conversion/Interpolation</a:t>
            </a:r>
          </a:p>
        </p:txBody>
      </p:sp>
      <p:pic>
        <p:nvPicPr>
          <p:cNvPr id="41987" name="Bild 2" descr="7513e7e104a10bb8677306b733704115.gif">
            <a:extLst>
              <a:ext uri="{FF2B5EF4-FFF2-40B4-BE49-F238E27FC236}">
                <a16:creationId xmlns:a16="http://schemas.microsoft.com/office/drawing/2014/main" id="{52C17030-A3A7-52EF-D6CF-77AE964BA1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1692275"/>
            <a:ext cx="6121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Bild 3" descr="Seiten aus loop-aesthetics1.pdf">
            <a:extLst>
              <a:ext uri="{FF2B5EF4-FFF2-40B4-BE49-F238E27FC236}">
                <a16:creationId xmlns:a16="http://schemas.microsoft.com/office/drawing/2014/main" id="{56ABFB37-7E9D-4432-7B57-4D2E99881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25" y="466725"/>
            <a:ext cx="5761038" cy="697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>
            <a:extLst>
              <a:ext uri="{FF2B5EF4-FFF2-40B4-BE49-F238E27FC236}">
                <a16:creationId xmlns:a16="http://schemas.microsoft.com/office/drawing/2014/main" id="{0B78B6D9-F7C5-49FB-290E-F6F439D9C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7513" y="731838"/>
            <a:ext cx="1277937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dirty="0">
                <a:solidFill>
                  <a:srgbClr val="000000"/>
                </a:solidFill>
                <a:ea typeface="ＭＳ Ｐゴシック" charset="0"/>
              </a:rPr>
              <a:t>Looping</a:t>
            </a:r>
          </a:p>
        </p:txBody>
      </p:sp>
      <p:pic>
        <p:nvPicPr>
          <p:cNvPr id="31747" name="Bild 1" descr="83cadea924a6fa3127474d18f21e5b04.gif">
            <a:extLst>
              <a:ext uri="{FF2B5EF4-FFF2-40B4-BE49-F238E27FC236}">
                <a16:creationId xmlns:a16="http://schemas.microsoft.com/office/drawing/2014/main" id="{DC1E85F4-8F47-ABFD-F319-67FB3BBF7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1547813"/>
            <a:ext cx="6337300" cy="536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Bild 1" descr="Seiten aus loop-aesthetics2.pdf">
            <a:extLst>
              <a:ext uri="{FF2B5EF4-FFF2-40B4-BE49-F238E27FC236}">
                <a16:creationId xmlns:a16="http://schemas.microsoft.com/office/drawing/2014/main" id="{8F3E5426-5396-06AA-B769-E90A172FA4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25" y="971550"/>
            <a:ext cx="6824663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Bild 3" descr="Seiten aus loop-aesthetics2-2.pdf">
            <a:extLst>
              <a:ext uri="{FF2B5EF4-FFF2-40B4-BE49-F238E27FC236}">
                <a16:creationId xmlns:a16="http://schemas.microsoft.com/office/drawing/2014/main" id="{1292B249-D5C5-7D45-76C5-DCED6A7D5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042988"/>
            <a:ext cx="6769100" cy="575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Bild 1" descr="lang-dw2-6-7.pdf">
            <a:extLst>
              <a:ext uri="{FF2B5EF4-FFF2-40B4-BE49-F238E27FC236}">
                <a16:creationId xmlns:a16="http://schemas.microsoft.com/office/drawing/2014/main" id="{46E3CA39-C5C2-5D0B-B30E-099BD2FCFE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1619250"/>
            <a:ext cx="2519362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BFCDFB8-B253-891D-54F8-936DFED37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539750"/>
            <a:ext cx="6737350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sz="2000" dirty="0">
                <a:solidFill>
                  <a:srgbClr val="000000"/>
                </a:solidFill>
                <a:ea typeface="ＭＳ Ｐゴシック" charset="0"/>
              </a:rPr>
              <a:t>Bernhard Lang</a:t>
            </a:r>
          </a:p>
          <a:p>
            <a:pPr>
              <a:buClrTx/>
              <a:buFont typeface="Times New Roman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sz="2000" dirty="0">
                <a:solidFill>
                  <a:srgbClr val="000000"/>
                </a:solidFill>
                <a:ea typeface="ＭＳ Ｐゴシック" charset="0"/>
              </a:rPr>
              <a:t>Differenz Wiederholung 2 - Dead </a:t>
            </a:r>
            <a:r>
              <a:rPr lang="de-DE" sz="2000" dirty="0" err="1">
                <a:solidFill>
                  <a:srgbClr val="000000"/>
                </a:solidFill>
                <a:ea typeface="ＭＳ Ｐゴシック" charset="0"/>
              </a:rPr>
              <a:t>Repetitions</a:t>
            </a:r>
            <a:r>
              <a:rPr lang="de-DE" sz="2000" dirty="0">
                <a:solidFill>
                  <a:srgbClr val="000000"/>
                </a:solidFill>
                <a:ea typeface="ＭＳ Ｐゴシック" charset="0"/>
              </a:rPr>
              <a:t> (1998-99)</a:t>
            </a:r>
          </a:p>
        </p:txBody>
      </p:sp>
      <p:sp>
        <p:nvSpPr>
          <p:cNvPr id="37892" name="Rechteck 5">
            <a:extLst>
              <a:ext uri="{FF2B5EF4-FFF2-40B4-BE49-F238E27FC236}">
                <a16:creationId xmlns:a16="http://schemas.microsoft.com/office/drawing/2014/main" id="{4076E1EE-E2C1-66A7-1ADF-3AEAE8EE3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88" y="1692275"/>
            <a:ext cx="2376487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de-DE" sz="1600">
                <a:solidFill>
                  <a:schemeClr val="tx1"/>
                </a:solidFill>
              </a:rPr>
              <a:t>(Takt 6-7)</a:t>
            </a:r>
          </a:p>
          <a:p>
            <a:r>
              <a:rPr lang="en-GB" altLang="de-DE" sz="1600">
                <a:solidFill>
                  <a:schemeClr val="tx1"/>
                </a:solidFill>
              </a:rPr>
              <a:t>Verkleinerung der Loop</a:t>
            </a:r>
          </a:p>
          <a:p>
            <a:r>
              <a:rPr lang="en-GB" altLang="de-DE" sz="1600">
                <a:solidFill>
                  <a:schemeClr val="tx1"/>
                </a:solidFill>
              </a:rPr>
              <a:t>von 4/4 auf 7/8 mit</a:t>
            </a:r>
          </a:p>
          <a:p>
            <a:r>
              <a:rPr lang="en-GB" altLang="de-DE" sz="1600">
                <a:solidFill>
                  <a:schemeClr val="tx1"/>
                </a:solidFill>
              </a:rPr>
              <a:t>Stauchung des Loop-Inhalts</a:t>
            </a:r>
          </a:p>
        </p:txBody>
      </p:sp>
      <p:pic>
        <p:nvPicPr>
          <p:cNvPr id="37893" name="Bild 6" descr="lang-dw2-22-25.pdf">
            <a:extLst>
              <a:ext uri="{FF2B5EF4-FFF2-40B4-BE49-F238E27FC236}">
                <a16:creationId xmlns:a16="http://schemas.microsoft.com/office/drawing/2014/main" id="{B8FF5118-9DCC-7762-ED79-222121AD5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550" y="3132138"/>
            <a:ext cx="5903913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Rechteck 7">
            <a:extLst>
              <a:ext uri="{FF2B5EF4-FFF2-40B4-BE49-F238E27FC236}">
                <a16:creationId xmlns:a16="http://schemas.microsoft.com/office/drawing/2014/main" id="{D31D89D5-5C77-AF7D-AFCD-28EFC6B96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175" y="2051050"/>
            <a:ext cx="237648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de-DE" sz="1600">
                <a:solidFill>
                  <a:srgbClr val="000000"/>
                </a:solidFill>
              </a:rPr>
              <a:t>(Takt 22-25)</a:t>
            </a:r>
          </a:p>
          <a:p>
            <a:r>
              <a:rPr lang="en-GB" altLang="de-DE" sz="1600">
                <a:solidFill>
                  <a:srgbClr val="000000"/>
                </a:solidFill>
              </a:rPr>
              <a:t>kanonische Verschiebung mit gleichen Noten und</a:t>
            </a:r>
          </a:p>
          <a:p>
            <a:r>
              <a:rPr lang="en-GB" altLang="de-DE" sz="1600">
                <a:solidFill>
                  <a:srgbClr val="000000"/>
                </a:solidFill>
              </a:rPr>
              <a:t>modifiziertem Rhythmus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9417F179-CCD5-1A7F-66EF-916822B7E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539750"/>
            <a:ext cx="6737350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sz="2000" dirty="0">
                <a:solidFill>
                  <a:srgbClr val="000000"/>
                </a:solidFill>
                <a:ea typeface="ＭＳ Ｐゴシック" charset="0"/>
              </a:rPr>
              <a:t>Bernhard Lang</a:t>
            </a:r>
          </a:p>
          <a:p>
            <a:pPr>
              <a:buClrTx/>
              <a:buFont typeface="Times New Roman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de-DE" sz="2000" dirty="0">
                <a:solidFill>
                  <a:srgbClr val="000000"/>
                </a:solidFill>
                <a:ea typeface="ＭＳ Ｐゴシック" charset="0"/>
              </a:rPr>
              <a:t>Differenz Wiederholung 2 - Dead </a:t>
            </a:r>
            <a:r>
              <a:rPr lang="de-DE" sz="2000" dirty="0" err="1">
                <a:solidFill>
                  <a:srgbClr val="000000"/>
                </a:solidFill>
                <a:ea typeface="ＭＳ Ｐゴシック" charset="0"/>
              </a:rPr>
              <a:t>Repetitions</a:t>
            </a:r>
            <a:r>
              <a:rPr lang="de-DE" sz="2000" dirty="0">
                <a:solidFill>
                  <a:srgbClr val="000000"/>
                </a:solidFill>
                <a:ea typeface="ＭＳ Ｐゴシック" charset="0"/>
              </a:rPr>
              <a:t> (1998-99)</a:t>
            </a:r>
          </a:p>
        </p:txBody>
      </p:sp>
      <p:sp>
        <p:nvSpPr>
          <p:cNvPr id="39939" name="Rechteck 5">
            <a:extLst>
              <a:ext uri="{FF2B5EF4-FFF2-40B4-BE49-F238E27FC236}">
                <a16:creationId xmlns:a16="http://schemas.microsoft.com/office/drawing/2014/main" id="{CCA00B67-3F7C-D236-85F0-9C5D358AE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1763713"/>
            <a:ext cx="2376487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de-DE" sz="1600">
                <a:solidFill>
                  <a:srgbClr val="000000"/>
                </a:solidFill>
              </a:rPr>
              <a:t>(Takt 57a-c)</a:t>
            </a:r>
          </a:p>
          <a:p>
            <a:r>
              <a:rPr lang="en-GB" altLang="de-DE" sz="1600">
                <a:solidFill>
                  <a:srgbClr val="000000"/>
                </a:solidFill>
              </a:rPr>
              <a:t>symmetrische Aufteilung</a:t>
            </a:r>
          </a:p>
          <a:p>
            <a:r>
              <a:rPr lang="en-GB" altLang="de-DE" sz="1600">
                <a:solidFill>
                  <a:srgbClr val="000000"/>
                </a:solidFill>
              </a:rPr>
              <a:t>des LoopInhalts</a:t>
            </a:r>
          </a:p>
        </p:txBody>
      </p:sp>
      <p:sp>
        <p:nvSpPr>
          <p:cNvPr id="39940" name="Rechteck 7">
            <a:extLst>
              <a:ext uri="{FF2B5EF4-FFF2-40B4-BE49-F238E27FC236}">
                <a16:creationId xmlns:a16="http://schemas.microsoft.com/office/drawing/2014/main" id="{CB277947-41AA-FA5A-C659-01F470B99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2124075"/>
            <a:ext cx="237648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de-DE" sz="1600">
                <a:solidFill>
                  <a:srgbClr val="000000"/>
                </a:solidFill>
              </a:rPr>
              <a:t>(Takt 68a-f)</a:t>
            </a:r>
          </a:p>
          <a:p>
            <a:r>
              <a:rPr lang="en-GB" altLang="de-DE" sz="1600">
                <a:solidFill>
                  <a:srgbClr val="000000"/>
                </a:solidFill>
              </a:rPr>
              <a:t>asymmetrische Loop</a:t>
            </a:r>
          </a:p>
          <a:p>
            <a:r>
              <a:rPr lang="en-GB" altLang="de-DE" sz="1600">
                <a:solidFill>
                  <a:srgbClr val="000000"/>
                </a:solidFill>
              </a:rPr>
              <a:t>mit einem artifiziellen</a:t>
            </a:r>
          </a:p>
          <a:p>
            <a:r>
              <a:rPr lang="en-GB" altLang="en-GB" sz="1600">
                <a:solidFill>
                  <a:srgbClr val="000000"/>
                </a:solidFill>
              </a:rPr>
              <a:t>“</a:t>
            </a:r>
            <a:r>
              <a:rPr lang="en-GB" altLang="ja-JP" sz="1600">
                <a:solidFill>
                  <a:srgbClr val="000000"/>
                </a:solidFill>
              </a:rPr>
              <a:t>Fehler</a:t>
            </a:r>
            <a:r>
              <a:rPr lang="en-GB" altLang="en-GB" sz="1600">
                <a:solidFill>
                  <a:srgbClr val="000000"/>
                </a:solidFill>
              </a:rPr>
              <a:t>”</a:t>
            </a:r>
            <a:endParaRPr lang="en-GB" altLang="de-DE" sz="1600">
              <a:solidFill>
                <a:srgbClr val="000000"/>
              </a:solidFill>
            </a:endParaRPr>
          </a:p>
        </p:txBody>
      </p:sp>
      <p:pic>
        <p:nvPicPr>
          <p:cNvPr id="39941" name="Bild 2" descr="lang-dw2-57a-c.pdf">
            <a:extLst>
              <a:ext uri="{FF2B5EF4-FFF2-40B4-BE49-F238E27FC236}">
                <a16:creationId xmlns:a16="http://schemas.microsoft.com/office/drawing/2014/main" id="{2C287D7C-011E-7D20-7E1F-92D13888F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1619250"/>
            <a:ext cx="3889375" cy="523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Bild 3" descr="lang-dw2-68a-f.pdf">
            <a:extLst>
              <a:ext uri="{FF2B5EF4-FFF2-40B4-BE49-F238E27FC236}">
                <a16:creationId xmlns:a16="http://schemas.microsoft.com/office/drawing/2014/main" id="{E0C74DF2-381C-1887-B059-51615EF6DD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713" y="3348038"/>
            <a:ext cx="5256212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Design">
  <a:themeElements>
    <a:clrScheme name="Office-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-Design">
      <a:majorFont>
        <a:latin typeface="Verdana"/>
        <a:ea typeface="ＭＳ Ｐゴシック"/>
        <a:cs typeface="MS Gothic"/>
      </a:majorFont>
      <a:minorFont>
        <a:latin typeface="Arial"/>
        <a:ea typeface="ＭＳ Ｐゴシック"/>
        <a:cs typeface="MS 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;Helvetica" charset="0"/>
            <a:ea typeface="ＭＳ Ｐゴシック" charset="0"/>
            <a:cs typeface="MS Gothic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;Helvetica" charset="0"/>
            <a:ea typeface="ＭＳ Ｐゴシック" charset="0"/>
            <a:cs typeface="MS Gothic" charset="0"/>
          </a:defRPr>
        </a:defPPr>
      </a:lstStyle>
    </a:lnDef>
  </a:objectDefaults>
  <a:extraClrSchemeLst>
    <a:extraClrScheme>
      <a:clrScheme name="Office-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-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-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Macintosh PowerPoint</Application>
  <PresentationFormat>Benutzerdefiniert</PresentationFormat>
  <Paragraphs>36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Arial;Helvetica</vt:lpstr>
      <vt:lpstr>Times New Roman</vt:lpstr>
      <vt:lpstr>Verdana</vt:lpstr>
      <vt:lpstr>Office-Design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Analogien: Film - Elektronische Musik</dc:title>
  <dc:creator>Achim Bornhoeft</dc:creator>
  <cp:lastModifiedBy>Microsoft Office User</cp:lastModifiedBy>
  <cp:revision>337</cp:revision>
  <cp:lastPrinted>1601-01-01T00:00:00Z</cp:lastPrinted>
  <dcterms:created xsi:type="dcterms:W3CDTF">2010-10-14T08:13:50Z</dcterms:created>
  <dcterms:modified xsi:type="dcterms:W3CDTF">2022-11-01T08:21:18Z</dcterms:modified>
</cp:coreProperties>
</file>