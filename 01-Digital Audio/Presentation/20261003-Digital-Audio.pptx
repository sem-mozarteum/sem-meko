
<file path=[Content_Types].xml><?xml version="1.0" encoding="utf-8"?>
<Types xmlns="http://schemas.openxmlformats.org/package/2006/content-types">
  <Default Extension="gif" ContentType="image/gif"/>
  <Default Extension="jpeg" ContentType="image/jpeg"/>
  <Default Extension="jpg" ContentType="image/jpeg"/>
  <Default Extension="mp3" ContentType="audio/mpeg"/>
  <Default Extension="mp4" ContentType="video/mp4"/>
  <Default Extension="png" ContentType="image/png"/>
  <Default Extension="rels" ContentType="application/vnd.openxmlformats-package.relationships+xml"/>
  <Default Extension="tiff" ContentType="image/tiff"/>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1" r:id="rId1"/>
  </p:sldMasterIdLst>
  <p:notesMasterIdLst>
    <p:notesMasterId r:id="rId69"/>
  </p:notesMasterIdLst>
  <p:handoutMasterIdLst>
    <p:handoutMasterId r:id="rId70"/>
  </p:handoutMasterIdLst>
  <p:sldIdLst>
    <p:sldId id="328" r:id="rId2"/>
    <p:sldId id="257" r:id="rId3"/>
    <p:sldId id="259" r:id="rId4"/>
    <p:sldId id="318" r:id="rId5"/>
    <p:sldId id="319" r:id="rId6"/>
    <p:sldId id="260" r:id="rId7"/>
    <p:sldId id="320" r:id="rId8"/>
    <p:sldId id="261" r:id="rId9"/>
    <p:sldId id="262" r:id="rId10"/>
    <p:sldId id="321" r:id="rId11"/>
    <p:sldId id="263" r:id="rId12"/>
    <p:sldId id="265" r:id="rId13"/>
    <p:sldId id="266" r:id="rId14"/>
    <p:sldId id="267" r:id="rId15"/>
    <p:sldId id="268" r:id="rId16"/>
    <p:sldId id="269" r:id="rId17"/>
    <p:sldId id="330" r:id="rId18"/>
    <p:sldId id="331" r:id="rId19"/>
    <p:sldId id="329" r:id="rId20"/>
    <p:sldId id="270" r:id="rId21"/>
    <p:sldId id="271" r:id="rId22"/>
    <p:sldId id="275" r:id="rId23"/>
    <p:sldId id="272" r:id="rId24"/>
    <p:sldId id="273" r:id="rId25"/>
    <p:sldId id="274" r:id="rId26"/>
    <p:sldId id="322" r:id="rId27"/>
    <p:sldId id="276" r:id="rId28"/>
    <p:sldId id="277" r:id="rId29"/>
    <p:sldId id="278" r:id="rId30"/>
    <p:sldId id="279" r:id="rId31"/>
    <p:sldId id="280" r:id="rId32"/>
    <p:sldId id="281" r:id="rId33"/>
    <p:sldId id="282" r:id="rId34"/>
    <p:sldId id="284" r:id="rId35"/>
    <p:sldId id="285" r:id="rId36"/>
    <p:sldId id="286" r:id="rId37"/>
    <p:sldId id="287" r:id="rId38"/>
    <p:sldId id="288" r:id="rId39"/>
    <p:sldId id="289" r:id="rId40"/>
    <p:sldId id="290" r:id="rId41"/>
    <p:sldId id="291" r:id="rId42"/>
    <p:sldId id="292" r:id="rId43"/>
    <p:sldId id="293" r:id="rId44"/>
    <p:sldId id="294" r:id="rId45"/>
    <p:sldId id="299" r:id="rId46"/>
    <p:sldId id="297" r:id="rId47"/>
    <p:sldId id="302" r:id="rId48"/>
    <p:sldId id="334" r:id="rId49"/>
    <p:sldId id="305" r:id="rId50"/>
    <p:sldId id="298" r:id="rId51"/>
    <p:sldId id="307" r:id="rId52"/>
    <p:sldId id="308" r:id="rId53"/>
    <p:sldId id="309" r:id="rId54"/>
    <p:sldId id="310" r:id="rId55"/>
    <p:sldId id="323" r:id="rId56"/>
    <p:sldId id="333" r:id="rId57"/>
    <p:sldId id="332" r:id="rId58"/>
    <p:sldId id="325" r:id="rId59"/>
    <p:sldId id="324" r:id="rId60"/>
    <p:sldId id="311" r:id="rId61"/>
    <p:sldId id="312" r:id="rId62"/>
    <p:sldId id="313" r:id="rId63"/>
    <p:sldId id="314" r:id="rId64"/>
    <p:sldId id="326" r:id="rId65"/>
    <p:sldId id="315" r:id="rId66"/>
    <p:sldId id="316" r:id="rId67"/>
    <p:sldId id="317" r:id="rId68"/>
  </p:sldIdLst>
  <p:sldSz cx="9144000" cy="6858000" type="screen4x3"/>
  <p:notesSz cx="6886575" cy="9623425"/>
  <p:defaultTextStyle>
    <a:defPPr>
      <a:defRPr lang="de-DE"/>
    </a:defPPr>
    <a:lvl1pPr marL="0" algn="l" defTabSz="829452" rtl="0" eaLnBrk="1" latinLnBrk="0" hangingPunct="1">
      <a:defRPr sz="1633" kern="1200">
        <a:solidFill>
          <a:schemeClr val="tx1"/>
        </a:solidFill>
        <a:latin typeface="+mn-lt"/>
        <a:ea typeface="+mn-ea"/>
        <a:cs typeface="+mn-cs"/>
      </a:defRPr>
    </a:lvl1pPr>
    <a:lvl2pPr marL="414726" algn="l" defTabSz="829452" rtl="0" eaLnBrk="1" latinLnBrk="0" hangingPunct="1">
      <a:defRPr sz="1633" kern="1200">
        <a:solidFill>
          <a:schemeClr val="tx1"/>
        </a:solidFill>
        <a:latin typeface="+mn-lt"/>
        <a:ea typeface="+mn-ea"/>
        <a:cs typeface="+mn-cs"/>
      </a:defRPr>
    </a:lvl2pPr>
    <a:lvl3pPr marL="829452" algn="l" defTabSz="829452" rtl="0" eaLnBrk="1" latinLnBrk="0" hangingPunct="1">
      <a:defRPr sz="1633" kern="1200">
        <a:solidFill>
          <a:schemeClr val="tx1"/>
        </a:solidFill>
        <a:latin typeface="+mn-lt"/>
        <a:ea typeface="+mn-ea"/>
        <a:cs typeface="+mn-cs"/>
      </a:defRPr>
    </a:lvl3pPr>
    <a:lvl4pPr marL="1244178" algn="l" defTabSz="829452" rtl="0" eaLnBrk="1" latinLnBrk="0" hangingPunct="1">
      <a:defRPr sz="1633" kern="1200">
        <a:solidFill>
          <a:schemeClr val="tx1"/>
        </a:solidFill>
        <a:latin typeface="+mn-lt"/>
        <a:ea typeface="+mn-ea"/>
        <a:cs typeface="+mn-cs"/>
      </a:defRPr>
    </a:lvl4pPr>
    <a:lvl5pPr marL="1658904" algn="l" defTabSz="829452" rtl="0" eaLnBrk="1" latinLnBrk="0" hangingPunct="1">
      <a:defRPr sz="1633" kern="1200">
        <a:solidFill>
          <a:schemeClr val="tx1"/>
        </a:solidFill>
        <a:latin typeface="+mn-lt"/>
        <a:ea typeface="+mn-ea"/>
        <a:cs typeface="+mn-cs"/>
      </a:defRPr>
    </a:lvl5pPr>
    <a:lvl6pPr marL="2073631" algn="l" defTabSz="829452" rtl="0" eaLnBrk="1" latinLnBrk="0" hangingPunct="1">
      <a:defRPr sz="1633" kern="1200">
        <a:solidFill>
          <a:schemeClr val="tx1"/>
        </a:solidFill>
        <a:latin typeface="+mn-lt"/>
        <a:ea typeface="+mn-ea"/>
        <a:cs typeface="+mn-cs"/>
      </a:defRPr>
    </a:lvl6pPr>
    <a:lvl7pPr marL="2488357" algn="l" defTabSz="829452" rtl="0" eaLnBrk="1" latinLnBrk="0" hangingPunct="1">
      <a:defRPr sz="1633" kern="1200">
        <a:solidFill>
          <a:schemeClr val="tx1"/>
        </a:solidFill>
        <a:latin typeface="+mn-lt"/>
        <a:ea typeface="+mn-ea"/>
        <a:cs typeface="+mn-cs"/>
      </a:defRPr>
    </a:lvl7pPr>
    <a:lvl8pPr marL="2903083" algn="l" defTabSz="829452" rtl="0" eaLnBrk="1" latinLnBrk="0" hangingPunct="1">
      <a:defRPr sz="1633" kern="1200">
        <a:solidFill>
          <a:schemeClr val="tx1"/>
        </a:solidFill>
        <a:latin typeface="+mn-lt"/>
        <a:ea typeface="+mn-ea"/>
        <a:cs typeface="+mn-cs"/>
      </a:defRPr>
    </a:lvl8pPr>
    <a:lvl9pPr marL="3317809" algn="l" defTabSz="829452" rtl="0" eaLnBrk="1" latinLnBrk="0" hangingPunct="1">
      <a:defRPr sz="1633"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657"/>
    <p:restoredTop sz="62725"/>
  </p:normalViewPr>
  <p:slideViewPr>
    <p:cSldViewPr snapToObjects="1" showGuides="1">
      <p:cViewPr>
        <p:scale>
          <a:sx n="82" d="100"/>
          <a:sy n="82" d="100"/>
        </p:scale>
        <p:origin x="312" y="-6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D2C35855-AD92-0240-8DF1-934A8A0192A3}"/>
              </a:ext>
            </a:extLst>
          </p:cNvPr>
          <p:cNvSpPr txBox="1">
            <a:spLocks noGrp="1"/>
          </p:cNvSpPr>
          <p:nvPr>
            <p:ph type="hdr" sz="quarter"/>
          </p:nvPr>
        </p:nvSpPr>
        <p:spPr>
          <a:xfrm>
            <a:off x="0" y="0"/>
            <a:ext cx="2984399" cy="482760"/>
          </a:xfrm>
          <a:prstGeom prst="rect">
            <a:avLst/>
          </a:prstGeom>
          <a:noFill/>
          <a:ln cap="flat">
            <a:noFill/>
          </a:ln>
        </p:spPr>
        <p:txBody>
          <a:bodyPr vert="horz" wrap="square" lIns="91440" tIns="45720" rIns="91440" bIns="45720" anchor="t"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3" name="Datumsplatzhalter 2">
            <a:extLst>
              <a:ext uri="{FF2B5EF4-FFF2-40B4-BE49-F238E27FC236}">
                <a16:creationId xmlns:a16="http://schemas.microsoft.com/office/drawing/2014/main" id="{6E54F5D2-B4C2-FB4B-BCA4-0DCB6370CB93}"/>
              </a:ext>
            </a:extLst>
          </p:cNvPr>
          <p:cNvSpPr txBox="1">
            <a:spLocks noGrp="1"/>
          </p:cNvSpPr>
          <p:nvPr>
            <p:ph type="dt" sz="quarter" idx="1"/>
          </p:nvPr>
        </p:nvSpPr>
        <p:spPr>
          <a:xfrm>
            <a:off x="3900600" y="0"/>
            <a:ext cx="2984399" cy="482760"/>
          </a:xfrm>
          <a:prstGeom prst="rect">
            <a:avLst/>
          </a:prstGeom>
          <a:noFill/>
          <a:ln cap="flat">
            <a:noFill/>
          </a:ln>
        </p:spPr>
        <p:txBody>
          <a:bodyPr vert="horz" wrap="square" lIns="91440" tIns="45720" rIns="91440" bIns="45720" anchor="t" anchorCtr="0" compatLnSpc="0">
            <a:normAutofit/>
          </a:bodyPr>
          <a:lstStyle/>
          <a:p>
            <a:pPr marL="0" marR="0" lvl="0" indent="0" algn="r" rtl="0" hangingPunct="0">
              <a:lnSpc>
                <a:spcPct val="100000"/>
              </a:lnSpc>
              <a:spcBef>
                <a:spcPts val="0"/>
              </a:spcBef>
              <a:spcAft>
                <a:spcPts val="0"/>
              </a:spcAft>
              <a:buNone/>
              <a:tabLst/>
            </a:pPr>
            <a:fld id="{AAA47E5E-E1FE-DC4F-9727-5F2507EB57EE}" type="datetime1">
              <a:rPr lang="de-DE" sz="1200" u="none" strike="noStrike" kern="1200" cap="none" spc="0" baseline="0">
                <a:ln>
                  <a:noFill/>
                </a:ln>
                <a:solidFill>
                  <a:srgbClr val="FFFFFF"/>
                </a:solidFill>
                <a:latin typeface="Arial Regular"/>
                <a:ea typeface="ＭＳ Ｐゴシック" pitchFamily="2"/>
                <a:cs typeface="Arial Unicode MS" pitchFamily="2"/>
              </a:rPr>
              <a:pPr marL="0" marR="0" lvl="0" indent="0" algn="r" rtl="0" hangingPunct="0">
                <a:lnSpc>
                  <a:spcPct val="100000"/>
                </a:lnSpc>
                <a:spcBef>
                  <a:spcPts val="0"/>
                </a:spcBef>
                <a:spcAft>
                  <a:spcPts val="0"/>
                </a:spcAft>
                <a:buNone/>
                <a:tabLst/>
              </a:pPr>
              <a:t>13.10.26</a:t>
            </a:fld>
            <a:endParaRPr lang="de-DE" sz="1200" u="none" strike="noStrike" kern="1200" cap="none" spc="0" baseline="0" dirty="0">
              <a:ln>
                <a:noFill/>
              </a:ln>
              <a:solidFill>
                <a:srgbClr val="FFFFFF"/>
              </a:solidFill>
              <a:latin typeface="Arial Regular"/>
              <a:ea typeface="ＭＳ Ｐゴシック" pitchFamily="2"/>
              <a:cs typeface="Arial Unicode MS" pitchFamily="2"/>
            </a:endParaRPr>
          </a:p>
        </p:txBody>
      </p:sp>
      <p:sp>
        <p:nvSpPr>
          <p:cNvPr id="4" name="Fußzeilenplatzhalter 3">
            <a:extLst>
              <a:ext uri="{FF2B5EF4-FFF2-40B4-BE49-F238E27FC236}">
                <a16:creationId xmlns:a16="http://schemas.microsoft.com/office/drawing/2014/main" id="{82B5E38D-E2E9-554D-A9B8-3C454B5E7E68}"/>
              </a:ext>
            </a:extLst>
          </p:cNvPr>
          <p:cNvSpPr txBox="1">
            <a:spLocks noGrp="1"/>
          </p:cNvSpPr>
          <p:nvPr>
            <p:ph type="ftr" sz="quarter" idx="2"/>
          </p:nvPr>
        </p:nvSpPr>
        <p:spPr>
          <a:xfrm>
            <a:off x="0" y="9140760"/>
            <a:ext cx="2984399" cy="482760"/>
          </a:xfrm>
          <a:prstGeom prst="rect">
            <a:avLst/>
          </a:prstGeom>
          <a:noFill/>
          <a:ln cap="flat">
            <a:noFill/>
          </a:ln>
        </p:spPr>
        <p:txBody>
          <a:bodyPr vert="horz" wrap="square" lIns="91440" tIns="45720" rIns="91440" bIns="45720" anchor="b"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5" name="Foliennummernplatzhalter 4">
            <a:extLst>
              <a:ext uri="{FF2B5EF4-FFF2-40B4-BE49-F238E27FC236}">
                <a16:creationId xmlns:a16="http://schemas.microsoft.com/office/drawing/2014/main" id="{F28256DF-F5F6-3747-956C-6C9A42103B54}"/>
              </a:ext>
            </a:extLst>
          </p:cNvPr>
          <p:cNvSpPr txBox="1">
            <a:spLocks noGrp="1"/>
          </p:cNvSpPr>
          <p:nvPr>
            <p:ph type="sldNum" sz="quarter" idx="3"/>
          </p:nvPr>
        </p:nvSpPr>
        <p:spPr>
          <a:xfrm>
            <a:off x="3900600" y="9140760"/>
            <a:ext cx="2984399" cy="482760"/>
          </a:xfrm>
          <a:prstGeom prst="rect">
            <a:avLst/>
          </a:prstGeom>
          <a:noFill/>
          <a:ln cap="flat">
            <a:noFill/>
          </a:ln>
        </p:spPr>
        <p:txBody>
          <a:bodyPr vert="horz" wrap="square" lIns="91440" tIns="45720" rIns="91440" bIns="45720" anchor="b" anchorCtr="0" compatLnSpc="0">
            <a:normAutofit/>
          </a:bodyPr>
          <a:lstStyle/>
          <a:p>
            <a:pPr marL="0" marR="0" lvl="0" indent="0" algn="r" rtl="0" hangingPunct="0">
              <a:lnSpc>
                <a:spcPct val="100000"/>
              </a:lnSpc>
              <a:spcBef>
                <a:spcPts val="0"/>
              </a:spcBef>
              <a:spcAft>
                <a:spcPts val="0"/>
              </a:spcAft>
              <a:buNone/>
              <a:tabLst/>
            </a:pPr>
            <a:fld id="{27AC74C7-E27B-AD46-A637-8E9F8202A6B2}" type="slidenum">
              <a:rPr>
                <a:latin typeface="Arial Regular"/>
              </a:rPr>
              <a:t>‹Nr.›</a:t>
            </a:fld>
            <a:endParaRPr lang="de-DE" sz="1200" u="none" strike="noStrike" kern="1200" cap="none" spc="0" baseline="0" dirty="0">
              <a:ln>
                <a:noFill/>
              </a:ln>
              <a:solidFill>
                <a:srgbClr val="FFFFFF"/>
              </a:solidFill>
              <a:latin typeface="Arial Regular"/>
              <a:ea typeface="ＭＳ Ｐゴシック" pitchFamily="2"/>
              <a:cs typeface="Arial Unicode MS" pitchFamily="2"/>
            </a:endParaRPr>
          </a:p>
        </p:txBody>
      </p:sp>
    </p:spTree>
    <p:extLst>
      <p:ext uri="{BB962C8B-B14F-4D97-AF65-F5344CB8AC3E}">
        <p14:creationId xmlns:p14="http://schemas.microsoft.com/office/powerpoint/2010/main" val="33313691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AutoShape 1">
            <a:extLst>
              <a:ext uri="{FF2B5EF4-FFF2-40B4-BE49-F238E27FC236}">
                <a16:creationId xmlns:a16="http://schemas.microsoft.com/office/drawing/2014/main" id="{96362C62-593D-7D44-A4B6-2341BC7FCA21}"/>
              </a:ext>
            </a:extLst>
          </p:cNvPr>
          <p:cNvSpPr/>
          <p:nvPr/>
        </p:nvSpPr>
        <p:spPr>
          <a:xfrm>
            <a:off x="0" y="0"/>
            <a:ext cx="6886440" cy="9623520"/>
          </a:xfrm>
          <a:custGeom>
            <a:avLst>
              <a:gd name="f0" fmla="val 4"/>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b="0" i="0" u="none" strike="noStrike" kern="1200" cap="none" dirty="0">
              <a:ln>
                <a:noFill/>
              </a:ln>
              <a:latin typeface="Arial Regular"/>
              <a:ea typeface="PingFang SC" pitchFamily="2"/>
              <a:cs typeface="Arial Unicode MS" pitchFamily="2"/>
            </a:endParaRPr>
          </a:p>
        </p:txBody>
      </p:sp>
      <p:sp>
        <p:nvSpPr>
          <p:cNvPr id="3" name="AutoShape 2">
            <a:extLst>
              <a:ext uri="{FF2B5EF4-FFF2-40B4-BE49-F238E27FC236}">
                <a16:creationId xmlns:a16="http://schemas.microsoft.com/office/drawing/2014/main" id="{66969A59-7333-5049-8F56-01C16D620522}"/>
              </a:ext>
            </a:extLst>
          </p:cNvPr>
          <p:cNvSpPr/>
          <p:nvPr/>
        </p:nvSpPr>
        <p:spPr>
          <a:xfrm>
            <a:off x="0" y="0"/>
            <a:ext cx="6886440" cy="9623520"/>
          </a:xfrm>
          <a:custGeom>
            <a:avLst>
              <a:gd name="f0" fmla="val 4"/>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b="0" i="0" u="none" strike="noStrike" kern="1200" cap="none" dirty="0">
              <a:ln>
                <a:noFill/>
              </a:ln>
              <a:latin typeface="Arial Regular"/>
              <a:ea typeface="PingFang SC" pitchFamily="2"/>
              <a:cs typeface="Arial Unicode MS" pitchFamily="2"/>
            </a:endParaRPr>
          </a:p>
        </p:txBody>
      </p:sp>
      <p:sp>
        <p:nvSpPr>
          <p:cNvPr id="4" name="Text Box 3">
            <a:extLst>
              <a:ext uri="{FF2B5EF4-FFF2-40B4-BE49-F238E27FC236}">
                <a16:creationId xmlns:a16="http://schemas.microsoft.com/office/drawing/2014/main" id="{DD973D5F-43EA-E943-AA6D-B76D56B8CCE7}"/>
              </a:ext>
            </a:extLst>
          </p:cNvPr>
          <p:cNvSpPr txBox="1"/>
          <p:nvPr/>
        </p:nvSpPr>
        <p:spPr>
          <a:xfrm>
            <a:off x="1222199" y="923759"/>
            <a:ext cx="4441680" cy="3330720"/>
          </a:xfrm>
          <a:prstGeom prst="rect">
            <a:avLst/>
          </a:prstGeom>
          <a:solidFill>
            <a:srgbClr val="FFFFFF"/>
          </a:solidFill>
          <a:ln w="9360" cap="sq">
            <a:solidFill>
              <a:srgbClr val="000000"/>
            </a:solidFill>
            <a:prstDash val="solid"/>
            <a:miter/>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b="0" i="0" u="none" strike="noStrike" kern="1200" cap="none" dirty="0">
              <a:ln>
                <a:noFill/>
              </a:ln>
              <a:latin typeface="Arial Regular"/>
              <a:ea typeface="PingFang SC" pitchFamily="2"/>
              <a:cs typeface="Arial Unicode MS" pitchFamily="2"/>
            </a:endParaRPr>
          </a:p>
        </p:txBody>
      </p:sp>
      <p:sp>
        <p:nvSpPr>
          <p:cNvPr id="5" name="Text Box 4">
            <a:extLst>
              <a:ext uri="{FF2B5EF4-FFF2-40B4-BE49-F238E27FC236}">
                <a16:creationId xmlns:a16="http://schemas.microsoft.com/office/drawing/2014/main" id="{593D2669-92BD-4949-A02A-BE56CCCFB15B}"/>
              </a:ext>
            </a:extLst>
          </p:cNvPr>
          <p:cNvSpPr txBox="1"/>
          <p:nvPr/>
        </p:nvSpPr>
        <p:spPr>
          <a:xfrm>
            <a:off x="1066680" y="4578479"/>
            <a:ext cx="4759200" cy="369576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b="0" i="0" u="none" strike="noStrike" kern="1200" cap="none" dirty="0">
              <a:ln>
                <a:noFill/>
              </a:ln>
              <a:latin typeface="Arial Regular"/>
              <a:ea typeface="PingFang SC" pitchFamily="2"/>
              <a:cs typeface="Arial Unicode MS" pitchFamily="2"/>
            </a:endParaRPr>
          </a:p>
        </p:txBody>
      </p:sp>
      <p:sp>
        <p:nvSpPr>
          <p:cNvPr id="6" name="Rectangle 5">
            <a:extLst>
              <a:ext uri="{FF2B5EF4-FFF2-40B4-BE49-F238E27FC236}">
                <a16:creationId xmlns:a16="http://schemas.microsoft.com/office/drawing/2014/main" id="{0A08A38D-2AD5-4F43-837D-E3A9CF1E77F3}"/>
              </a:ext>
            </a:extLst>
          </p:cNvPr>
          <p:cNvSpPr>
            <a:spLocks noGrp="1" noRot="1" noChangeAspect="1"/>
          </p:cNvSpPr>
          <p:nvPr>
            <p:ph type="sldImg" idx="2"/>
          </p:nvPr>
        </p:nvSpPr>
        <p:spPr>
          <a:xfrm>
            <a:off x="1038225" y="731838"/>
            <a:ext cx="4806950" cy="3605212"/>
          </a:xfrm>
          <a:prstGeom prst="rect">
            <a:avLst/>
          </a:prstGeom>
          <a:noFill/>
          <a:ln>
            <a:noFill/>
            <a:prstDash val="solid"/>
          </a:ln>
        </p:spPr>
      </p:sp>
      <p:sp>
        <p:nvSpPr>
          <p:cNvPr id="7" name="Rectangle 6">
            <a:extLst>
              <a:ext uri="{FF2B5EF4-FFF2-40B4-BE49-F238E27FC236}">
                <a16:creationId xmlns:a16="http://schemas.microsoft.com/office/drawing/2014/main" id="{D6C41642-059C-554C-9E55-7707DB504C63}"/>
              </a:ext>
            </a:extLst>
          </p:cNvPr>
          <p:cNvSpPr txBox="1">
            <a:spLocks noGrp="1"/>
          </p:cNvSpPr>
          <p:nvPr>
            <p:ph type="body" sz="quarter" idx="3"/>
          </p:nvPr>
        </p:nvSpPr>
        <p:spPr>
          <a:xfrm>
            <a:off x="689040" y="4570560"/>
            <a:ext cx="5505480" cy="4325760"/>
          </a:xfrm>
          <a:prstGeom prst="rect">
            <a:avLst/>
          </a:prstGeom>
          <a:noFill/>
          <a:ln>
            <a:noFill/>
          </a:ln>
        </p:spPr>
        <p:txBody>
          <a:bodyPr vert="horz" wrap="square" lIns="0" tIns="0" rIns="0" bIns="0" anchor="t" anchorCtr="0">
            <a:normAutofit/>
          </a:bodyPr>
          <a:lstStyle/>
          <a:p>
            <a:pPr lvl="0"/>
            <a:endParaRPr lang="de-DE" dirty="0"/>
          </a:p>
        </p:txBody>
      </p:sp>
    </p:spTree>
    <p:extLst>
      <p:ext uri="{BB962C8B-B14F-4D97-AF65-F5344CB8AC3E}">
        <p14:creationId xmlns:p14="http://schemas.microsoft.com/office/powerpoint/2010/main" val="2034484915"/>
      </p:ext>
    </p:extLst>
  </p:cSld>
  <p:clrMap bg1="lt1" tx1="dk1" bg2="lt2" tx2="dk2" accent1="accent1" accent2="accent2" accent3="accent3" accent4="accent4" accent5="accent5" accent6="accent6" hlink="hlink" folHlink="folHlink"/>
  <p:notesStyle>
    <a:lvl1pPr marL="195934" marR="0" lvl="0" indent="-195934" rtl="0" hangingPunct="0">
      <a:buNone/>
      <a:tabLst/>
      <a:defRPr lang="de-DE" sz="1814" b="0" i="0" u="none" strike="noStrike" kern="1200" cap="none">
        <a:ln>
          <a:noFill/>
        </a:ln>
        <a:highlight>
          <a:scrgbClr r="0" g="0" b="0">
            <a:alpha val="0"/>
          </a:scrgbClr>
        </a:highlight>
        <a:latin typeface="Arial Regular"/>
        <a:ea typeface="PingFang SC" pitchFamily="2"/>
        <a:cs typeface="Arial Unicode MS" pitchFamily="2"/>
      </a:defRPr>
    </a:lvl1pPr>
    <a:lvl2pPr marL="414726" algn="l" defTabSz="829452" rtl="0" eaLnBrk="1" latinLnBrk="0" hangingPunct="1">
      <a:defRPr sz="1089" kern="1200">
        <a:solidFill>
          <a:schemeClr val="tx1"/>
        </a:solidFill>
        <a:latin typeface="+mn-lt"/>
        <a:ea typeface="+mn-ea"/>
        <a:cs typeface="+mn-cs"/>
      </a:defRPr>
    </a:lvl2pPr>
    <a:lvl3pPr marL="829452" algn="l" defTabSz="829452" rtl="0" eaLnBrk="1" latinLnBrk="0" hangingPunct="1">
      <a:defRPr sz="1089" kern="1200">
        <a:solidFill>
          <a:schemeClr val="tx1"/>
        </a:solidFill>
        <a:latin typeface="+mn-lt"/>
        <a:ea typeface="+mn-ea"/>
        <a:cs typeface="+mn-cs"/>
      </a:defRPr>
    </a:lvl3pPr>
    <a:lvl4pPr marL="1244178" algn="l" defTabSz="829452" rtl="0" eaLnBrk="1" latinLnBrk="0" hangingPunct="1">
      <a:defRPr sz="1089" kern="1200">
        <a:solidFill>
          <a:schemeClr val="tx1"/>
        </a:solidFill>
        <a:latin typeface="+mn-lt"/>
        <a:ea typeface="+mn-ea"/>
        <a:cs typeface="+mn-cs"/>
      </a:defRPr>
    </a:lvl4pPr>
    <a:lvl5pPr marL="1658904" algn="l" defTabSz="829452" rtl="0" eaLnBrk="1" latinLnBrk="0" hangingPunct="1">
      <a:defRPr sz="1089" kern="1200">
        <a:solidFill>
          <a:schemeClr val="tx1"/>
        </a:solidFill>
        <a:latin typeface="+mn-lt"/>
        <a:ea typeface="+mn-ea"/>
        <a:cs typeface="+mn-cs"/>
      </a:defRPr>
    </a:lvl5pPr>
    <a:lvl6pPr marL="2073631" algn="l" defTabSz="829452" rtl="0" eaLnBrk="1" latinLnBrk="0" hangingPunct="1">
      <a:defRPr sz="1089" kern="1200">
        <a:solidFill>
          <a:schemeClr val="tx1"/>
        </a:solidFill>
        <a:latin typeface="+mn-lt"/>
        <a:ea typeface="+mn-ea"/>
        <a:cs typeface="+mn-cs"/>
      </a:defRPr>
    </a:lvl6pPr>
    <a:lvl7pPr marL="2488357" algn="l" defTabSz="829452" rtl="0" eaLnBrk="1" latinLnBrk="0" hangingPunct="1">
      <a:defRPr sz="1089" kern="1200">
        <a:solidFill>
          <a:schemeClr val="tx1"/>
        </a:solidFill>
        <a:latin typeface="+mn-lt"/>
        <a:ea typeface="+mn-ea"/>
        <a:cs typeface="+mn-cs"/>
      </a:defRPr>
    </a:lvl7pPr>
    <a:lvl8pPr marL="2903083" algn="l" defTabSz="829452" rtl="0" eaLnBrk="1" latinLnBrk="0" hangingPunct="1">
      <a:defRPr sz="1089" kern="1200">
        <a:solidFill>
          <a:schemeClr val="tx1"/>
        </a:solidFill>
        <a:latin typeface="+mn-lt"/>
        <a:ea typeface="+mn-ea"/>
        <a:cs typeface="+mn-cs"/>
      </a:defRPr>
    </a:lvl8pPr>
    <a:lvl9pPr marL="3317809" algn="l" defTabSz="829452" rtl="0" eaLnBrk="1" latinLnBrk="0" hangingPunct="1">
      <a:defRPr sz="108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19EC9DCB-B5D1-5746-B556-F90E9EA3A509}"/>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7D6F81D8-EADA-3140-A664-43E7575952C5}"/>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7F388FA7-946D-5247-B230-F96A12A62A46}"/>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E2782E30-C1A1-134F-96EF-9EC035005983}"/>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CDCFB9D0-EB6F-4A46-B9A3-CC9F49E5AFEA}"/>
              </a:ext>
            </a:extLst>
          </p:cNvPr>
          <p:cNvSpPr>
            <a:spLocks noGrp="1" noRot="1" noChangeAspect="1" noResize="1"/>
          </p:cNvSpPr>
          <p:nvPr>
            <p:ph type="sldImg"/>
          </p:nvPr>
        </p:nvSpPr>
        <p:spPr>
          <a:xfrm>
            <a:off x="989013" y="685800"/>
            <a:ext cx="4878387"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B19F7044-4B20-3A48-BC32-9B806CB7B2E9}"/>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4" name="Notizenplatzhalter 3">
            <a:extLst>
              <a:ext uri="{FF2B5EF4-FFF2-40B4-BE49-F238E27FC236}">
                <a16:creationId xmlns:a16="http://schemas.microsoft.com/office/drawing/2014/main" id="{C882A575-D81C-4DEA-3AB1-113522E0B17A}"/>
              </a:ext>
            </a:extLst>
          </p:cNvPr>
          <p:cNvSpPr>
            <a:spLocks noGrp="1"/>
          </p:cNvSpPr>
          <p:nvPr>
            <p:ph type="body" idx="1"/>
          </p:nvPr>
        </p:nvSpPr>
        <p:spPr/>
        <p:txBody>
          <a:bodyPr/>
          <a:lstStyle/>
          <a:p>
            <a:endParaRPr lang="de-DE"/>
          </a:p>
        </p:txBody>
      </p:sp>
    </p:spTree>
    <p:extLst>
      <p:ext uri="{BB962C8B-B14F-4D97-AF65-F5344CB8AC3E}">
        <p14:creationId xmlns:p14="http://schemas.microsoft.com/office/powerpoint/2010/main" val="39210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CDCFB9D0-EB6F-4A46-B9A3-CC9F49E5AFEA}"/>
              </a:ext>
            </a:extLst>
          </p:cNvPr>
          <p:cNvSpPr>
            <a:spLocks noGrp="1" noRot="1" noChangeAspect="1" noResize="1"/>
          </p:cNvSpPr>
          <p:nvPr>
            <p:ph type="sldImg"/>
          </p:nvPr>
        </p:nvSpPr>
        <p:spPr>
          <a:xfrm>
            <a:off x="989013" y="685800"/>
            <a:ext cx="4878387"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B19F7044-4B20-3A48-BC32-9B806CB7B2E9}"/>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4" name="Notizenplatzhalter 3">
            <a:extLst>
              <a:ext uri="{FF2B5EF4-FFF2-40B4-BE49-F238E27FC236}">
                <a16:creationId xmlns:a16="http://schemas.microsoft.com/office/drawing/2014/main" id="{913899D3-D997-974A-8627-CDCC74015F04}"/>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867369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DDB56FE7-783F-0745-8DAE-7D7CB54C2633}"/>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6C6A58CF-E323-9045-B65A-9A2D873556E0}"/>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DDB56FE7-783F-0745-8DAE-7D7CB54C2633}"/>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6C6A58CF-E323-9045-B65A-9A2D873556E0}"/>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extLst>
      <p:ext uri="{BB962C8B-B14F-4D97-AF65-F5344CB8AC3E}">
        <p14:creationId xmlns:p14="http://schemas.microsoft.com/office/powerpoint/2010/main" val="26685518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B908813C-7A9F-F64B-B0A5-F26572B0C1F2}"/>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C282DCCF-AF1E-5444-A7FB-E5463FD00E13}"/>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3CBDAEA2-AAC0-0743-8BC0-D7E92F6FDBB3}"/>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EACAEFB1-23C4-4845-B186-83A63896F797}"/>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1F7AB148-1449-F740-8CDC-64452DA63B01}"/>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0F9864DC-D90D-2945-97AE-5094B8798C78}"/>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4" name="Notizenplatzhalter 3">
            <a:extLst>
              <a:ext uri="{FF2B5EF4-FFF2-40B4-BE49-F238E27FC236}">
                <a16:creationId xmlns:a16="http://schemas.microsoft.com/office/drawing/2014/main" id="{C40C74B9-F187-4A44-B4DB-856AB06EB223}"/>
              </a:ext>
            </a:extLst>
          </p:cNvPr>
          <p:cNvSpPr>
            <a:spLocks noGrp="1"/>
          </p:cNvSpPr>
          <p:nvPr>
            <p:ph type="body" idx="1"/>
          </p:nvPr>
        </p:nvSpPr>
        <p:spPr/>
        <p:txBody>
          <a:bodyPr>
            <a:normAutofit/>
          </a:bodyPr>
          <a:lstStyle/>
          <a:p>
            <a:r>
              <a:rPr lang="de-DE" sz="1814" u="none" strike="noStrike" kern="1200" cap="none" dirty="0">
                <a:ln>
                  <a:noFill/>
                </a:ln>
                <a:effectLst/>
                <a:highlight>
                  <a:scrgbClr r="0" g="0" b="0">
                    <a:alpha val="0"/>
                  </a:scrgbClr>
                </a:highlight>
              </a:rPr>
              <a:t>Mikrofon und Lautsprecher haben einen ähnlichen Aufbau.</a:t>
            </a:r>
            <a:br>
              <a:rPr lang="de-DE" sz="1814" u="none" strike="noStrike" kern="1200" cap="none" dirty="0">
                <a:ln>
                  <a:noFill/>
                </a:ln>
                <a:effectLst/>
                <a:highlight>
                  <a:scrgbClr r="0" g="0" b="0">
                    <a:alpha val="0"/>
                  </a:scrgbClr>
                </a:highlight>
              </a:rPr>
            </a:br>
            <a:endParaRPr lang="de-DE" sz="1814" u="none" strike="noStrike" kern="1200" cap="none" dirty="0">
              <a:ln>
                <a:noFill/>
              </a:ln>
              <a:effectLst/>
              <a:highlight>
                <a:scrgbClr r="0" g="0" b="0">
                  <a:alpha val="0"/>
                </a:scrgbClr>
              </a:highlight>
            </a:endParaRPr>
          </a:p>
          <a:p>
            <a:r>
              <a:rPr lang="de-DE" sz="1814" u="none" strike="noStrike" kern="1200" cap="none" dirty="0">
                <a:ln>
                  <a:noFill/>
                </a:ln>
                <a:effectLst/>
                <a:highlight>
                  <a:scrgbClr r="0" g="0" b="0">
                    <a:alpha val="0"/>
                  </a:scrgbClr>
                </a:highlight>
              </a:rPr>
              <a:t>Beim Lautsprecher wird durch das Anlegen einer Wechselspannung ein sich ständig änderndes Magnetfeld erzeugt. Dies führt zu einer sinusförmigen Schwingung des Membran. Ein Ton entsteht.</a:t>
            </a:r>
          </a:p>
        </p:txBody>
      </p:sp>
    </p:spTree>
    <p:extLst>
      <p:ext uri="{BB962C8B-B14F-4D97-AF65-F5344CB8AC3E}">
        <p14:creationId xmlns:p14="http://schemas.microsoft.com/office/powerpoint/2010/main" val="14994155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6A1964BC-9098-B44A-AA49-47AA9986A4C0}"/>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309AD99A-EA21-7A4C-987F-4D8A3C909440}"/>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69A59149-1660-9543-9B20-B21B713B3990}"/>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E2127262-DFD6-B44F-A5C0-6971A360E94D}"/>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939F2E0F-D669-954F-8521-B76D06166E59}"/>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00D07C66-9CF4-6B41-9A09-8A26AF2FEB3A}"/>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6601AB95-AD50-614D-8831-FEBE322AB3F1}"/>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F9EED3AC-1FF2-0D47-9529-462DB56A4516}"/>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51258902-3043-0349-AA24-EB1BFB1E9BBF}"/>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63225DC7-DB85-DA44-85CB-B2B1FC56333B}"/>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1F7AB148-1449-F740-8CDC-64452DA63B01}"/>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0F9864DC-D90D-2945-97AE-5094B8798C78}"/>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4" name="Notizenplatzhalter 3">
            <a:extLst>
              <a:ext uri="{FF2B5EF4-FFF2-40B4-BE49-F238E27FC236}">
                <a16:creationId xmlns:a16="http://schemas.microsoft.com/office/drawing/2014/main" id="{C40C74B9-F187-4A44-B4DB-856AB06EB223}"/>
              </a:ext>
            </a:extLst>
          </p:cNvPr>
          <p:cNvSpPr>
            <a:spLocks noGrp="1"/>
          </p:cNvSpPr>
          <p:nvPr>
            <p:ph type="body" idx="1"/>
          </p:nvPr>
        </p:nvSpPr>
        <p:spPr/>
        <p:txBody>
          <a:bodyPr>
            <a:normAutofit fontScale="85000" lnSpcReduction="10000"/>
          </a:bodyPr>
          <a:lstStyle/>
          <a:p>
            <a:r>
              <a:rPr lang="de-DE" dirty="0"/>
              <a:t>Damit sich Kratzer und Produktionsfehler nicht negativ auf die Lesbarkeit der Daten auswirken, sind die Daten mittels Reed-Solomon-Fehlerkorrektur gesichert, so dass Bitfehler erkannt und korrigiert werden können. Weiterhin sind aufeinanderfolgende Datenbytes per </a:t>
            </a:r>
            <a:r>
              <a:rPr lang="de-DE" dirty="0" err="1"/>
              <a:t>Interleaving</a:t>
            </a:r>
            <a:r>
              <a:rPr lang="de-DE" dirty="0"/>
              <a:t> auf eine größere Länge verteilt. Der Cross </a:t>
            </a:r>
            <a:r>
              <a:rPr lang="de-DE" dirty="0" err="1"/>
              <a:t>Interleaved</a:t>
            </a:r>
            <a:r>
              <a:rPr lang="de-DE" dirty="0"/>
              <a:t> Reed-Solomon-Code (CIRC) ist dadurch in der Lage, einen Fehler von bis zu 3500 Bit (das entspricht einer Spurlänge von etwa 2,4 mm) zu korrigieren und Fehler von bis zu 12000 Bit (etwa 8,5 mm Spurlänge) bei der Audio-CD zu verdecken. Bei der Verdeckung wird der Fehler nicht korrigiert, sondern es wird versucht, ihn unhörbar zu machen, zum Beispiel über eine Interpolation. </a:t>
            </a:r>
          </a:p>
          <a:p>
            <a:r>
              <a:rPr lang="de-DE" dirty="0"/>
              <a:t>Falls der Datenträger von der Unterseite sehr stark verkratzt ist, ist er nur eingeschränkt oder nicht mehr lesbar. Im Laufe der Zeit können sich CDs zersetzen. Trotz der starken Zersetzung waren hier noch zwei Minuten abspielbar. Man unterscheidet zwischen C1- und C2-Fehlern. C1-Fehler geben singuläre Einzelfehler an (beispielsweise kleine Kratzer), C2 größere Blockfehler, welche von der ersten Korrekturstufe nicht mehr korrigiert werden konnten.</a:t>
            </a:r>
          </a:p>
          <a:p>
            <a:endParaRPr lang="de-DE" dirty="0"/>
          </a:p>
          <a:p>
            <a:endParaRPr lang="de-DE"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B3491-34AC-F151-E046-7ADA7F9DFCD7}"/>
            </a:ext>
          </a:extLst>
        </p:cNvPr>
        <p:cNvGrpSpPr/>
        <p:nvPr/>
      </p:nvGrpSpPr>
      <p:grpSpPr>
        <a:xfrm>
          <a:off x="0" y="0"/>
          <a:ext cx="0" cy="0"/>
          <a:chOff x="0" y="0"/>
          <a:chExt cx="0" cy="0"/>
        </a:xfrm>
      </p:grpSpPr>
      <p:sp>
        <p:nvSpPr>
          <p:cNvPr id="2" name="Text Box 1">
            <a:extLst>
              <a:ext uri="{FF2B5EF4-FFF2-40B4-BE49-F238E27FC236}">
                <a16:creationId xmlns:a16="http://schemas.microsoft.com/office/drawing/2014/main" id="{45A05FD3-773E-C434-CBFF-1A935E2F3E24}"/>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E231FFE7-29C7-3EEE-DFEC-1E2E86E8F881}"/>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extLst>
      <p:ext uri="{BB962C8B-B14F-4D97-AF65-F5344CB8AC3E}">
        <p14:creationId xmlns:p14="http://schemas.microsoft.com/office/powerpoint/2010/main" val="15964647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86E84-DF84-F551-8052-25034F733432}"/>
            </a:ext>
          </a:extLst>
        </p:cNvPr>
        <p:cNvGrpSpPr/>
        <p:nvPr/>
      </p:nvGrpSpPr>
      <p:grpSpPr>
        <a:xfrm>
          <a:off x="0" y="0"/>
          <a:ext cx="0" cy="0"/>
          <a:chOff x="0" y="0"/>
          <a:chExt cx="0" cy="0"/>
        </a:xfrm>
      </p:grpSpPr>
      <p:sp>
        <p:nvSpPr>
          <p:cNvPr id="2" name="Text Box 1">
            <a:extLst>
              <a:ext uri="{FF2B5EF4-FFF2-40B4-BE49-F238E27FC236}">
                <a16:creationId xmlns:a16="http://schemas.microsoft.com/office/drawing/2014/main" id="{95B5FA17-3081-E759-62A4-22F9EDCCD085}"/>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8890C605-5505-070E-32E7-B09F0A8F55FE}"/>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extLst>
      <p:ext uri="{BB962C8B-B14F-4D97-AF65-F5344CB8AC3E}">
        <p14:creationId xmlns:p14="http://schemas.microsoft.com/office/powerpoint/2010/main" val="13975571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3F3D5-7B02-F8CB-20C9-738CE278783D}"/>
            </a:ext>
          </a:extLst>
        </p:cNvPr>
        <p:cNvGrpSpPr/>
        <p:nvPr/>
      </p:nvGrpSpPr>
      <p:grpSpPr>
        <a:xfrm>
          <a:off x="0" y="0"/>
          <a:ext cx="0" cy="0"/>
          <a:chOff x="0" y="0"/>
          <a:chExt cx="0" cy="0"/>
        </a:xfrm>
      </p:grpSpPr>
      <p:sp>
        <p:nvSpPr>
          <p:cNvPr id="2" name="Text Box 1">
            <a:extLst>
              <a:ext uri="{FF2B5EF4-FFF2-40B4-BE49-F238E27FC236}">
                <a16:creationId xmlns:a16="http://schemas.microsoft.com/office/drawing/2014/main" id="{E678934A-B8B0-8CD3-C5C0-CF8206DED7E7}"/>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CED31411-1E87-444B-86BA-83C1C407CB24}"/>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extLst>
      <p:ext uri="{BB962C8B-B14F-4D97-AF65-F5344CB8AC3E}">
        <p14:creationId xmlns:p14="http://schemas.microsoft.com/office/powerpoint/2010/main" val="30401890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6EFFE411-E46E-4C43-A4DD-54F1A2323FE5}"/>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8A91EA95-11BD-9A47-810A-5129ECADFFDB}"/>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4" name="Notizenplatzhalter 3">
            <a:extLst>
              <a:ext uri="{FF2B5EF4-FFF2-40B4-BE49-F238E27FC236}">
                <a16:creationId xmlns:a16="http://schemas.microsoft.com/office/drawing/2014/main" id="{D481B47D-A09C-C044-8C1A-17252ADF7916}"/>
              </a:ext>
            </a:extLst>
          </p:cNvPr>
          <p:cNvSpPr>
            <a:spLocks noGrp="1"/>
          </p:cNvSpPr>
          <p:nvPr>
            <p:ph type="body" idx="1"/>
          </p:nvPr>
        </p:nvSpPr>
        <p:spPr/>
        <p:txBody>
          <a:bodyPr>
            <a:normAutofit fontScale="70000" lnSpcReduction="20000"/>
          </a:bodyPr>
          <a:lstStyle/>
          <a:p>
            <a:r>
              <a:rPr lang="de-DE" sz="1814" u="none" strike="noStrike" kern="1200" cap="none" dirty="0">
                <a:ln>
                  <a:noFill/>
                </a:ln>
                <a:effectLst/>
                <a:highlight>
                  <a:scrgbClr r="0" g="0" b="0">
                    <a:alpha val="0"/>
                  </a:scrgbClr>
                </a:highlight>
              </a:rPr>
              <a:t>Beim Mikrofon führt die Schallwelle von außen zur einer Schwingung des Membran. Durch die Induktion in einer Spule oder durch das Verhalten eines Kondensators wird eine Wechselspannung erzeugt. Die Spannung ist proportional zur Amplitude und Frequenz der ursprünglichen Schallwelle.</a:t>
            </a:r>
          </a:p>
          <a:p>
            <a:endParaRPr lang="de-DE" sz="1814" u="none" strike="noStrike" kern="1200" cap="none" dirty="0">
              <a:ln>
                <a:noFill/>
              </a:ln>
              <a:effectLst/>
              <a:highlight>
                <a:scrgbClr r="0" g="0" b="0">
                  <a:alpha val="0"/>
                </a:scrgbClr>
              </a:highlight>
            </a:endParaRPr>
          </a:p>
          <a:p>
            <a:r>
              <a:rPr lang="de-DE" sz="1814" u="none" strike="noStrike" kern="1200" cap="none" dirty="0">
                <a:ln>
                  <a:noFill/>
                </a:ln>
                <a:effectLst/>
                <a:highlight>
                  <a:scrgbClr r="0" g="0" b="0">
                    <a:alpha val="0"/>
                  </a:scrgbClr>
                </a:highlight>
              </a:rPr>
              <a:t>Beim dynamischen Mikrofon ist die Schalldruck empfangende Membran mit einer Tauchspule (sog. Tauchspulenmikrofon) gekoppelt oder stellt beim sog. </a:t>
            </a:r>
            <a:r>
              <a:rPr lang="de-DE" sz="1814" u="none" strike="noStrike" kern="1200" cap="none" dirty="0" err="1">
                <a:ln>
                  <a:noFill/>
                </a:ln>
                <a:effectLst/>
                <a:highlight>
                  <a:scrgbClr r="0" g="0" b="0">
                    <a:alpha val="0"/>
                  </a:scrgbClr>
                </a:highlight>
              </a:rPr>
              <a:t>Bändchenmikrofon</a:t>
            </a:r>
            <a:r>
              <a:rPr lang="de-DE" sz="1814" u="none" strike="noStrike" kern="1200" cap="none" dirty="0">
                <a:ln>
                  <a:noFill/>
                </a:ln>
                <a:effectLst/>
                <a:highlight>
                  <a:scrgbClr r="0" g="0" b="0">
                    <a:alpha val="0"/>
                  </a:scrgbClr>
                </a:highlight>
              </a:rPr>
              <a:t> als Aluminiumstreifen selbst die Membran dar. Bei beiden Bauweisen wird durch die mit Schalldruck in Schwingungen versetzte Membran via Induktion im Magnetfeld eines Dauermagneten eine permanente Spannungsänderung erzeugt, die als elektrisches Mikrofon-Signal weitergegeben wird.</a:t>
            </a:r>
          </a:p>
          <a:p>
            <a:endParaRPr lang="de-DE" sz="1814" u="none" strike="noStrike" kern="1200" cap="none" dirty="0">
              <a:ln>
                <a:noFill/>
              </a:ln>
              <a:effectLst/>
              <a:highlight>
                <a:scrgbClr r="0" g="0" b="0">
                  <a:alpha val="0"/>
                </a:scrgbClr>
              </a:highlight>
            </a:endParaRPr>
          </a:p>
          <a:p>
            <a:r>
              <a:rPr lang="de-DE" sz="1814" u="none" strike="noStrike" kern="1200" cap="none" dirty="0">
                <a:ln>
                  <a:noFill/>
                </a:ln>
                <a:effectLst/>
                <a:highlight>
                  <a:scrgbClr r="0" g="0" b="0">
                    <a:alpha val="0"/>
                  </a:scrgbClr>
                </a:highlight>
              </a:rPr>
              <a:t>Dynamische Mikrofone sind deutlich weniger anfällig für Rückkopplungen und werden gerne bei lautem Gesang, auf der Bühne, bei der Abnahme bestimmter Musikinstrumente sowie als sog. Reportermikrofone eingesetzt. Selbst hohe Schalldruckpegel (hohe Lautstärke) bringen dynamische Mikros nicht so schnell aus der Fassung, d.h. es muss schon extrem laut werden, bis sie anfangen zu verzerren, im Gegensatz zu den empfindlicheren Kondensatormikrofonen. Die </a:t>
            </a:r>
            <a:r>
              <a:rPr lang="de-DE" sz="1814" u="none" strike="noStrike" kern="1200" cap="none" dirty="0" err="1">
                <a:ln>
                  <a:noFill/>
                </a:ln>
                <a:effectLst/>
                <a:highlight>
                  <a:scrgbClr r="0" g="0" b="0">
                    <a:alpha val="0"/>
                  </a:scrgbClr>
                </a:highlight>
              </a:rPr>
              <a:t>Schallwandlerkomponenten</a:t>
            </a:r>
            <a:r>
              <a:rPr lang="de-DE" sz="1814" u="none" strike="noStrike" kern="1200" cap="none" dirty="0">
                <a:ln>
                  <a:noFill/>
                </a:ln>
                <a:effectLst/>
                <a:highlight>
                  <a:scrgbClr r="0" g="0" b="0">
                    <a:alpha val="0"/>
                  </a:scrgbClr>
                </a:highlight>
              </a:rPr>
              <a:t> der dynamischen Mikrofone sind deutlich robuster als die von Kondensatormikrofonen und sie sind auch unempfindlicher gegenüber Feuchtigkeit.</a:t>
            </a:r>
            <a:endParaRPr lang="de-DE"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41325C33-DE56-0D41-9213-69BE4ACB88FB}"/>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C2B47E5D-F271-3F4F-B3BC-F0532E4CEC4E}"/>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4" name="Notizenplatzhalter 3">
            <a:extLst>
              <a:ext uri="{FF2B5EF4-FFF2-40B4-BE49-F238E27FC236}">
                <a16:creationId xmlns:a16="http://schemas.microsoft.com/office/drawing/2014/main" id="{7B678011-65B9-9740-BA28-13B82DD552A8}"/>
              </a:ext>
            </a:extLst>
          </p:cNvPr>
          <p:cNvSpPr>
            <a:spLocks noGrp="1"/>
          </p:cNvSpPr>
          <p:nvPr>
            <p:ph type="body" idx="1"/>
          </p:nvPr>
        </p:nvSpPr>
        <p:spPr/>
        <p:txBody>
          <a:bodyPr>
            <a:normAutofit fontScale="62500" lnSpcReduction="20000"/>
          </a:bodyPr>
          <a:lstStyle/>
          <a:p>
            <a:r>
              <a:rPr lang="de-DE" dirty="0"/>
              <a:t>Sowohl das Kondensatormikrofon als auch das dynamische Mikrofon muss analoge Frequenzen (Schalldruck) in elektrische Spannung (Mikrofonsignal) wandeln können. Mikrofone sind also Schallwandler. Um Schall wandeln zu können, benötigt sowohl das Kondensatormikrofon als auch das dynamische Mikrofon eine empfindliche Membran, die durch Schalldruck in Bewegung versetzt wird. Lediglich die Art und Weise der Wandlung dieser Bewegung in elektrische Spannung unterscheidet das Kondensatormikrofon vom dynamischen Mikrofon.</a:t>
            </a:r>
          </a:p>
          <a:p>
            <a:endParaRPr lang="de-DE" dirty="0"/>
          </a:p>
          <a:p>
            <a:r>
              <a:rPr lang="de-DE" sz="1814" u="none" strike="noStrike" kern="1200" cap="none" dirty="0">
                <a:ln>
                  <a:noFill/>
                </a:ln>
                <a:effectLst/>
                <a:highlight>
                  <a:scrgbClr r="0" g="0" b="0">
                    <a:alpha val="0"/>
                  </a:scrgbClr>
                </a:highlight>
              </a:rPr>
              <a:t>Beim Kondensatormikrofon agiert die durch Schalldruck in Schwingung versetzte elektrisch leitende Membran als Elektrode, der eine Gegenelektrode gegenübersteht. Die im Schalldruck schwingende Membran nimmt unterschiedliche Abstände zur fixen Gegenelektrode ein, wodurch sich die Kapazität des Kondensators ständig verändert und als elektrisches Signal ausgegeben werden kann. Die Kondensatorbauweise kann kleinste Schalldruckpegel aufnehmen und ist damit deutlich empfindlicher als ein dynamisches Mikrofon – vor allem im hohen Frequenzbereich.</a:t>
            </a:r>
            <a:br>
              <a:rPr lang="de-DE" dirty="0"/>
            </a:br>
            <a:br>
              <a:rPr lang="de-DE" dirty="0"/>
            </a:br>
            <a:r>
              <a:rPr lang="de-DE" sz="1814" u="none" strike="noStrike" kern="1200" cap="none" dirty="0">
                <a:ln>
                  <a:noFill/>
                </a:ln>
                <a:effectLst/>
                <a:highlight>
                  <a:scrgbClr r="0" g="0" b="0">
                    <a:alpha val="0"/>
                  </a:scrgbClr>
                </a:highlight>
              </a:rPr>
              <a:t>Die Nachteile des Kondensatormikrofons sind seine gegenüber einem dynamischen Mikrofon geringere Robustheit, seine Anfälligkeit gegenüber Feuchtigkeit sowie die Abhängigkeit von einer Stromquelle. Diese Stromquelle kann entweder der genutzte Camcorder sein, wenn er denn Phantomspeisung zur Verfügung stellt oder eine eigene Batterie des Kondensatormikrofons. Wer also eine Video-DSLR nutzt oder einen Camcorder, die keine +48V Schaltung zulässt, muss bei der Wahl eines Kondensatormikrofons darauf achten, dass das Mikrofon für eine eigene Batterieversorgung ausgelegt ist (nicht alle Kondensatormikrofone sind das). Auch im Auge zu behalten: Unterschiedliche batteriebetriebene Kondensatormikrofone haben teilweise stark voneinander abweichende Betriebszeiten. Richtmikrofone im Filmeinsatz sind fast ausschließlich Kondensatormikrofone.</a:t>
            </a:r>
            <a:endParaRPr lang="de-DE"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75E7D003-6451-4444-B127-7C423DF56F56}"/>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C2BBCA11-9FAA-324C-BBCC-9589E1120273}"/>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BF8A4A14-FDE3-B741-987C-F4A4E51A0EF3}"/>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A3CC7196-B5A7-9B4B-A8F5-2B8FD9CC8424}"/>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4" name="Notizenplatzhalter 3">
            <a:extLst>
              <a:ext uri="{FF2B5EF4-FFF2-40B4-BE49-F238E27FC236}">
                <a16:creationId xmlns:a16="http://schemas.microsoft.com/office/drawing/2014/main" id="{6F83E534-B638-544E-973D-97568EF0B9C8}"/>
              </a:ext>
            </a:extLst>
          </p:cNvPr>
          <p:cNvSpPr>
            <a:spLocks noGrp="1"/>
          </p:cNvSpPr>
          <p:nvPr>
            <p:ph type="body" idx="1"/>
          </p:nvPr>
        </p:nvSpPr>
        <p:spPr/>
        <p:txBody>
          <a:bodyPr>
            <a:normAutofit fontScale="85000" lnSpcReduction="20000"/>
          </a:bodyPr>
          <a:lstStyle/>
          <a:p>
            <a:r>
              <a:rPr lang="de-DE" dirty="0"/>
              <a:t>Ein Grenzflächenmikrofon, engl.: „</a:t>
            </a:r>
            <a:r>
              <a:rPr lang="de-DE" dirty="0" err="1"/>
              <a:t>boundary</a:t>
            </a:r>
            <a:r>
              <a:rPr lang="de-DE" dirty="0"/>
              <a:t> </a:t>
            </a:r>
            <a:r>
              <a:rPr lang="de-DE" dirty="0" err="1"/>
              <a:t>layer</a:t>
            </a:r>
            <a:r>
              <a:rPr lang="de-DE" dirty="0"/>
              <a:t> </a:t>
            </a:r>
            <a:r>
              <a:rPr lang="de-DE" dirty="0" err="1"/>
              <a:t>microphone</a:t>
            </a:r>
            <a:r>
              <a:rPr lang="de-DE" dirty="0"/>
              <a:t>“ oder „PZM / </a:t>
            </a:r>
            <a:r>
              <a:rPr lang="de-DE" dirty="0" err="1"/>
              <a:t>pressure</a:t>
            </a:r>
            <a:r>
              <a:rPr lang="de-DE" dirty="0"/>
              <a:t> </a:t>
            </a:r>
            <a:r>
              <a:rPr lang="de-DE" dirty="0" err="1"/>
              <a:t>zone</a:t>
            </a:r>
            <a:r>
              <a:rPr lang="de-DE" dirty="0"/>
              <a:t> </a:t>
            </a:r>
            <a:r>
              <a:rPr lang="de-DE" dirty="0" err="1"/>
              <a:t>microphone</a:t>
            </a:r>
            <a:r>
              <a:rPr lang="de-DE" dirty="0"/>
              <a:t>“ (geschützter Name von </a:t>
            </a:r>
            <a:r>
              <a:rPr lang="de-DE" dirty="0" err="1"/>
              <a:t>Crown</a:t>
            </a:r>
            <a:r>
              <a:rPr lang="de-DE" dirty="0"/>
              <a:t> International), ist eine Sonderbauform von Mikrofonen, bei denen die Gehäuseform die akustischen Eigenschaften maßgeblich bestimmt.</a:t>
            </a:r>
          </a:p>
          <a:p>
            <a:endParaRPr lang="de-DE" dirty="0"/>
          </a:p>
          <a:p>
            <a:r>
              <a:rPr lang="de-DE" dirty="0"/>
              <a:t>Das Mikrofon wird auf eine große schallreflektierende Fläche, z. B. auf den Fußboden oder einen Tisch, gelegt. Es erhält so den maximalen Schalldruck ohne Überlagerungen von Raumschallanteilen, was zu einem ausgewogenen Frequenzgang und einem akustisch guten Raumeindruck führt:</a:t>
            </a:r>
          </a:p>
          <a:p>
            <a:endParaRPr lang="de-DE" dirty="0"/>
          </a:p>
          <a:p>
            <a:r>
              <a:rPr lang="de-DE" dirty="0"/>
              <a:t>An schallharten Flächen treten keine störenden Reflexionen auf, da diese hier erst entstehen. In Räumen werden deren Eigenresonanzen von diesem Mikrofon weniger aufgenommen; Durch die Platzierung des Mikrofons an einer Begrenzungsfläche entstehen keine klangfärbenden Kammfiltereffekte, wie sie innerhalb des Raums auftreten. Bei sich bewegenden Schallquellen ergeben sich keine Klangfarbenunterschiede. Raumsignale R sind gegenüber den Direktsignalen D um 3 dB gedämpft, was eine Bevorzugung des Direktschalls bedeutet.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_0">
            <a:extLst>
              <a:ext uri="{FF2B5EF4-FFF2-40B4-BE49-F238E27FC236}">
                <a16:creationId xmlns:a16="http://schemas.microsoft.com/office/drawing/2014/main" id="{3DFF8019-649C-BF40-A7E5-24B88C375588}"/>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_1">
            <a:extLst>
              <a:ext uri="{FF2B5EF4-FFF2-40B4-BE49-F238E27FC236}">
                <a16:creationId xmlns:a16="http://schemas.microsoft.com/office/drawing/2014/main" id="{F96C10F4-6387-7B47-9CC6-C1F52BB4BA10}"/>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4" name="Notizenplatzhalter 3">
            <a:extLst>
              <a:ext uri="{FF2B5EF4-FFF2-40B4-BE49-F238E27FC236}">
                <a16:creationId xmlns:a16="http://schemas.microsoft.com/office/drawing/2014/main" id="{7EBA11C6-8289-9446-AF6B-7211CB027DBC}"/>
              </a:ext>
            </a:extLst>
          </p:cNvPr>
          <p:cNvSpPr>
            <a:spLocks noGrp="1"/>
          </p:cNvSpPr>
          <p:nvPr>
            <p:ph type="body" idx="1"/>
          </p:nvPr>
        </p:nvSpPr>
        <p:spPr/>
        <p:txBody>
          <a:bodyPr>
            <a:normAutofit fontScale="92500" lnSpcReduction="20000"/>
          </a:bodyPr>
          <a:lstStyle/>
          <a:p>
            <a:r>
              <a:rPr lang="de-DE" dirty="0"/>
              <a:t>Ein Piezomikrofon ist ein elektroakustischer Wandler, der Druckschwankungen in der Luft in entsprechende elektrische Signale wandelt. Eine Membran folgt den Druckschwankungen des Schalls. Sie ist mechanisch mit einem piezoelektrischen Element gekoppelt, das durch die Druckschwankungen minimal verformt wird. Die elektrischen Spannungsschwankungen des piezoelektrischen Materials (meist Blei-</a:t>
            </a:r>
            <a:r>
              <a:rPr lang="de-DE" dirty="0" err="1"/>
              <a:t>Zirkonat</a:t>
            </a:r>
            <a:r>
              <a:rPr lang="de-DE" dirty="0"/>
              <a:t>-</a:t>
            </a:r>
            <a:r>
              <a:rPr lang="de-DE" dirty="0" err="1"/>
              <a:t>Titanat</a:t>
            </a:r>
            <a:r>
              <a:rPr lang="de-DE" dirty="0"/>
              <a:t>) werden zum Verstärker übertragen.</a:t>
            </a:r>
          </a:p>
          <a:p>
            <a:endParaRPr lang="de-DE" dirty="0"/>
          </a:p>
          <a:p>
            <a:r>
              <a:rPr lang="de-DE" dirty="0"/>
              <a:t>Ein großer Nachteil dieser </a:t>
            </a:r>
            <a:r>
              <a:rPr lang="de-DE" dirty="0" err="1"/>
              <a:t>Wandlertechnik</a:t>
            </a:r>
            <a:r>
              <a:rPr lang="de-DE" dirty="0"/>
              <a:t> ist der hohe Klirrfaktor. Sie eignen sich deshalb nicht für hochqualitative Aufnahmen</a:t>
            </a:r>
          </a:p>
          <a:p>
            <a:endParaRPr lang="de-DE" dirty="0"/>
          </a:p>
          <a:p>
            <a:r>
              <a:rPr lang="de-DE" dirty="0"/>
              <a:t>Die Schwingungswandlung durch piezoelektrische Elemente ist bei Kontaktschallwandlern weit verbreitet. Die hier wirkenden Kräfte sind in der Regel wesentlich größer und führen zu besseren Übertragungseigenschaften, als es bei Luftschall der Fall sein kann.</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_1">
            <a:extLst>
              <a:ext uri="{FF2B5EF4-FFF2-40B4-BE49-F238E27FC236}">
                <a16:creationId xmlns:a16="http://schemas.microsoft.com/office/drawing/2014/main" id="{6BC9A769-82CB-BB42-94C5-76CD8BE1272B}"/>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_2">
            <a:extLst>
              <a:ext uri="{FF2B5EF4-FFF2-40B4-BE49-F238E27FC236}">
                <a16:creationId xmlns:a16="http://schemas.microsoft.com/office/drawing/2014/main" id="{08337B74-A1F1-A549-A59C-CE32043101EB}"/>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4" name="Notizenplatzhalter 3">
            <a:extLst>
              <a:ext uri="{FF2B5EF4-FFF2-40B4-BE49-F238E27FC236}">
                <a16:creationId xmlns:a16="http://schemas.microsoft.com/office/drawing/2014/main" id="{BE506891-24BC-BA4A-8FE0-D5545ECEAFF7}"/>
              </a:ext>
            </a:extLst>
          </p:cNvPr>
          <p:cNvSpPr>
            <a:spLocks noGrp="1"/>
          </p:cNvSpPr>
          <p:nvPr>
            <p:ph type="body" idx="1"/>
          </p:nvPr>
        </p:nvSpPr>
        <p:spPr/>
        <p:txBody>
          <a:bodyPr/>
          <a:lstStyle/>
          <a:p>
            <a:r>
              <a:rPr lang="de-DE" sz="1814" u="none" strike="noStrike" kern="1200" cap="none" dirty="0">
                <a:ln>
                  <a:noFill/>
                </a:ln>
                <a:effectLst/>
              </a:rPr>
              <a:t>Als Hydrophon (von altgriechisch </a:t>
            </a:r>
            <a:r>
              <a:rPr lang="el-GR" sz="1814" u="none" strike="noStrike" kern="1200" cap="none" dirty="0" err="1">
                <a:ln>
                  <a:noFill/>
                </a:ln>
                <a:effectLst/>
              </a:rPr>
              <a:t>ὕδωρ</a:t>
            </a:r>
            <a:r>
              <a:rPr lang="el-GR" sz="1814" u="none" strike="noStrike" kern="1200" cap="none" dirty="0">
                <a:ln>
                  <a:noFill/>
                </a:ln>
                <a:effectLst/>
              </a:rPr>
              <a:t> </a:t>
            </a:r>
            <a:r>
              <a:rPr lang="de-DE" sz="1814" u="none" strike="noStrike" kern="1200" cap="none" dirty="0" err="1">
                <a:ln>
                  <a:noFill/>
                </a:ln>
                <a:effectLst/>
              </a:rPr>
              <a:t>hydor</a:t>
            </a:r>
            <a:r>
              <a:rPr lang="de-DE" sz="1814" u="none" strike="noStrike" kern="1200" cap="none" dirty="0">
                <a:ln>
                  <a:noFill/>
                </a:ln>
                <a:effectLst/>
              </a:rPr>
              <a:t> „Wasser“ sowie </a:t>
            </a:r>
            <a:r>
              <a:rPr lang="el-GR" sz="1814" u="none" strike="noStrike" kern="1200" cap="none" dirty="0">
                <a:ln>
                  <a:noFill/>
                </a:ln>
                <a:effectLst/>
              </a:rPr>
              <a:t>φωνή </a:t>
            </a:r>
            <a:r>
              <a:rPr lang="de-DE" sz="1814" u="none" strike="noStrike" kern="1200" cap="none" dirty="0" err="1">
                <a:ln>
                  <a:noFill/>
                </a:ln>
                <a:effectLst/>
              </a:rPr>
              <a:t>phoné</a:t>
            </a:r>
            <a:r>
              <a:rPr lang="de-DE" sz="1814" u="none" strike="noStrike" kern="1200" cap="none" dirty="0">
                <a:ln>
                  <a:noFill/>
                </a:ln>
                <a:effectLst/>
              </a:rPr>
              <a:t> „Ton“, „Stimme“)[1] bezeichnet man ein Gerät zur Wandlung von Wasserschall in eine dem Schalldruck entsprechende elektrische Spannung. Eine andere Bezeichnung ist „Unterwassermikrophon“.</a:t>
            </a:r>
            <a:endParaRPr lang="de-DE"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_1">
            <a:extLst>
              <a:ext uri="{FF2B5EF4-FFF2-40B4-BE49-F238E27FC236}">
                <a16:creationId xmlns:a16="http://schemas.microsoft.com/office/drawing/2014/main" id="{6BC9A769-82CB-BB42-94C5-76CD8BE1272B}"/>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_2">
            <a:extLst>
              <a:ext uri="{FF2B5EF4-FFF2-40B4-BE49-F238E27FC236}">
                <a16:creationId xmlns:a16="http://schemas.microsoft.com/office/drawing/2014/main" id="{08337B74-A1F1-A549-A59C-CE32043101EB}"/>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4" name="Notizenplatzhalter 3">
            <a:extLst>
              <a:ext uri="{FF2B5EF4-FFF2-40B4-BE49-F238E27FC236}">
                <a16:creationId xmlns:a16="http://schemas.microsoft.com/office/drawing/2014/main" id="{BE506891-24BC-BA4A-8FE0-D5545ECEAFF7}"/>
              </a:ext>
            </a:extLst>
          </p:cNvPr>
          <p:cNvSpPr>
            <a:spLocks noGrp="1"/>
          </p:cNvSpPr>
          <p:nvPr>
            <p:ph type="body" idx="1"/>
          </p:nvPr>
        </p:nvSpPr>
        <p:spPr/>
        <p:txBody>
          <a:bodyPr/>
          <a:lstStyle/>
          <a:p>
            <a:r>
              <a:rPr lang="de-DE" sz="1814" u="none" strike="noStrike" kern="1200" cap="none" dirty="0">
                <a:ln>
                  <a:noFill/>
                </a:ln>
                <a:effectLst/>
              </a:rPr>
              <a:t>Breitband-Empfänger für elektromagnetische Strahlung konzipiert als "Anti-Radio" für experimentelle Anwendungen </a:t>
            </a:r>
          </a:p>
          <a:p>
            <a:endParaRPr lang="de-DE" sz="1814" u="none" strike="noStrike" kern="1200" cap="none" dirty="0">
              <a:ln>
                <a:noFill/>
              </a:ln>
              <a:effectLst/>
            </a:endParaRPr>
          </a:p>
          <a:p>
            <a:r>
              <a:rPr lang="de-DE" sz="1814" u="none" strike="noStrike" kern="1200" cap="none" dirty="0">
                <a:ln>
                  <a:noFill/>
                </a:ln>
                <a:effectLst/>
              </a:rPr>
              <a:t>Ether empfängt über drei integrierte Antennen ein weites Spektrum aus umgebenden Störsignalen wie z.B. Radio, Wi-Fi-Netze und elektrische Felder von Lampen, Bildschirmen, Festplatten etc.</a:t>
            </a:r>
            <a:endParaRPr lang="de-DE" dirty="0"/>
          </a:p>
        </p:txBody>
      </p:sp>
    </p:spTree>
    <p:extLst>
      <p:ext uri="{BB962C8B-B14F-4D97-AF65-F5344CB8AC3E}">
        <p14:creationId xmlns:p14="http://schemas.microsoft.com/office/powerpoint/2010/main" val="31193462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52027C66-3CDA-554D-892C-F5F1712F7B98}"/>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E23F2A87-B485-3A41-A857-55C110F6175E}"/>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601DADA0-1926-B248-B980-C69088D96492}"/>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94FFADDC-A368-EA4A-A9FF-2D9EB53FC8CD}"/>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085BE45A-9769-2441-BF60-B3046AA0DF42}"/>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7F7AE4C6-0833-EA4B-B9D5-946E8A36F00C}"/>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6A4FB8CA-8649-C940-93D2-975DD74E77D3}"/>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76F9DF54-EB86-7F49-9006-693B404DE114}"/>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D21FF852-2B20-D644-831F-1C5A7585B353}"/>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31B79E99-29E0-F34F-8836-C1AD082834E7}"/>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4" name="Notizenplatzhalter 3">
            <a:extLst>
              <a:ext uri="{FF2B5EF4-FFF2-40B4-BE49-F238E27FC236}">
                <a16:creationId xmlns:a16="http://schemas.microsoft.com/office/drawing/2014/main" id="{9DEFF6C7-187D-5576-9055-DDD8EEFAC773}"/>
              </a:ext>
            </a:extLst>
          </p:cNvPr>
          <p:cNvSpPr>
            <a:spLocks noGrp="1"/>
          </p:cNvSpPr>
          <p:nvPr>
            <p:ph type="body" idx="1"/>
          </p:nvPr>
        </p:nvSpPr>
        <p:spPr/>
        <p:txBody>
          <a:bodyPr>
            <a:normAutofit fontScale="62500" lnSpcReduction="20000"/>
          </a:bodyPr>
          <a:lstStyle/>
          <a:p>
            <a:pPr rtl="0"/>
            <a:r>
              <a:rPr lang="de-AT" b="1" dirty="0"/>
              <a:t>Seitlich besprochene Mikrofone (Side-</a:t>
            </a:r>
            <a:r>
              <a:rPr lang="de-AT" b="1" dirty="0" err="1"/>
              <a:t>Address</a:t>
            </a:r>
            <a:r>
              <a:rPr lang="de-AT" b="1" dirty="0"/>
              <a:t>)</a:t>
            </a:r>
            <a:br>
              <a:rPr lang="de-AT" dirty="0"/>
            </a:br>
            <a:r>
              <a:rPr lang="de-AT" dirty="0"/>
              <a:t>Das sind die klassischen Studio-</a:t>
            </a:r>
            <a:r>
              <a:rPr lang="de-AT" dirty="0" err="1"/>
              <a:t>Großmembraner</a:t>
            </a:r>
            <a:r>
              <a:rPr lang="de-AT" dirty="0"/>
              <a:t> (z. B. U87-Bauform, viele </a:t>
            </a:r>
            <a:r>
              <a:rPr lang="de-AT" dirty="0" err="1"/>
              <a:t>Bändchenmikrofone</a:t>
            </a:r>
            <a:r>
              <a:rPr lang="de-AT" dirty="0"/>
              <a:t>). Die Achse der Acht steht </a:t>
            </a:r>
            <a:r>
              <a:rPr lang="de-AT" b="1" dirty="0"/>
              <a:t>senkrecht zum Mikrofonkörper</a:t>
            </a:r>
            <a:r>
              <a:rPr lang="de-AT" dirty="0"/>
              <a:t>, die empfindlichen Seiten sind die beiden Breitseiten (bei vielen Modellen ist die Vorderseite durch das Logo markiert).</a:t>
            </a:r>
          </a:p>
          <a:p>
            <a:pPr rtl="0"/>
            <a:r>
              <a:rPr lang="de-AT" dirty="0"/>
              <a:t>Wenn du es </a:t>
            </a:r>
            <a:r>
              <a:rPr lang="de-AT" b="1" dirty="0"/>
              <a:t>aufrecht</a:t>
            </a:r>
            <a:r>
              <a:rPr lang="de-AT" dirty="0"/>
              <a:t> hinstellst oder hängst, zeigen die Hauptrichtungen nach vorne und hinten, und die unempfindlichen Zonen liegen </a:t>
            </a:r>
            <a:r>
              <a:rPr lang="de-AT" b="1" dirty="0"/>
              <a:t>seitlich sowie oben und unten</a:t>
            </a:r>
            <a:r>
              <a:rPr lang="de-AT" dirty="0"/>
              <a:t>. Hältst du das Mikrofon dagegen </a:t>
            </a:r>
            <a:r>
              <a:rPr lang="de-AT" b="1" dirty="0"/>
              <a:t>waagerecht</a:t>
            </a:r>
            <a:r>
              <a:rPr lang="de-AT" dirty="0"/>
              <a:t> wie ein Zeigestab auf die Quelle, zeigen die Hauptrichtungen nach links und rechts (oder oben und unten, je nach Drehung um die eigene Achse), und der Mikrofonkörper zeigt genau in die taube Richtung.</a:t>
            </a:r>
          </a:p>
          <a:p>
            <a:pPr rtl="0"/>
            <a:r>
              <a:rPr lang="de-AT" b="1" dirty="0"/>
              <a:t>Stirnseitig besprochene Mikrofone (End-</a:t>
            </a:r>
            <a:r>
              <a:rPr lang="de-AT" b="1" dirty="0" err="1"/>
              <a:t>Address</a:t>
            </a:r>
            <a:r>
              <a:rPr lang="de-AT" b="1" dirty="0"/>
              <a:t>)</a:t>
            </a:r>
            <a:br>
              <a:rPr lang="de-AT" dirty="0"/>
            </a:br>
            <a:r>
              <a:rPr lang="de-AT" dirty="0"/>
              <a:t>Das sind die schlanken Kleinmembran-Stäbchen. Die Achse der Acht liegt </a:t>
            </a:r>
            <a:r>
              <a:rPr lang="de-AT" b="1" dirty="0"/>
              <a:t>in Längsrichtung</a:t>
            </a:r>
            <a:r>
              <a:rPr lang="de-AT" dirty="0"/>
              <a:t>: Die Spitze ist die eine empfindliche Seite, das Kabelende die andere. Hältst du es gerade nach vorne, zeigt die Acht nach vorne und hinten. Die unempfindliche Zone liegt rundherum, im Kreis um den Körper. Das ist bei Achtern selten, die meisten sind Side-</a:t>
            </a:r>
            <a:r>
              <a:rPr lang="de-AT" dirty="0" err="1"/>
              <a:t>Address</a:t>
            </a:r>
            <a:r>
              <a:rPr lang="de-AT" dirty="0"/>
              <a:t>.</a:t>
            </a:r>
          </a:p>
          <a:p>
            <a:pPr rtl="0"/>
            <a:r>
              <a:rPr lang="de-AT" b="1" dirty="0"/>
              <a:t>Wichtig: Die Acht ist rotationssymmetrisch</a:t>
            </a:r>
            <a:br>
              <a:rPr lang="de-AT" dirty="0"/>
            </a:br>
            <a:r>
              <a:rPr lang="de-AT" dirty="0"/>
              <a:t>Man zeichnet sie meist als „8" auf dem Papier, tatsächlich ist sie dreidimensional: zwei Kugeln, die sich in der Kapsel berühren. Die taube Zone ist daher nicht nur links und rechts, sondern eine </a:t>
            </a:r>
            <a:r>
              <a:rPr lang="de-AT" b="1" dirty="0"/>
              <a:t>Ebene</a:t>
            </a:r>
            <a:r>
              <a:rPr lang="de-AT" dirty="0"/>
              <a:t> senkrecht zur Achse. Bei einem aufrechten Side-</a:t>
            </a:r>
            <a:r>
              <a:rPr lang="de-AT" dirty="0" err="1"/>
              <a:t>Address</a:t>
            </a:r>
            <a:r>
              <a:rPr lang="de-AT" dirty="0"/>
              <a:t>-Mikrofon ist das die Ebene aus links, rechts, oben und unten.</a:t>
            </a:r>
          </a:p>
          <a:p>
            <a:pPr rtl="0"/>
            <a:r>
              <a:rPr lang="de-AT" b="1" dirty="0"/>
              <a:t>Für den M/S-Aufbau heißt das</a:t>
            </a:r>
            <a:br>
              <a:rPr lang="de-AT" dirty="0"/>
            </a:br>
            <a:r>
              <a:rPr lang="de-AT" dirty="0"/>
              <a:t>Beim S-Mikrofon (Side-</a:t>
            </a:r>
            <a:r>
              <a:rPr lang="de-AT" dirty="0" err="1"/>
              <a:t>Address</a:t>
            </a:r>
            <a:r>
              <a:rPr lang="de-AT" dirty="0"/>
              <a:t>, aufrecht über oder unter dem M-Mikrofon) drehst du den Körper so, dass die Breitseiten </a:t>
            </a:r>
            <a:r>
              <a:rPr lang="de-AT" b="1" dirty="0"/>
              <a:t>nach links und rechts</a:t>
            </a:r>
            <a:r>
              <a:rPr lang="de-AT" dirty="0"/>
              <a:t> zeigen und die Rückseite der Logo-Seite, also die taube Zone, zur Schallquelle schaut.</a:t>
            </a:r>
            <a:endParaRPr lang="de-DE"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38B7D3B1-2E9B-294E-A005-3ECC5FF31717}"/>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94D9F4E3-B1F8-1747-9E17-38134D3677D5}"/>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97645765-3C10-394A-98EF-7092A44831E7}"/>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2129D4B8-47F4-9D4C-B078-66E8D00A4582}"/>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F94510E8-3EF1-3148-ADF6-E145635F35E2}"/>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9477CEDF-AF7F-134C-A6FB-90B8126117C8}"/>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4" name="Notizenplatzhalter 3">
            <a:extLst>
              <a:ext uri="{FF2B5EF4-FFF2-40B4-BE49-F238E27FC236}">
                <a16:creationId xmlns:a16="http://schemas.microsoft.com/office/drawing/2014/main" id="{D2C76DA1-FA98-AEEB-AD2D-6BFD0499CD01}"/>
              </a:ext>
            </a:extLst>
          </p:cNvPr>
          <p:cNvSpPr>
            <a:spLocks noGrp="1"/>
          </p:cNvSpPr>
          <p:nvPr>
            <p:ph type="body" idx="1"/>
          </p:nvPr>
        </p:nvSpPr>
        <p:spPr/>
        <p:txBody>
          <a:bodyPr>
            <a:normAutofit fontScale="77500" lnSpcReduction="20000"/>
          </a:bodyPr>
          <a:lstStyle/>
          <a:p>
            <a:pPr rtl="0"/>
            <a:r>
              <a:rPr lang="de-AT" dirty="0"/>
              <a:t>Die </a:t>
            </a:r>
            <a:r>
              <a:rPr lang="de-AT" dirty="0" err="1"/>
              <a:t>Blumlein</a:t>
            </a:r>
            <a:r>
              <a:rPr lang="de-AT" dirty="0"/>
              <a:t>-Technik ist ein Stereo-Aufnahmeverfahren mit </a:t>
            </a:r>
            <a:r>
              <a:rPr lang="de-AT" b="1" dirty="0"/>
              <a:t>zwei Mikrofonen mit Achter-Charakteristik</a:t>
            </a:r>
            <a:r>
              <a:rPr lang="de-AT" dirty="0"/>
              <a:t>. Sie ist nach dem britischen Ingenieur Alan </a:t>
            </a:r>
            <a:r>
              <a:rPr lang="de-AT" dirty="0" err="1"/>
              <a:t>Blumlein</a:t>
            </a:r>
            <a:r>
              <a:rPr lang="de-AT" dirty="0"/>
              <a:t> benannt, der in den 1930er-Jahren die Grundlagen der Stereofonie entwickelt hat.</a:t>
            </a:r>
          </a:p>
          <a:p>
            <a:pPr rtl="0"/>
            <a:r>
              <a:rPr lang="de-AT" b="1" dirty="0"/>
              <a:t>Der Aufbau</a:t>
            </a:r>
            <a:endParaRPr lang="de-AT" dirty="0"/>
          </a:p>
          <a:p>
            <a:pPr lvl="0" rtl="0"/>
            <a:r>
              <a:rPr lang="de-AT" dirty="0"/>
              <a:t>Beide Mikrofone sitzen direkt übereinander, die Kapseln berühren sich praktisch.</a:t>
            </a:r>
          </a:p>
          <a:p>
            <a:pPr lvl="0" rtl="0"/>
            <a:r>
              <a:rPr lang="de-AT" dirty="0"/>
              <a:t>Sie sind im Winkel von 90° zueinander ausgerichtet, eines zeigt 45° nach links, das andere 45° nach rechts.</a:t>
            </a:r>
          </a:p>
          <a:p>
            <a:pPr lvl="0" rtl="0"/>
            <a:r>
              <a:rPr lang="de-AT" dirty="0"/>
              <a:t>Ein Mikrofon liefert den linken, das andere den rechten Kanal.</a:t>
            </a:r>
          </a:p>
          <a:p>
            <a:pPr rtl="0"/>
            <a:r>
              <a:rPr lang="de-AT" b="1" dirty="0"/>
              <a:t>Warum das funktioniert</a:t>
            </a:r>
            <a:br>
              <a:rPr lang="de-AT" dirty="0"/>
            </a:br>
            <a:r>
              <a:rPr lang="de-AT" dirty="0"/>
              <a:t>Ein Achter-Mikrofon ist vorne und hinten empfindlich und von der Seite fast taub. Ein Schallereignis links von der Mitte wird vom linken Mikrofon lauter aufgenommen als vom rechten, bei einem Ereignis in der Mitte sind beide gleich laut. Das Stereobild entsteht also nur aus </a:t>
            </a:r>
            <a:r>
              <a:rPr lang="de-AT" b="1" dirty="0"/>
              <a:t>Pegelunterschieden</a:t>
            </a:r>
            <a:r>
              <a:rPr lang="de-AT" dirty="0"/>
              <a:t>. Laufzeitunterschiede gibt es nicht, weil die Kapseln am selben Ort sind. Das ergibt ein sehr stabiles, präzises Klangbild.</a:t>
            </a:r>
          </a:p>
          <a:p>
            <a:pPr rtl="0"/>
            <a:r>
              <a:rPr lang="de-AT" b="1" dirty="0"/>
              <a:t>Was den Klang ausmacht</a:t>
            </a:r>
            <a:br>
              <a:rPr lang="de-AT" dirty="0"/>
            </a:br>
            <a:r>
              <a:rPr lang="de-AT" dirty="0"/>
              <a:t>Weil die Mikrofone auch nach hinten hören, nehmen sie den Raum mit auf: den Nachhall und die Reflexionen von hinten. Der Schall von hinten kommt mit umgekehrter Polarität an, was ihn diffus und räumlich wirken lässt. Das Ergebnis klingt oft sehr natürlich und offen, so, als säße man im Saal.</a:t>
            </a:r>
          </a:p>
          <a:p>
            <a:endParaRPr lang="de-DE"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36A057F7-CA37-2648-A6D7-4276D59CE0D8}"/>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47295AAA-B752-E746-825B-E8069043B546}"/>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4" name="Notizenplatzhalter 3">
            <a:extLst>
              <a:ext uri="{FF2B5EF4-FFF2-40B4-BE49-F238E27FC236}">
                <a16:creationId xmlns:a16="http://schemas.microsoft.com/office/drawing/2014/main" id="{C34FD49B-069E-21AC-8A87-43E62C635EB3}"/>
              </a:ext>
            </a:extLst>
          </p:cNvPr>
          <p:cNvSpPr>
            <a:spLocks noGrp="1"/>
          </p:cNvSpPr>
          <p:nvPr>
            <p:ph type="body" idx="1"/>
          </p:nvPr>
        </p:nvSpPr>
        <p:spPr/>
        <p:txBody>
          <a:bodyPr>
            <a:normAutofit fontScale="85000" lnSpcReduction="20000"/>
          </a:bodyPr>
          <a:lstStyle/>
          <a:p>
            <a:pPr rtl="0"/>
            <a:r>
              <a:rPr lang="de-AT" b="1" dirty="0"/>
              <a:t>Der Aufbau</a:t>
            </a:r>
            <a:endParaRPr lang="de-AT" dirty="0"/>
          </a:p>
          <a:p>
            <a:pPr lvl="0" rtl="0"/>
            <a:r>
              <a:rPr lang="de-AT" b="1" dirty="0"/>
              <a:t>Mitte-Mikrofon (M):</a:t>
            </a:r>
            <a:r>
              <a:rPr lang="de-AT" dirty="0"/>
              <a:t> zeigt direkt auf die Schallquelle. Meist ist es eine Niere, es kann aber auch eine Kugel oder ein Achter sein.</a:t>
            </a:r>
          </a:p>
          <a:p>
            <a:pPr lvl="0" rtl="0"/>
            <a:r>
              <a:rPr lang="de-AT" b="1" dirty="0"/>
              <a:t>Seite-Mikrofon (S):</a:t>
            </a:r>
            <a:r>
              <a:rPr lang="de-AT" dirty="0"/>
              <a:t> ein </a:t>
            </a:r>
            <a:r>
              <a:rPr lang="de-AT" b="1" dirty="0"/>
              <a:t>Achter</a:t>
            </a:r>
            <a:r>
              <a:rPr lang="de-AT" dirty="0"/>
              <a:t>, um 90° gedreht. Seine empfindlichen Seiten zeigen nach links und rechts, die „taube” Seite zeigt zur Quelle.</a:t>
            </a:r>
          </a:p>
          <a:p>
            <a:pPr lvl="0" rtl="0"/>
            <a:r>
              <a:rPr lang="de-AT" dirty="0"/>
              <a:t>Beide Kapseln sitzen direkt übereinander, wie bei </a:t>
            </a:r>
            <a:r>
              <a:rPr lang="de-AT" dirty="0" err="1"/>
              <a:t>Blumlein</a:t>
            </a:r>
            <a:r>
              <a:rPr lang="de-AT" dirty="0"/>
              <a:t>.</a:t>
            </a:r>
          </a:p>
          <a:p>
            <a:pPr rtl="0"/>
            <a:r>
              <a:rPr lang="de-AT" b="1" dirty="0"/>
              <a:t>Die Idee dahinter</a:t>
            </a:r>
            <a:endParaRPr lang="de-AT" dirty="0"/>
          </a:p>
          <a:p>
            <a:pPr lvl="0" rtl="0"/>
            <a:r>
              <a:rPr lang="de-AT" dirty="0"/>
              <a:t>M hört das, was von vorne kommt, also das Zentrum.</a:t>
            </a:r>
          </a:p>
          <a:p>
            <a:pPr lvl="0" rtl="0"/>
            <a:r>
              <a:rPr lang="de-AT" dirty="0"/>
              <a:t>S hört nur, was von links bzw. rechts kommt. Die beiden Hälften des Achters haben dabei </a:t>
            </a:r>
            <a:r>
              <a:rPr lang="de-AT" b="1" dirty="0"/>
              <a:t>entgegengesetzte Polarität</a:t>
            </a:r>
            <a:r>
              <a:rPr lang="de-AT" dirty="0"/>
              <a:t>: Was von links kommt, erscheint positiv, was von rechts kommt, negativ.</a:t>
            </a:r>
          </a:p>
          <a:p>
            <a:pPr lvl="0" rtl="0"/>
            <a:r>
              <a:rPr lang="de-AT" dirty="0"/>
              <a:t>Aus beiden Signalen rechnet man später Links und Rechts aus: </a:t>
            </a:r>
            <a:r>
              <a:rPr lang="de-AT" b="1" dirty="0"/>
              <a:t>L = M + S</a:t>
            </a:r>
            <a:r>
              <a:rPr lang="de-AT" dirty="0"/>
              <a:t> und </a:t>
            </a:r>
            <a:r>
              <a:rPr lang="de-AT" b="1" dirty="0"/>
              <a:t>R = M − S</a:t>
            </a:r>
            <a:r>
              <a:rPr lang="de-AT" dirty="0"/>
              <a:t>.</a:t>
            </a:r>
          </a:p>
          <a:p>
            <a:pPr rtl="0"/>
            <a:r>
              <a:rPr lang="de-AT" b="1" dirty="0"/>
              <a:t>Die Dekodierung in der DAW (z. B. Reaper)</a:t>
            </a:r>
            <a:endParaRPr lang="de-AT" dirty="0"/>
          </a:p>
          <a:p>
            <a:pPr lvl="0" rtl="0"/>
            <a:r>
              <a:rPr lang="de-AT" dirty="0"/>
              <a:t>M und S getrennt aufnehmen, am besten als zwei Kanäle derselben Datei oder auf zwei Spuren.</a:t>
            </a:r>
          </a:p>
          <a:p>
            <a:pPr lvl="0" rtl="0"/>
            <a:r>
              <a:rPr lang="de-AT" dirty="0"/>
              <a:t>M-Spur in die Mitte </a:t>
            </a:r>
            <a:r>
              <a:rPr lang="de-AT" dirty="0" err="1"/>
              <a:t>pannen</a:t>
            </a:r>
            <a:r>
              <a:rPr lang="de-AT" dirty="0"/>
              <a:t>.</a:t>
            </a:r>
          </a:p>
          <a:p>
            <a:pPr lvl="0" rtl="0"/>
            <a:r>
              <a:rPr lang="de-AT" dirty="0"/>
              <a:t>S-Spur </a:t>
            </a:r>
            <a:r>
              <a:rPr lang="de-AT" b="1" dirty="0"/>
              <a:t>duplizieren</a:t>
            </a:r>
            <a:r>
              <a:rPr lang="de-AT" dirty="0"/>
              <a:t>: Die erste Kopie hart nach links </a:t>
            </a:r>
            <a:r>
              <a:rPr lang="de-AT" dirty="0" err="1"/>
              <a:t>panen</a:t>
            </a:r>
            <a:r>
              <a:rPr lang="de-AT" dirty="0"/>
              <a:t>. Die zweite Kopie hart nach rechts </a:t>
            </a:r>
            <a:r>
              <a:rPr lang="de-AT" dirty="0" err="1"/>
              <a:t>pannen</a:t>
            </a:r>
            <a:r>
              <a:rPr lang="de-AT" dirty="0"/>
              <a:t> und </a:t>
            </a:r>
            <a:r>
              <a:rPr lang="de-AT" b="1" dirty="0"/>
              <a:t>die Polarität invertieren</a:t>
            </a:r>
            <a:r>
              <a:rPr lang="de-AT" dirty="0"/>
              <a:t> (</a:t>
            </a:r>
            <a:r>
              <a:rPr lang="de-AT" dirty="0" err="1"/>
              <a:t>Ø</a:t>
            </a:r>
            <a:r>
              <a:rPr lang="de-AT" dirty="0"/>
              <a:t>-Schalter).</a:t>
            </a:r>
          </a:p>
          <a:p>
            <a:pPr lvl="0" rtl="0"/>
            <a:r>
              <a:rPr lang="de-AT" dirty="0"/>
              <a:t>Mit dem Pegel der S-Spuren regelst du die </a:t>
            </a:r>
            <a:r>
              <a:rPr lang="de-AT" b="1" dirty="0"/>
              <a:t>Stereobreite</a:t>
            </a:r>
            <a:r>
              <a:rPr lang="de-AT" dirty="0"/>
              <a:t>.</a:t>
            </a:r>
          </a:p>
          <a:p>
            <a:pPr lvl="0" rtl="0"/>
            <a:endParaRPr lang="de-AT" dirty="0"/>
          </a:p>
          <a:p>
            <a:pPr rtl="0"/>
            <a:r>
              <a:rPr lang="de-AT" dirty="0"/>
              <a:t>Die Polarität muss invertiert werden, weil das Seite-Mikrofon ein </a:t>
            </a:r>
            <a:r>
              <a:rPr lang="de-AT" b="1" dirty="0"/>
              <a:t>Differenzsignal</a:t>
            </a:r>
            <a:r>
              <a:rPr lang="de-AT" dirty="0"/>
              <a:t> liefert, und eine Differenz entsteht nur durch eine Subtraktion.</a:t>
            </a:r>
          </a:p>
          <a:p>
            <a:pPr rtl="0"/>
            <a:r>
              <a:rPr lang="de-AT" b="1" dirty="0"/>
              <a:t>Was im Achter-Mikrofon passiert</a:t>
            </a:r>
            <a:endParaRPr lang="de-AT" dirty="0"/>
          </a:p>
          <a:p>
            <a:pPr rtl="0"/>
            <a:r>
              <a:rPr lang="de-AT" dirty="0"/>
              <a:t>Ein Achter reagiert auf Schalldruck an der Vorder- und Rückseite mit </a:t>
            </a:r>
            <a:r>
              <a:rPr lang="de-AT" b="1" dirty="0"/>
              <a:t>entgegengesetztem Vorzeichen</a:t>
            </a:r>
            <a:r>
              <a:rPr lang="de-AT" dirty="0"/>
              <a:t>: Trifft der Schall die eine Seite, entsteht eine positive Spannung, trifft er die andere, eine negative. Beim S-Mikrofon zeigt eine Seite nach links und die andere nach rechts. Ein Ton von links erscheint im S-Kanal also als </a:t>
            </a:r>
            <a:r>
              <a:rPr lang="de-AT" b="1" dirty="0"/>
              <a:t>+</a:t>
            </a:r>
            <a:r>
              <a:rPr lang="de-AT" dirty="0"/>
              <a:t>, derselbe Ton von rechts als </a:t>
            </a:r>
            <a:r>
              <a:rPr lang="de-AT" b="1" dirty="0"/>
              <a:t>−</a:t>
            </a:r>
            <a:r>
              <a:rPr lang="de-AT" dirty="0"/>
              <a:t>.</a:t>
            </a:r>
          </a:p>
          <a:p>
            <a:pPr rtl="0"/>
            <a:r>
              <a:rPr lang="de-AT" dirty="0"/>
              <a:t>Der S-Kanal enthält damit nicht „links” und „rechts” als getrennte Informationen, sondern nur den </a:t>
            </a:r>
            <a:r>
              <a:rPr lang="de-AT" b="1" dirty="0"/>
              <a:t>Unterschied</a:t>
            </a:r>
            <a:r>
              <a:rPr lang="de-AT" dirty="0"/>
              <a:t> zwischen beiden Seiten (mathematisch S = (L − R) / 2, während M = (L + R) / 2 ist).</a:t>
            </a:r>
          </a:p>
          <a:p>
            <a:pPr rtl="0"/>
            <a:r>
              <a:rPr lang="de-AT" b="1" dirty="0"/>
              <a:t>Ein Zahlenbeispiel</a:t>
            </a:r>
            <a:endParaRPr lang="de-AT" dirty="0"/>
          </a:p>
          <a:p>
            <a:pPr rtl="0"/>
            <a:r>
              <a:rPr lang="de-AT" dirty="0"/>
              <a:t>Ein Instrument steht ganz links. Die Niere (M) hört es mit Pegel 1, das S-Mikrofon mit +1.</a:t>
            </a:r>
          </a:p>
          <a:p>
            <a:pPr lvl="0" rtl="0"/>
            <a:r>
              <a:rPr lang="de-AT" dirty="0"/>
              <a:t>Linker Kanal: L = M + S = 1 + 1 = </a:t>
            </a:r>
            <a:r>
              <a:rPr lang="de-AT" b="1" dirty="0"/>
              <a:t>2</a:t>
            </a:r>
            <a:endParaRPr lang="de-AT" dirty="0"/>
          </a:p>
          <a:p>
            <a:pPr lvl="0" rtl="0"/>
            <a:r>
              <a:rPr lang="de-AT" dirty="0"/>
              <a:t>Rechter Kanal: R = M − S = 1 − 1 = </a:t>
            </a:r>
            <a:r>
              <a:rPr lang="de-AT" b="1" dirty="0"/>
              <a:t>0</a:t>
            </a:r>
            <a:endParaRPr lang="de-AT" dirty="0"/>
          </a:p>
          <a:p>
            <a:pPr lvl="0" rtl="0"/>
            <a:endParaRPr lang="de-AT" dirty="0"/>
          </a:p>
          <a:p>
            <a:endParaRPr lang="de-DE"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4DAF5BC8-7214-8749-B32E-61B81060B814}"/>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3C62D692-5666-2F43-B318-4F4DACCB90F5}"/>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5EA5BEBA-93DD-B04D-8932-E16D89D71B18}"/>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4EBB3E7C-E9BB-674E-A423-44B76C3349DD}"/>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A2803557-47F1-0447-BA5F-FB55AFA075B8}"/>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6D37D7A0-F664-6B4A-A2A6-815A1AD9FFF8}"/>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5886D302-63C0-CF49-BD90-B14E6BD3BFEB}"/>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0760125D-5EDC-3D40-AC32-5511457B3039}"/>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BC81F294-6BFF-8F41-BE31-0F33D0D78E38}"/>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603626A6-0A27-FA4B-B168-194C56FF7464}"/>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FA1E9DF4-9485-DF4E-9977-FE5E0CED35E5}"/>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D5C96E97-4DB9-A04A-81C6-B923AFAFAD5F}"/>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A26F5268-AC4E-7244-B998-5DF881B73B3A}"/>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21794869-D61B-0F4D-B150-F1A8C786ADC1}"/>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13110802-A707-294D-AE26-9689FE408884}"/>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A2E6D8ED-86E3-F643-BD76-ECEE0029C38E}"/>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35B6A0BC-1C49-2E48-A23E-DA080709B5CC}"/>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DC1A3C70-8044-5C40-B134-A30ECD7009CD}"/>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7FEB297E-A904-2447-9F08-362997FCE814}"/>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CE563FBD-8787-B14D-BC49-3041B423394C}"/>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D840C6D0-1596-8342-8B6F-B40E95E7D66D}"/>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0010B19E-130C-5F41-AAEA-D62D9361E9BC}"/>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9F05D4F5-0E86-354F-8D31-8BB55814D01F}"/>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57A91F2D-789F-6748-881B-C7770D870F53}"/>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38751-5C8B-31F0-6939-5CA9AABF33E1}"/>
            </a:ext>
          </a:extLst>
        </p:cNvPr>
        <p:cNvGrpSpPr/>
        <p:nvPr/>
      </p:nvGrpSpPr>
      <p:grpSpPr>
        <a:xfrm>
          <a:off x="0" y="0"/>
          <a:ext cx="0" cy="0"/>
          <a:chOff x="0" y="0"/>
          <a:chExt cx="0" cy="0"/>
        </a:xfrm>
      </p:grpSpPr>
      <p:sp>
        <p:nvSpPr>
          <p:cNvPr id="2" name="Text Box 1">
            <a:extLst>
              <a:ext uri="{FF2B5EF4-FFF2-40B4-BE49-F238E27FC236}">
                <a16:creationId xmlns:a16="http://schemas.microsoft.com/office/drawing/2014/main" id="{30793C5D-4928-5FC7-FAF8-E5B9D0F834A1}"/>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F8047FFB-CD46-D6B2-621F-BEE23E4E828D}"/>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extLst>
      <p:ext uri="{BB962C8B-B14F-4D97-AF65-F5344CB8AC3E}">
        <p14:creationId xmlns:p14="http://schemas.microsoft.com/office/powerpoint/2010/main" val="223884032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8574B017-07C5-7E44-9BF4-D40B86DDE0E0}"/>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872EA759-D44B-8641-94E0-2B4D7C9350E0}"/>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4" name="Notizenplatzhalter 1">
            <a:extLst>
              <a:ext uri="{FF2B5EF4-FFF2-40B4-BE49-F238E27FC236}">
                <a16:creationId xmlns:a16="http://schemas.microsoft.com/office/drawing/2014/main" id="{866E89AB-4A49-FA47-980D-A605B7CAD9CA}"/>
              </a:ext>
            </a:extLst>
          </p:cNvPr>
          <p:cNvSpPr txBox="1">
            <a:spLocks noGrp="1"/>
          </p:cNvSpPr>
          <p:nvPr>
            <p:ph type="body" sz="quarter" idx="1"/>
          </p:nvPr>
        </p:nvSpPr>
        <p:spPr/>
        <p:txBody>
          <a:bodyPr/>
          <a:lstStyle/>
          <a:p>
            <a:endParaRPr lang="de-DE"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7332F3BA-C913-674B-B884-6DB2E898528B}"/>
              </a:ext>
            </a:extLst>
          </p:cNvPr>
          <p:cNvSpPr>
            <a:spLocks noGrp="1" noRot="1" noChangeAspect="1" noResize="1"/>
          </p:cNvSpPr>
          <p:nvPr>
            <p:ph type="sldImg"/>
          </p:nvPr>
        </p:nvSpPr>
        <p:spPr>
          <a:xfrm>
            <a:off x="990600" y="685800"/>
            <a:ext cx="4875213" cy="3657600"/>
          </a:xfrm>
          <a:solidFill>
            <a:srgbClr val="729FCF"/>
          </a:solidFill>
          <a:ln w="9360" cap="flat">
            <a:solidFill>
              <a:srgbClr val="00CC98"/>
            </a:solidFill>
            <a:prstDash val="solid"/>
          </a:ln>
          <a:effectLst>
            <a:outerShdw dist="23040" dir="5400000" algn="tl">
              <a:srgbClr val="000000">
                <a:alpha val="35000"/>
              </a:srgbClr>
            </a:outerShdw>
          </a:effectLst>
        </p:spPr>
      </p:sp>
      <p:sp>
        <p:nvSpPr>
          <p:cNvPr id="3" name="Text Box 2">
            <a:extLst>
              <a:ext uri="{FF2B5EF4-FFF2-40B4-BE49-F238E27FC236}">
                <a16:creationId xmlns:a16="http://schemas.microsoft.com/office/drawing/2014/main" id="{E5A79BF0-890F-804B-9854-3FFBDA3B7776}"/>
              </a:ext>
            </a:extLst>
          </p:cNvPr>
          <p:cNvSpPr txBox="1"/>
          <p:nvPr/>
        </p:nvSpPr>
        <p:spPr>
          <a:xfrm>
            <a:off x="914400" y="4572000"/>
            <a:ext cx="5027760" cy="434340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B7C994A2-7544-A048-901D-F7D4A0A6D945}"/>
              </a:ext>
            </a:extLst>
          </p:cNvPr>
          <p:cNvSpPr txBox="1"/>
          <p:nvPr/>
        </p:nvSpPr>
        <p:spPr>
          <a:xfrm>
            <a:off x="1222199" y="923759"/>
            <a:ext cx="4441680" cy="3330720"/>
          </a:xfrm>
          <a:prstGeom prst="rect">
            <a:avLst/>
          </a:prstGeom>
          <a:solidFill>
            <a:srgbClr val="FFFFFF"/>
          </a:solidFill>
          <a:ln w="9360" cap="sq">
            <a:solidFill>
              <a:srgbClr val="000000"/>
            </a:solidFill>
            <a:prstDash val="solid"/>
            <a:miter/>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3" name="Text Box 2">
            <a:extLst>
              <a:ext uri="{FF2B5EF4-FFF2-40B4-BE49-F238E27FC236}">
                <a16:creationId xmlns:a16="http://schemas.microsoft.com/office/drawing/2014/main" id="{AC4D6837-4AE3-2441-8747-14A4801CE9C5}"/>
              </a:ext>
            </a:extLst>
          </p:cNvPr>
          <p:cNvSpPr txBox="1"/>
          <p:nvPr/>
        </p:nvSpPr>
        <p:spPr>
          <a:xfrm>
            <a:off x="1066680" y="4578479"/>
            <a:ext cx="4759200" cy="369576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567A3302-ED10-0F4C-BD3D-49DF69A9FFAC}"/>
              </a:ext>
            </a:extLst>
          </p:cNvPr>
          <p:cNvSpPr txBox="1"/>
          <p:nvPr/>
        </p:nvSpPr>
        <p:spPr>
          <a:xfrm>
            <a:off x="1222199" y="923759"/>
            <a:ext cx="4441680" cy="3330720"/>
          </a:xfrm>
          <a:prstGeom prst="rect">
            <a:avLst/>
          </a:prstGeom>
          <a:solidFill>
            <a:srgbClr val="FFFFFF"/>
          </a:solidFill>
          <a:ln w="9360" cap="sq">
            <a:solidFill>
              <a:srgbClr val="000000"/>
            </a:solidFill>
            <a:prstDash val="solid"/>
            <a:miter/>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3" name="Text Box 2">
            <a:extLst>
              <a:ext uri="{FF2B5EF4-FFF2-40B4-BE49-F238E27FC236}">
                <a16:creationId xmlns:a16="http://schemas.microsoft.com/office/drawing/2014/main" id="{B4A32D76-1231-E144-8E6F-396333D40871}"/>
              </a:ext>
            </a:extLst>
          </p:cNvPr>
          <p:cNvSpPr txBox="1"/>
          <p:nvPr/>
        </p:nvSpPr>
        <p:spPr>
          <a:xfrm>
            <a:off x="1066680" y="4578479"/>
            <a:ext cx="4759200" cy="369576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CCED83D7-C6CE-0149-9EA0-2FCB91B9C3E4}"/>
              </a:ext>
            </a:extLst>
          </p:cNvPr>
          <p:cNvSpPr txBox="1"/>
          <p:nvPr/>
        </p:nvSpPr>
        <p:spPr>
          <a:xfrm>
            <a:off x="1222199" y="923759"/>
            <a:ext cx="4441680" cy="3330720"/>
          </a:xfrm>
          <a:prstGeom prst="rect">
            <a:avLst/>
          </a:prstGeom>
          <a:solidFill>
            <a:srgbClr val="FFFFFF"/>
          </a:solidFill>
          <a:ln w="9360" cap="sq">
            <a:solidFill>
              <a:srgbClr val="000000"/>
            </a:solidFill>
            <a:prstDash val="solid"/>
            <a:miter/>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3" name="Text Box 2">
            <a:extLst>
              <a:ext uri="{FF2B5EF4-FFF2-40B4-BE49-F238E27FC236}">
                <a16:creationId xmlns:a16="http://schemas.microsoft.com/office/drawing/2014/main" id="{0A21064F-D63B-1B42-B6EA-AE71E70A930E}"/>
              </a:ext>
            </a:extLst>
          </p:cNvPr>
          <p:cNvSpPr txBox="1"/>
          <p:nvPr/>
        </p:nvSpPr>
        <p:spPr>
          <a:xfrm>
            <a:off x="1066680" y="4578479"/>
            <a:ext cx="4759200" cy="369576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38094747-A552-374D-9B0E-804852A0DF50}"/>
              </a:ext>
            </a:extLst>
          </p:cNvPr>
          <p:cNvSpPr txBox="1"/>
          <p:nvPr/>
        </p:nvSpPr>
        <p:spPr>
          <a:xfrm>
            <a:off x="1222199" y="923759"/>
            <a:ext cx="4441680" cy="3330720"/>
          </a:xfrm>
          <a:prstGeom prst="rect">
            <a:avLst/>
          </a:prstGeom>
          <a:solidFill>
            <a:srgbClr val="FFFFFF"/>
          </a:solidFill>
          <a:ln w="9360" cap="sq">
            <a:solidFill>
              <a:srgbClr val="000000"/>
            </a:solidFill>
            <a:prstDash val="solid"/>
            <a:miter/>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3" name="Text Box 2">
            <a:extLst>
              <a:ext uri="{FF2B5EF4-FFF2-40B4-BE49-F238E27FC236}">
                <a16:creationId xmlns:a16="http://schemas.microsoft.com/office/drawing/2014/main" id="{BE182AA7-6988-CD41-BB90-8864C70DB500}"/>
              </a:ext>
            </a:extLst>
          </p:cNvPr>
          <p:cNvSpPr txBox="1"/>
          <p:nvPr/>
        </p:nvSpPr>
        <p:spPr>
          <a:xfrm>
            <a:off x="1066680" y="4578479"/>
            <a:ext cx="4759200" cy="369576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476729E6-C6B1-8C42-ACCC-0EB0E4CD2037}"/>
              </a:ext>
            </a:extLst>
          </p:cNvPr>
          <p:cNvSpPr txBox="1"/>
          <p:nvPr/>
        </p:nvSpPr>
        <p:spPr>
          <a:xfrm>
            <a:off x="1222199" y="923759"/>
            <a:ext cx="4441680" cy="3330720"/>
          </a:xfrm>
          <a:prstGeom prst="rect">
            <a:avLst/>
          </a:prstGeom>
          <a:solidFill>
            <a:srgbClr val="FFFFFF"/>
          </a:solidFill>
          <a:ln w="9360" cap="sq">
            <a:solidFill>
              <a:srgbClr val="000000"/>
            </a:solidFill>
            <a:prstDash val="solid"/>
            <a:miter/>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3" name="Text Box 2">
            <a:extLst>
              <a:ext uri="{FF2B5EF4-FFF2-40B4-BE49-F238E27FC236}">
                <a16:creationId xmlns:a16="http://schemas.microsoft.com/office/drawing/2014/main" id="{0E62893B-6AF6-594E-A65E-5158EDDC7EC3}"/>
              </a:ext>
            </a:extLst>
          </p:cNvPr>
          <p:cNvSpPr txBox="1"/>
          <p:nvPr/>
        </p:nvSpPr>
        <p:spPr>
          <a:xfrm>
            <a:off x="1066680" y="4578479"/>
            <a:ext cx="4759200" cy="369576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4" name="Notizenplatzhalter 3">
            <a:extLst>
              <a:ext uri="{FF2B5EF4-FFF2-40B4-BE49-F238E27FC236}">
                <a16:creationId xmlns:a16="http://schemas.microsoft.com/office/drawing/2014/main" id="{C9D2EB0D-C1E6-E14C-9B73-8104CA1E6DF0}"/>
              </a:ext>
            </a:extLst>
          </p:cNvPr>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297992978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93758-CDB8-B537-E221-E1EE86F65722}"/>
            </a:ext>
          </a:extLst>
        </p:cNvPr>
        <p:cNvGrpSpPr/>
        <p:nvPr/>
      </p:nvGrpSpPr>
      <p:grpSpPr>
        <a:xfrm>
          <a:off x="0" y="0"/>
          <a:ext cx="0" cy="0"/>
          <a:chOff x="0" y="0"/>
          <a:chExt cx="0" cy="0"/>
        </a:xfrm>
      </p:grpSpPr>
      <p:sp>
        <p:nvSpPr>
          <p:cNvPr id="2" name="Text Box 1">
            <a:extLst>
              <a:ext uri="{FF2B5EF4-FFF2-40B4-BE49-F238E27FC236}">
                <a16:creationId xmlns:a16="http://schemas.microsoft.com/office/drawing/2014/main" id="{E32CD837-6D76-81A6-5B7A-DCB96E14E315}"/>
              </a:ext>
            </a:extLst>
          </p:cNvPr>
          <p:cNvSpPr txBox="1"/>
          <p:nvPr/>
        </p:nvSpPr>
        <p:spPr>
          <a:xfrm>
            <a:off x="1222199" y="923759"/>
            <a:ext cx="4441680" cy="3330720"/>
          </a:xfrm>
          <a:prstGeom prst="rect">
            <a:avLst/>
          </a:prstGeom>
          <a:solidFill>
            <a:srgbClr val="FFFFFF"/>
          </a:solidFill>
          <a:ln w="9360" cap="sq">
            <a:solidFill>
              <a:srgbClr val="000000"/>
            </a:solidFill>
            <a:prstDash val="solid"/>
            <a:miter/>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3" name="Text Box 2">
            <a:extLst>
              <a:ext uri="{FF2B5EF4-FFF2-40B4-BE49-F238E27FC236}">
                <a16:creationId xmlns:a16="http://schemas.microsoft.com/office/drawing/2014/main" id="{6714A143-9A93-B464-6D14-4A67CEF89623}"/>
              </a:ext>
            </a:extLst>
          </p:cNvPr>
          <p:cNvSpPr txBox="1"/>
          <p:nvPr/>
        </p:nvSpPr>
        <p:spPr>
          <a:xfrm>
            <a:off x="1066680" y="4578479"/>
            <a:ext cx="4759200" cy="369576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4" name="Notizenplatzhalter 3">
            <a:extLst>
              <a:ext uri="{FF2B5EF4-FFF2-40B4-BE49-F238E27FC236}">
                <a16:creationId xmlns:a16="http://schemas.microsoft.com/office/drawing/2014/main" id="{C3BEB3B7-C0C5-766A-8A76-42A9F12837F3}"/>
              </a:ext>
            </a:extLst>
          </p:cNvPr>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120152863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3F7CE-B33A-C39A-E5B6-B43DD7A1977B}"/>
            </a:ext>
          </a:extLst>
        </p:cNvPr>
        <p:cNvGrpSpPr/>
        <p:nvPr/>
      </p:nvGrpSpPr>
      <p:grpSpPr>
        <a:xfrm>
          <a:off x="0" y="0"/>
          <a:ext cx="0" cy="0"/>
          <a:chOff x="0" y="0"/>
          <a:chExt cx="0" cy="0"/>
        </a:xfrm>
      </p:grpSpPr>
      <p:sp>
        <p:nvSpPr>
          <p:cNvPr id="2" name="Text Box 1">
            <a:extLst>
              <a:ext uri="{FF2B5EF4-FFF2-40B4-BE49-F238E27FC236}">
                <a16:creationId xmlns:a16="http://schemas.microsoft.com/office/drawing/2014/main" id="{253B64E6-6650-A166-AB29-816A31DEDD63}"/>
              </a:ext>
            </a:extLst>
          </p:cNvPr>
          <p:cNvSpPr txBox="1"/>
          <p:nvPr/>
        </p:nvSpPr>
        <p:spPr>
          <a:xfrm>
            <a:off x="1222199" y="923759"/>
            <a:ext cx="4441680" cy="3330720"/>
          </a:xfrm>
          <a:prstGeom prst="rect">
            <a:avLst/>
          </a:prstGeom>
          <a:solidFill>
            <a:srgbClr val="FFFFFF"/>
          </a:solidFill>
          <a:ln w="9360" cap="sq">
            <a:solidFill>
              <a:srgbClr val="000000"/>
            </a:solidFill>
            <a:prstDash val="solid"/>
            <a:miter/>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3" name="Text Box 2">
            <a:extLst>
              <a:ext uri="{FF2B5EF4-FFF2-40B4-BE49-F238E27FC236}">
                <a16:creationId xmlns:a16="http://schemas.microsoft.com/office/drawing/2014/main" id="{688F90B1-9B66-FC1B-5EB4-C859CE614C10}"/>
              </a:ext>
            </a:extLst>
          </p:cNvPr>
          <p:cNvSpPr txBox="1"/>
          <p:nvPr/>
        </p:nvSpPr>
        <p:spPr>
          <a:xfrm>
            <a:off x="1066680" y="4578479"/>
            <a:ext cx="4759200" cy="369576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4" name="Notizenplatzhalter 3">
            <a:extLst>
              <a:ext uri="{FF2B5EF4-FFF2-40B4-BE49-F238E27FC236}">
                <a16:creationId xmlns:a16="http://schemas.microsoft.com/office/drawing/2014/main" id="{E01C0B63-943C-D700-33A3-9148E5F14FE6}"/>
              </a:ext>
            </a:extLst>
          </p:cNvPr>
          <p:cNvSpPr>
            <a:spLocks noGrp="1"/>
          </p:cNvSpPr>
          <p:nvPr>
            <p:ph type="body" idx="1"/>
          </p:nvPr>
        </p:nvSpPr>
        <p:spPr/>
        <p:txBody>
          <a:bodyPr/>
          <a:lstStyle/>
          <a:p>
            <a:r>
              <a:rPr lang="de-DE" dirty="0"/>
              <a:t>Der </a:t>
            </a:r>
            <a:r>
              <a:rPr lang="de-DE" dirty="0" err="1"/>
              <a:t>Cutoff</a:t>
            </a:r>
            <a:r>
              <a:rPr lang="de-DE" dirty="0"/>
              <a:t>-Parameter bestimmt die Frequenzgrenze, ab der gefiltert wird.</a:t>
            </a:r>
          </a:p>
        </p:txBody>
      </p:sp>
    </p:spTree>
    <p:extLst>
      <p:ext uri="{BB962C8B-B14F-4D97-AF65-F5344CB8AC3E}">
        <p14:creationId xmlns:p14="http://schemas.microsoft.com/office/powerpoint/2010/main" val="36447945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476729E6-C6B1-8C42-ACCC-0EB0E4CD2037}"/>
              </a:ext>
            </a:extLst>
          </p:cNvPr>
          <p:cNvSpPr txBox="1"/>
          <p:nvPr/>
        </p:nvSpPr>
        <p:spPr>
          <a:xfrm>
            <a:off x="1222199" y="923759"/>
            <a:ext cx="4441680" cy="3330720"/>
          </a:xfrm>
          <a:prstGeom prst="rect">
            <a:avLst/>
          </a:prstGeom>
          <a:solidFill>
            <a:srgbClr val="FFFFFF"/>
          </a:solidFill>
          <a:ln w="9360" cap="sq">
            <a:solidFill>
              <a:srgbClr val="000000"/>
            </a:solidFill>
            <a:prstDash val="solid"/>
            <a:miter/>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3" name="Text Box 2">
            <a:extLst>
              <a:ext uri="{FF2B5EF4-FFF2-40B4-BE49-F238E27FC236}">
                <a16:creationId xmlns:a16="http://schemas.microsoft.com/office/drawing/2014/main" id="{0E62893B-6AF6-594E-A65E-5158EDDC7EC3}"/>
              </a:ext>
            </a:extLst>
          </p:cNvPr>
          <p:cNvSpPr txBox="1"/>
          <p:nvPr/>
        </p:nvSpPr>
        <p:spPr>
          <a:xfrm>
            <a:off x="1066680" y="4578479"/>
            <a:ext cx="4759200" cy="369576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4" name="Notizenplatzhalter 3">
            <a:extLst>
              <a:ext uri="{FF2B5EF4-FFF2-40B4-BE49-F238E27FC236}">
                <a16:creationId xmlns:a16="http://schemas.microsoft.com/office/drawing/2014/main" id="{8C5455DD-4906-0F48-8500-2F8F3BC23F2A}"/>
              </a:ext>
            </a:extLst>
          </p:cNvPr>
          <p:cNvSpPr>
            <a:spLocks noGrp="1"/>
          </p:cNvSpPr>
          <p:nvPr>
            <p:ph type="body" idx="1"/>
          </p:nvPr>
        </p:nvSpPr>
        <p:spPr/>
        <p:txBody>
          <a:bodyPr>
            <a:normAutofit fontScale="92500" lnSpcReduction="10000"/>
          </a:bodyPr>
          <a:lstStyle/>
          <a:p>
            <a:r>
              <a:rPr lang="de-DE" dirty="0"/>
              <a:t>Mit der Flankensteilheit wird beschrieben, wie steil bzw. stark das Filter ab der </a:t>
            </a:r>
            <a:r>
              <a:rPr lang="de-DE" dirty="0" err="1"/>
              <a:t>Cutoff</a:t>
            </a:r>
            <a:r>
              <a:rPr lang="de-DE" dirty="0"/>
              <a:t>-Frequenz reagiert: Je höher die Flankensteilheit, desto höher die Filterwirkung. Die Flankensteilheit kann auch durch </a:t>
            </a:r>
            <a:r>
              <a:rPr lang="de-DE" dirty="0" err="1"/>
              <a:t>Nacheinanderschalten</a:t>
            </a:r>
            <a:r>
              <a:rPr lang="de-DE" dirty="0"/>
              <a:t> von mehreren gleichartigen Filtern erhöht werden. Dabei werden die </a:t>
            </a:r>
            <a:r>
              <a:rPr lang="de-DE" dirty="0" err="1"/>
              <a:t>Flankensteilheiten</a:t>
            </a:r>
            <a:r>
              <a:rPr lang="de-DE" dirty="0"/>
              <a:t> der einzelnen Filter zusammenaddiert. Beispielsweise ergibt die Reihenschaltung von drei 3 Tiefpässen mit jeweiligen </a:t>
            </a:r>
            <a:r>
              <a:rPr lang="de-DE" dirty="0" err="1"/>
              <a:t>Flankensteilheiten</a:t>
            </a:r>
            <a:r>
              <a:rPr lang="de-DE" dirty="0"/>
              <a:t> von 6 </a:t>
            </a:r>
            <a:r>
              <a:rPr lang="de-DE" dirty="0" err="1"/>
              <a:t>db</a:t>
            </a:r>
            <a:r>
              <a:rPr lang="de-DE" dirty="0"/>
              <a:t>/</a:t>
            </a:r>
            <a:r>
              <a:rPr lang="de-DE" dirty="0" err="1"/>
              <a:t>Oct</a:t>
            </a:r>
            <a:r>
              <a:rPr lang="de-DE" dirty="0"/>
              <a:t> einen Tiefpass mit der Flankensteilheit von 18 </a:t>
            </a:r>
            <a:r>
              <a:rPr lang="de-DE" dirty="0" err="1"/>
              <a:t>db</a:t>
            </a:r>
            <a:r>
              <a:rPr lang="de-DE" dirty="0"/>
              <a:t>/</a:t>
            </a:r>
            <a:r>
              <a:rPr lang="de-DE" dirty="0" err="1"/>
              <a:t>Oct</a:t>
            </a:r>
            <a:r>
              <a:rPr lang="de-DE" dirty="0"/>
              <a:t>.</a:t>
            </a:r>
          </a:p>
          <a:p>
            <a:endParaRPr lang="de-DE" dirty="0"/>
          </a:p>
          <a:p>
            <a:r>
              <a:rPr lang="de-DE" dirty="0"/>
              <a:t>Eine andere Beschreibung der Flankensteilheit wird in Polen durchgeführt. Dabei entspricht ein 1-Pol-Filter einem Filter mit einer Flankensteilheit von 6 </a:t>
            </a:r>
            <a:r>
              <a:rPr lang="de-DE" dirty="0" err="1"/>
              <a:t>db</a:t>
            </a:r>
            <a:r>
              <a:rPr lang="de-DE" dirty="0"/>
              <a:t>/</a:t>
            </a:r>
            <a:r>
              <a:rPr lang="de-DE" dirty="0" err="1"/>
              <a:t>Oct</a:t>
            </a:r>
            <a:r>
              <a:rPr lang="de-DE" dirty="0"/>
              <a:t> - dementsprechend steht ein 4-Pol-Filter für ein Filter mit einer Flankensteilheit von 24 </a:t>
            </a:r>
            <a:r>
              <a:rPr lang="de-DE" dirty="0" err="1"/>
              <a:t>db</a:t>
            </a:r>
            <a:r>
              <a:rPr lang="de-DE" dirty="0"/>
              <a:t>/</a:t>
            </a:r>
            <a:r>
              <a:rPr lang="de-DE" dirty="0" err="1"/>
              <a:t>Oct</a:t>
            </a:r>
            <a:r>
              <a:rPr lang="de-DE" dirty="0"/>
              <a:t>.</a:t>
            </a:r>
          </a:p>
          <a:p>
            <a:endParaRPr lang="de-DE" dirty="0"/>
          </a:p>
          <a:p>
            <a:endParaRPr lang="de-DE" dirty="0"/>
          </a:p>
        </p:txBody>
      </p:sp>
    </p:spTree>
    <p:extLst>
      <p:ext uri="{BB962C8B-B14F-4D97-AF65-F5344CB8AC3E}">
        <p14:creationId xmlns:p14="http://schemas.microsoft.com/office/powerpoint/2010/main" val="8134534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476729E6-C6B1-8C42-ACCC-0EB0E4CD2037}"/>
              </a:ext>
            </a:extLst>
          </p:cNvPr>
          <p:cNvSpPr txBox="1"/>
          <p:nvPr/>
        </p:nvSpPr>
        <p:spPr>
          <a:xfrm>
            <a:off x="1222199" y="923759"/>
            <a:ext cx="4441680" cy="3330720"/>
          </a:xfrm>
          <a:prstGeom prst="rect">
            <a:avLst/>
          </a:prstGeom>
          <a:solidFill>
            <a:srgbClr val="FFFFFF"/>
          </a:solidFill>
          <a:ln w="9360" cap="sq">
            <a:solidFill>
              <a:srgbClr val="000000"/>
            </a:solidFill>
            <a:prstDash val="solid"/>
            <a:miter/>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3" name="Text Box 2">
            <a:extLst>
              <a:ext uri="{FF2B5EF4-FFF2-40B4-BE49-F238E27FC236}">
                <a16:creationId xmlns:a16="http://schemas.microsoft.com/office/drawing/2014/main" id="{0E62893B-6AF6-594E-A65E-5158EDDC7EC3}"/>
              </a:ext>
            </a:extLst>
          </p:cNvPr>
          <p:cNvSpPr txBox="1"/>
          <p:nvPr/>
        </p:nvSpPr>
        <p:spPr>
          <a:xfrm>
            <a:off x="1066680" y="4578479"/>
            <a:ext cx="4759200" cy="369576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4" name="Notizenplatzhalter 3">
            <a:extLst>
              <a:ext uri="{FF2B5EF4-FFF2-40B4-BE49-F238E27FC236}">
                <a16:creationId xmlns:a16="http://schemas.microsoft.com/office/drawing/2014/main" id="{10DDB7E5-89D6-0842-9BD7-5F6CCD9CBF84}"/>
              </a:ext>
            </a:extLst>
          </p:cNvPr>
          <p:cNvSpPr>
            <a:spLocks noGrp="1"/>
          </p:cNvSpPr>
          <p:nvPr>
            <p:ph type="body" idx="1"/>
          </p:nvPr>
        </p:nvSpPr>
        <p:spPr/>
        <p:txBody>
          <a:bodyPr>
            <a:normAutofit fontScale="62500" lnSpcReduction="20000"/>
          </a:bodyPr>
          <a:lstStyle/>
          <a:p>
            <a:pPr rtl="0"/>
            <a:r>
              <a:rPr lang="de-AT" dirty="0"/>
              <a:t>Ein Filter ohne Resonanz lässt den Pegel zur Eckfrequenz hin sanft abfallen. Mit mehr Resonanz entsteht kurz vor und an der Eckfrequenz eine </a:t>
            </a:r>
            <a:r>
              <a:rPr lang="de-AT" b="1" dirty="0"/>
              <a:t>Spitze</a:t>
            </a:r>
            <a:r>
              <a:rPr lang="de-AT" dirty="0"/>
              <a:t>, danach fällt die Kurve wie gewohnt ab. Je höher Q, desto schmaler und höher die Spitze.</a:t>
            </a:r>
          </a:p>
          <a:p>
            <a:pPr rtl="0"/>
            <a:endParaRPr lang="de-AT" dirty="0"/>
          </a:p>
          <a:p>
            <a:pPr rtl="0"/>
            <a:r>
              <a:rPr lang="de-AT" b="1" dirty="0"/>
              <a:t>Wichtige Q-Werte (Tiefpass 2. Ordnung):</a:t>
            </a:r>
          </a:p>
          <a:p>
            <a:pPr rtl="0"/>
            <a:endParaRPr lang="de-AT" dirty="0"/>
          </a:p>
          <a:p>
            <a:pPr lvl="0" rtl="0"/>
            <a:r>
              <a:rPr lang="de-AT" b="1" dirty="0"/>
              <a:t>Q = 0,5:</a:t>
            </a:r>
            <a:r>
              <a:rPr lang="de-AT" dirty="0"/>
              <a:t> kritisch gedämpft, keine Überhöhung, bei der Eckfrequenz −6 dB (Linkwitz-Riley)</a:t>
            </a:r>
          </a:p>
          <a:p>
            <a:pPr lvl="0" rtl="0"/>
            <a:r>
              <a:rPr lang="de-AT" b="1" dirty="0"/>
              <a:t>Q ≈ 0,707:</a:t>
            </a:r>
            <a:r>
              <a:rPr lang="de-AT" dirty="0"/>
              <a:t> Butterworth, der flachste Verlauf ohne Überhöhung, bei der Eckfrequenz −3 dB. Das ist die klassische Definition der </a:t>
            </a:r>
            <a:r>
              <a:rPr lang="de-AT" dirty="0" err="1"/>
              <a:t>Cutoff</a:t>
            </a:r>
            <a:r>
              <a:rPr lang="de-AT" dirty="0"/>
              <a:t>-Frequenz.</a:t>
            </a:r>
          </a:p>
          <a:p>
            <a:pPr lvl="0" rtl="0"/>
            <a:r>
              <a:rPr lang="de-AT" b="1" dirty="0"/>
              <a:t>Q = 1:</a:t>
            </a:r>
            <a:r>
              <a:rPr lang="de-AT" dirty="0"/>
              <a:t> bei der Eckfrequenz 0 dB, darüber eine leichte Spitze</a:t>
            </a:r>
          </a:p>
          <a:p>
            <a:pPr lvl="0" rtl="0"/>
            <a:r>
              <a:rPr lang="de-AT" b="1" dirty="0"/>
              <a:t>Q = 10:</a:t>
            </a:r>
            <a:r>
              <a:rPr lang="de-AT" dirty="0"/>
              <a:t> bei der Eckfrequenz etwa +20 dB, ein deutlicher Peak</a:t>
            </a:r>
          </a:p>
          <a:p>
            <a:pPr marL="195934" marR="0" lvl="0" indent="-195934" defTabSz="914400" rtl="0" eaLnBrk="1" fontAlgn="auto" latinLnBrk="0" hangingPunct="0">
              <a:lnSpc>
                <a:spcPct val="100000"/>
              </a:lnSpc>
              <a:spcBef>
                <a:spcPts val="0"/>
              </a:spcBef>
              <a:spcAft>
                <a:spcPts val="0"/>
              </a:spcAft>
              <a:buClrTx/>
              <a:buSzTx/>
              <a:buFontTx/>
              <a:buNone/>
              <a:tabLst/>
              <a:defRPr/>
            </a:pPr>
            <a:endParaRPr lang="de-DE" dirty="0"/>
          </a:p>
          <a:p>
            <a:pPr marL="195934" marR="0" lvl="0" indent="-195934" defTabSz="914400" rtl="0" eaLnBrk="1" fontAlgn="auto" latinLnBrk="0" hangingPunct="0">
              <a:lnSpc>
                <a:spcPct val="100000"/>
              </a:lnSpc>
              <a:spcBef>
                <a:spcPts val="0"/>
              </a:spcBef>
              <a:spcAft>
                <a:spcPts val="0"/>
              </a:spcAft>
              <a:buClrTx/>
              <a:buSzTx/>
              <a:buFontTx/>
              <a:buNone/>
              <a:tabLst/>
              <a:defRPr/>
            </a:pPr>
            <a:r>
              <a:rPr lang="de-DE" dirty="0"/>
              <a:t>Mit dem Resonanz-Regler wird der Bereich um die </a:t>
            </a:r>
            <a:r>
              <a:rPr lang="de-DE" dirty="0" err="1"/>
              <a:t>Cutoff</a:t>
            </a:r>
            <a:r>
              <a:rPr lang="de-DE" dirty="0"/>
              <a:t>-Frequenz angehoben. Bei maximaler Resonanz (</a:t>
            </a:r>
            <a:r>
              <a:rPr lang="de-DE" dirty="0" err="1"/>
              <a:t>Selbsoszillation</a:t>
            </a:r>
            <a:r>
              <a:rPr lang="de-DE" dirty="0"/>
              <a:t>) erzeugen die meisten Filter einen Sinuston mit der Tonhöhe der eingestellten </a:t>
            </a:r>
            <a:r>
              <a:rPr lang="de-DE" dirty="0" err="1"/>
              <a:t>Cutoff</a:t>
            </a:r>
            <a:r>
              <a:rPr lang="de-DE" dirty="0"/>
              <a:t>-Frequenz.</a:t>
            </a:r>
          </a:p>
          <a:p>
            <a:pPr marL="195934" marR="0" lvl="0" indent="-195934" defTabSz="914400" rtl="0" eaLnBrk="1" fontAlgn="auto" latinLnBrk="0" hangingPunct="0">
              <a:lnSpc>
                <a:spcPct val="100000"/>
              </a:lnSpc>
              <a:spcBef>
                <a:spcPts val="0"/>
              </a:spcBef>
              <a:spcAft>
                <a:spcPts val="0"/>
              </a:spcAft>
              <a:buClrTx/>
              <a:buSzTx/>
              <a:buFontTx/>
              <a:buNone/>
              <a:tabLst/>
              <a:defRPr/>
            </a:pPr>
            <a:endParaRPr lang="de-DE" dirty="0"/>
          </a:p>
        </p:txBody>
      </p:sp>
    </p:spTree>
    <p:extLst>
      <p:ext uri="{BB962C8B-B14F-4D97-AF65-F5344CB8AC3E}">
        <p14:creationId xmlns:p14="http://schemas.microsoft.com/office/powerpoint/2010/main" val="25482288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476729E6-C6B1-8C42-ACCC-0EB0E4CD2037}"/>
              </a:ext>
            </a:extLst>
          </p:cNvPr>
          <p:cNvSpPr txBox="1"/>
          <p:nvPr/>
        </p:nvSpPr>
        <p:spPr>
          <a:xfrm>
            <a:off x="1222199" y="923759"/>
            <a:ext cx="4441680" cy="3330720"/>
          </a:xfrm>
          <a:prstGeom prst="rect">
            <a:avLst/>
          </a:prstGeom>
          <a:solidFill>
            <a:srgbClr val="FFFFFF"/>
          </a:solidFill>
          <a:ln w="9360" cap="sq">
            <a:solidFill>
              <a:srgbClr val="000000"/>
            </a:solidFill>
            <a:prstDash val="solid"/>
            <a:miter/>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3" name="Text Box 2">
            <a:extLst>
              <a:ext uri="{FF2B5EF4-FFF2-40B4-BE49-F238E27FC236}">
                <a16:creationId xmlns:a16="http://schemas.microsoft.com/office/drawing/2014/main" id="{0E62893B-6AF6-594E-A65E-5158EDDC7EC3}"/>
              </a:ext>
            </a:extLst>
          </p:cNvPr>
          <p:cNvSpPr txBox="1"/>
          <p:nvPr/>
        </p:nvSpPr>
        <p:spPr>
          <a:xfrm>
            <a:off x="1066680" y="4578479"/>
            <a:ext cx="4759200" cy="369576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FAF02B3F-9E8D-EA4A-BA27-12FFCE86EE77}"/>
              </a:ext>
            </a:extLst>
          </p:cNvPr>
          <p:cNvSpPr txBox="1"/>
          <p:nvPr/>
        </p:nvSpPr>
        <p:spPr>
          <a:xfrm>
            <a:off x="1222199" y="923759"/>
            <a:ext cx="4441680" cy="3330720"/>
          </a:xfrm>
          <a:prstGeom prst="rect">
            <a:avLst/>
          </a:prstGeom>
          <a:solidFill>
            <a:srgbClr val="FFFFFF"/>
          </a:solidFill>
          <a:ln w="9360" cap="sq">
            <a:solidFill>
              <a:srgbClr val="000000"/>
            </a:solidFill>
            <a:prstDash val="solid"/>
            <a:miter/>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3" name="Text Box 2">
            <a:extLst>
              <a:ext uri="{FF2B5EF4-FFF2-40B4-BE49-F238E27FC236}">
                <a16:creationId xmlns:a16="http://schemas.microsoft.com/office/drawing/2014/main" id="{7FD89701-B645-A044-918C-83054DBCBB61}"/>
              </a:ext>
            </a:extLst>
          </p:cNvPr>
          <p:cNvSpPr txBox="1"/>
          <p:nvPr/>
        </p:nvSpPr>
        <p:spPr>
          <a:xfrm>
            <a:off x="1066680" y="4578479"/>
            <a:ext cx="4759200" cy="369576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7EC0A694-4A96-CC4F-9900-05B6B63B35D2}"/>
              </a:ext>
            </a:extLst>
          </p:cNvPr>
          <p:cNvSpPr txBox="1"/>
          <p:nvPr/>
        </p:nvSpPr>
        <p:spPr>
          <a:xfrm>
            <a:off x="1222199" y="923759"/>
            <a:ext cx="4441680" cy="3330720"/>
          </a:xfrm>
          <a:prstGeom prst="rect">
            <a:avLst/>
          </a:prstGeom>
          <a:solidFill>
            <a:srgbClr val="FFFFFF"/>
          </a:solidFill>
          <a:ln w="9360" cap="sq">
            <a:solidFill>
              <a:srgbClr val="000000"/>
            </a:solidFill>
            <a:prstDash val="solid"/>
            <a:miter/>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3" name="Text Box 2">
            <a:extLst>
              <a:ext uri="{FF2B5EF4-FFF2-40B4-BE49-F238E27FC236}">
                <a16:creationId xmlns:a16="http://schemas.microsoft.com/office/drawing/2014/main" id="{49211BE7-2B30-2942-BE5F-AAEAAF27528F}"/>
              </a:ext>
            </a:extLst>
          </p:cNvPr>
          <p:cNvSpPr txBox="1"/>
          <p:nvPr/>
        </p:nvSpPr>
        <p:spPr>
          <a:xfrm>
            <a:off x="1066680" y="4578479"/>
            <a:ext cx="4759200" cy="369576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4C11696D-DEC1-5D47-9844-4C5742888103}"/>
              </a:ext>
            </a:extLst>
          </p:cNvPr>
          <p:cNvSpPr txBox="1"/>
          <p:nvPr/>
        </p:nvSpPr>
        <p:spPr>
          <a:xfrm>
            <a:off x="1222199" y="923759"/>
            <a:ext cx="4441680" cy="3330720"/>
          </a:xfrm>
          <a:prstGeom prst="rect">
            <a:avLst/>
          </a:prstGeom>
          <a:solidFill>
            <a:srgbClr val="FFFFFF"/>
          </a:solidFill>
          <a:ln w="9360" cap="sq">
            <a:solidFill>
              <a:srgbClr val="000000"/>
            </a:solidFill>
            <a:prstDash val="solid"/>
            <a:miter/>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3" name="Text Box 2">
            <a:extLst>
              <a:ext uri="{FF2B5EF4-FFF2-40B4-BE49-F238E27FC236}">
                <a16:creationId xmlns:a16="http://schemas.microsoft.com/office/drawing/2014/main" id="{2D01F8EF-9F61-F549-BE93-A81D89C6F21B}"/>
              </a:ext>
            </a:extLst>
          </p:cNvPr>
          <p:cNvSpPr txBox="1"/>
          <p:nvPr/>
        </p:nvSpPr>
        <p:spPr>
          <a:xfrm>
            <a:off x="1066680" y="4578479"/>
            <a:ext cx="4759200" cy="369576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4" name="Notizenplatzhalter 3">
            <a:extLst>
              <a:ext uri="{FF2B5EF4-FFF2-40B4-BE49-F238E27FC236}">
                <a16:creationId xmlns:a16="http://schemas.microsoft.com/office/drawing/2014/main" id="{CEEF70CD-577D-4A4B-94C7-2281C1647E7D}"/>
              </a:ext>
            </a:extLst>
          </p:cNvPr>
          <p:cNvSpPr>
            <a:spLocks noGrp="1"/>
          </p:cNvSpPr>
          <p:nvPr>
            <p:ph type="body" idx="1"/>
          </p:nvPr>
        </p:nvSpPr>
        <p:spPr/>
        <p:txBody>
          <a:bodyPr/>
          <a:lstStyle/>
          <a:p>
            <a:r>
              <a:rPr lang="de-DE" sz="1814" b="0" i="0" u="none" strike="noStrike" kern="1200" cap="none" dirty="0">
                <a:ln>
                  <a:noFill/>
                </a:ln>
                <a:effectLst/>
                <a:latin typeface="Arial Regular"/>
                <a:ea typeface="PingFang SC" pitchFamily="2"/>
                <a:cs typeface="Arial Unicode MS" pitchFamily="2"/>
              </a:rPr>
              <a:t>Das Frequenzbereichsspektrum eines amplitudenmodulierten Signals zeigt: Die beiden Seitenbänder sind Summen- und Differenzfrequenzen des Trägers und Modulators, C und M, und haben Amplituden bei der halben Amplitude des Trägersignals.</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4C11696D-DEC1-5D47-9844-4C5742888103}"/>
              </a:ext>
            </a:extLst>
          </p:cNvPr>
          <p:cNvSpPr txBox="1"/>
          <p:nvPr/>
        </p:nvSpPr>
        <p:spPr>
          <a:xfrm>
            <a:off x="1222199" y="923759"/>
            <a:ext cx="4441680" cy="3330720"/>
          </a:xfrm>
          <a:prstGeom prst="rect">
            <a:avLst/>
          </a:prstGeom>
          <a:solidFill>
            <a:srgbClr val="FFFFFF"/>
          </a:solidFill>
          <a:ln w="9360" cap="sq">
            <a:solidFill>
              <a:srgbClr val="000000"/>
            </a:solidFill>
            <a:prstDash val="solid"/>
            <a:miter/>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3" name="Text Box 2">
            <a:extLst>
              <a:ext uri="{FF2B5EF4-FFF2-40B4-BE49-F238E27FC236}">
                <a16:creationId xmlns:a16="http://schemas.microsoft.com/office/drawing/2014/main" id="{2D01F8EF-9F61-F549-BE93-A81D89C6F21B}"/>
              </a:ext>
            </a:extLst>
          </p:cNvPr>
          <p:cNvSpPr txBox="1"/>
          <p:nvPr/>
        </p:nvSpPr>
        <p:spPr>
          <a:xfrm>
            <a:off x="1066680" y="4578479"/>
            <a:ext cx="4759200" cy="369576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4" name="Notizenplatzhalter 3">
            <a:extLst>
              <a:ext uri="{FF2B5EF4-FFF2-40B4-BE49-F238E27FC236}">
                <a16:creationId xmlns:a16="http://schemas.microsoft.com/office/drawing/2014/main" id="{160ED304-0F66-0D44-8E80-53D39C64AFD1}"/>
              </a:ext>
            </a:extLst>
          </p:cNvPr>
          <p:cNvSpPr>
            <a:spLocks noGrp="1"/>
          </p:cNvSpPr>
          <p:nvPr>
            <p:ph type="body" idx="1"/>
          </p:nvPr>
        </p:nvSpPr>
        <p:spPr/>
        <p:txBody>
          <a:bodyPr>
            <a:normAutofit fontScale="92500" lnSpcReduction="10000"/>
          </a:bodyPr>
          <a:lstStyle/>
          <a:p>
            <a:r>
              <a:rPr lang="de-DE" sz="1814" b="0" i="0" u="none" strike="noStrike" kern="1200" cap="none" dirty="0">
                <a:ln>
                  <a:noFill/>
                </a:ln>
                <a:effectLst/>
                <a:latin typeface="Arial Regular"/>
                <a:ea typeface="PingFang SC" pitchFamily="2"/>
                <a:cs typeface="Arial Unicode MS" pitchFamily="2"/>
              </a:rPr>
              <a:t>Wenn die Frequenz von M im hörbaren Bereich liegt, also 20 Hz oder mehr, wirkt sich dies auf die Klangfarbe des Signals aus. Die Amplitudenschwankungen werden schnell genug, dass der Modulator eine Reihe von Frequenzseitenbändern erzeugt. Mit zwei Sinuswellen als Träger und Modulator erzeugt RM ein Frequenzspektrum, das zwei Seitenbänder enthält, die die Summe und Differenz der Träger- und </a:t>
            </a:r>
            <a:r>
              <a:rPr lang="de-DE" sz="1814" b="0" i="0" u="none" strike="noStrike" kern="1200" cap="none" dirty="0" err="1">
                <a:ln>
                  <a:noFill/>
                </a:ln>
                <a:effectLst/>
                <a:latin typeface="Arial Regular"/>
                <a:ea typeface="PingFang SC" pitchFamily="2"/>
                <a:cs typeface="Arial Unicode MS" pitchFamily="2"/>
              </a:rPr>
              <a:t>Modulatorfrequenzen</a:t>
            </a:r>
            <a:r>
              <a:rPr lang="de-DE" sz="1814" b="0" i="0" u="none" strike="noStrike" kern="1200" cap="none" dirty="0">
                <a:ln>
                  <a:noFill/>
                </a:ln>
                <a:effectLst/>
                <a:latin typeface="Arial Regular"/>
                <a:ea typeface="PingFang SC" pitchFamily="2"/>
                <a:cs typeface="Arial Unicode MS" pitchFamily="2"/>
              </a:rPr>
              <a:t> darstellen. In diesem Fall wird die tatsächliche Trägerfrequenz aus dem Spektrum entfernt, so dass zwei harmonische Seitenbänder (wenn die Frequenz von C und M ein ganzzahliges Verhältnis zueinander haben) oder zwei </a:t>
            </a:r>
            <a:r>
              <a:rPr lang="de-DE" sz="1814" b="0" i="0" u="none" strike="noStrike" kern="1200" cap="none" dirty="0" err="1">
                <a:ln>
                  <a:noFill/>
                </a:ln>
                <a:effectLst/>
                <a:latin typeface="Arial Regular"/>
                <a:ea typeface="PingFang SC" pitchFamily="2"/>
                <a:cs typeface="Arial Unicode MS" pitchFamily="2"/>
              </a:rPr>
              <a:t>inharmonische</a:t>
            </a:r>
            <a:r>
              <a:rPr lang="de-DE" sz="1814" b="0" i="0" u="none" strike="noStrike" kern="1200" cap="none" dirty="0">
                <a:ln>
                  <a:noFill/>
                </a:ln>
                <a:effectLst/>
                <a:latin typeface="Arial Regular"/>
                <a:ea typeface="PingFang SC" pitchFamily="2"/>
                <a:cs typeface="Arial Unicode MS" pitchFamily="2"/>
              </a:rPr>
              <a:t> Seitenbänder (wenn das Verhältnis anders ist) übrig bleiben. Wenn der Träger beispielsweise 900 Hz und der Modulator 500 Hz beträgt, erhalten wir zwei Seitenbänder; eines bei 400 Hz (900 - 500) und eines bei 1400 Hz (900 + 500).</a:t>
            </a:r>
            <a:endParaRPr lang="de-DE" dirty="0"/>
          </a:p>
        </p:txBody>
      </p:sp>
    </p:spTree>
    <p:extLst>
      <p:ext uri="{BB962C8B-B14F-4D97-AF65-F5344CB8AC3E}">
        <p14:creationId xmlns:p14="http://schemas.microsoft.com/office/powerpoint/2010/main" val="340155793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49E9E49E-D6A4-BD42-9C31-0D42879DF623}"/>
              </a:ext>
            </a:extLst>
          </p:cNvPr>
          <p:cNvSpPr txBox="1"/>
          <p:nvPr/>
        </p:nvSpPr>
        <p:spPr>
          <a:xfrm>
            <a:off x="1222199" y="923759"/>
            <a:ext cx="4441680" cy="3330720"/>
          </a:xfrm>
          <a:prstGeom prst="rect">
            <a:avLst/>
          </a:prstGeom>
          <a:solidFill>
            <a:srgbClr val="FFFFFF"/>
          </a:solidFill>
          <a:ln w="9360" cap="sq">
            <a:solidFill>
              <a:srgbClr val="000000"/>
            </a:solidFill>
            <a:prstDash val="solid"/>
            <a:miter/>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3" name="Text Box 2">
            <a:extLst>
              <a:ext uri="{FF2B5EF4-FFF2-40B4-BE49-F238E27FC236}">
                <a16:creationId xmlns:a16="http://schemas.microsoft.com/office/drawing/2014/main" id="{C24DC6D5-9729-7740-9AED-B474DEEC9AF5}"/>
              </a:ext>
            </a:extLst>
          </p:cNvPr>
          <p:cNvSpPr txBox="1"/>
          <p:nvPr/>
        </p:nvSpPr>
        <p:spPr>
          <a:xfrm>
            <a:off x="1066680" y="4578479"/>
            <a:ext cx="4759200" cy="369576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4" name="Notizenplatzhalter 3">
            <a:extLst>
              <a:ext uri="{FF2B5EF4-FFF2-40B4-BE49-F238E27FC236}">
                <a16:creationId xmlns:a16="http://schemas.microsoft.com/office/drawing/2014/main" id="{FADBA69B-EF3A-047F-488A-BA2FE49A8D5A}"/>
              </a:ext>
            </a:extLst>
          </p:cNvPr>
          <p:cNvSpPr>
            <a:spLocks noGrp="1"/>
          </p:cNvSpPr>
          <p:nvPr>
            <p:ph type="body" idx="1"/>
          </p:nvPr>
        </p:nvSpPr>
        <p:spPr/>
        <p:txBody>
          <a:bodyPr>
            <a:normAutofit fontScale="62500" lnSpcReduction="20000"/>
          </a:bodyPr>
          <a:lstStyle/>
          <a:p>
            <a:pPr rtl="0"/>
            <a:r>
              <a:rPr lang="de-AT" dirty="0"/>
              <a:t>Bei der Frequenzmodulation (FM) wird die </a:t>
            </a:r>
            <a:r>
              <a:rPr lang="de-AT" b="1" dirty="0"/>
              <a:t>Frequenz eines Trägers (Carrier)</a:t>
            </a:r>
            <a:r>
              <a:rPr lang="de-AT" dirty="0"/>
              <a:t> von einem zweiten Signal, dem </a:t>
            </a:r>
            <a:r>
              <a:rPr lang="de-AT" b="1" dirty="0"/>
              <a:t>Modulator</a:t>
            </a:r>
            <a:r>
              <a:rPr lang="de-AT" dirty="0"/>
              <a:t>, periodisch verändert. Liegt der Modulator bei etwa 5 Hz, hörst du ein Vibrato. Liegt er im Hörbereich (ab etwa 20 Hz), nimmst du kein Wackeln mehr wahr, sondern eine </a:t>
            </a:r>
            <a:r>
              <a:rPr lang="de-AT" b="1" dirty="0"/>
              <a:t>neue Klangfarbe</a:t>
            </a:r>
            <a:r>
              <a:rPr lang="de-AT" dirty="0"/>
              <a:t>. Dabei entstehen zusätzliche Frequenzen, die Seitenbänder.</a:t>
            </a:r>
          </a:p>
          <a:p>
            <a:pPr rtl="0"/>
            <a:r>
              <a:rPr lang="de-AT" b="1" dirty="0"/>
              <a:t>Die Seitenbänder</a:t>
            </a:r>
            <a:endParaRPr lang="de-AT" dirty="0"/>
          </a:p>
          <a:p>
            <a:pPr rtl="0"/>
            <a:r>
              <a:rPr lang="de-AT" dirty="0"/>
              <a:t>Es entstehen Frequenzen im Abstand der </a:t>
            </a:r>
            <a:r>
              <a:rPr lang="de-AT" dirty="0" err="1"/>
              <a:t>Modulatorfrequenz</a:t>
            </a:r>
            <a:r>
              <a:rPr lang="de-AT" dirty="0"/>
              <a:t> um den Träger herum:</a:t>
            </a:r>
          </a:p>
          <a:p>
            <a:pPr rtl="0"/>
            <a:r>
              <a:rPr lang="de-AT" dirty="0" err="1"/>
              <a:t>fc</a:t>
            </a:r>
            <a:r>
              <a:rPr lang="de-AT" dirty="0"/>
              <a:t>, </a:t>
            </a:r>
            <a:r>
              <a:rPr lang="de-AT" dirty="0" err="1"/>
              <a:t>fc</a:t>
            </a:r>
            <a:r>
              <a:rPr lang="de-AT" dirty="0"/>
              <a:t> ± fm, </a:t>
            </a:r>
            <a:r>
              <a:rPr lang="de-AT" dirty="0" err="1"/>
              <a:t>fc</a:t>
            </a:r>
            <a:r>
              <a:rPr lang="de-AT" dirty="0"/>
              <a:t> ± 2·fm, </a:t>
            </a:r>
            <a:r>
              <a:rPr lang="de-AT" dirty="0" err="1"/>
              <a:t>fc</a:t>
            </a:r>
            <a:r>
              <a:rPr lang="de-AT" dirty="0"/>
              <a:t> ± 3·fm, ...</a:t>
            </a:r>
          </a:p>
          <a:p>
            <a:pPr rtl="0"/>
            <a:r>
              <a:rPr lang="de-AT" dirty="0"/>
              <a:t>Beispiel: Träger 440 Hz, Modulator 110 Hz ergibt Anteile bei 440, 330, 550, 220, 660, 110, 770 Hz usw.</a:t>
            </a:r>
          </a:p>
          <a:p>
            <a:pPr rtl="0"/>
            <a:r>
              <a:rPr lang="de-AT" b="1" dirty="0"/>
              <a:t>Der Index: Wie viel Modulation?</a:t>
            </a:r>
            <a:endParaRPr lang="de-AT" dirty="0"/>
          </a:p>
          <a:p>
            <a:pPr rtl="0"/>
            <a:r>
              <a:rPr lang="de-AT" dirty="0"/>
              <a:t>Der Modulationsindex ist </a:t>
            </a:r>
            <a:r>
              <a:rPr lang="de-AT" b="1" dirty="0"/>
              <a:t>I = </a:t>
            </a:r>
            <a:r>
              <a:rPr lang="de-AT" b="1" dirty="0" err="1"/>
              <a:t>Δf</a:t>
            </a:r>
            <a:r>
              <a:rPr lang="de-AT" b="1" dirty="0"/>
              <a:t> / fm</a:t>
            </a:r>
            <a:r>
              <a:rPr lang="de-AT" dirty="0"/>
              <a:t>, also die Frequenzabweichung (Hub) des Trägers geteilt durch die </a:t>
            </a:r>
            <a:r>
              <a:rPr lang="de-AT" dirty="0" err="1"/>
              <a:t>Modulatorfrequenz</a:t>
            </a:r>
            <a:r>
              <a:rPr lang="de-AT" dirty="0"/>
              <a:t>. Er legt fest, </a:t>
            </a:r>
            <a:r>
              <a:rPr lang="de-AT" b="1" dirty="0"/>
              <a:t>wie viele Seitenbänder hörbar werden</a:t>
            </a:r>
            <a:r>
              <a:rPr lang="de-AT" dirty="0"/>
              <a:t> und wie laut sie sind.</a:t>
            </a:r>
          </a:p>
          <a:p>
            <a:pPr lvl="0" rtl="0"/>
            <a:r>
              <a:rPr lang="de-AT" b="1" dirty="0"/>
              <a:t>I = 0:</a:t>
            </a:r>
            <a:r>
              <a:rPr lang="de-AT" dirty="0"/>
              <a:t> keine Modulation, nur ein reiner Sinus.</a:t>
            </a:r>
          </a:p>
          <a:p>
            <a:pPr lvl="0" rtl="0"/>
            <a:r>
              <a:rPr lang="de-AT" b="1" dirty="0"/>
              <a:t>I klein (unter etwa 0,5):</a:t>
            </a:r>
            <a:r>
              <a:rPr lang="de-AT" dirty="0"/>
              <a:t> Träger plus je ein schwaches Seitenband links und rechts. Der Klang bleibt fast sinusartig, leicht angeraut.</a:t>
            </a:r>
          </a:p>
          <a:p>
            <a:pPr lvl="0" rtl="0"/>
            <a:r>
              <a:rPr lang="de-AT" b="1" dirty="0"/>
              <a:t>I mittel (etwa 1 bis 3):</a:t>
            </a:r>
            <a:r>
              <a:rPr lang="de-AT" dirty="0"/>
              <a:t> mehrere Seitenbänder, der Klang wird deutlich reicher und heller.</a:t>
            </a:r>
          </a:p>
          <a:p>
            <a:pPr lvl="0" rtl="0"/>
            <a:r>
              <a:rPr lang="de-AT" b="1" dirty="0"/>
              <a:t>I groß (5 und mehr):</a:t>
            </a:r>
            <a:r>
              <a:rPr lang="de-AT" dirty="0"/>
              <a:t> sehr viele Seitenbänder, ein breites, helles, bei hohen Werten fast rauschiges Spektrum.</a:t>
            </a:r>
          </a:p>
          <a:p>
            <a:pPr rtl="0"/>
            <a:r>
              <a:rPr lang="de-AT" dirty="0"/>
              <a:t>Als Faustregel gilt: Die Bandbreite beträgt etwa </a:t>
            </a:r>
            <a:r>
              <a:rPr lang="de-AT" b="1" dirty="0"/>
              <a:t>2 · (I + 1) · fm</a:t>
            </a:r>
            <a:r>
              <a:rPr lang="de-AT" dirty="0"/>
              <a:t>. Mehr Index heißt mehr Obertöne, also einen helleren Klang. Die Amplituden der Seitenbänder folgen den </a:t>
            </a:r>
            <a:r>
              <a:rPr lang="de-AT" b="1" dirty="0" err="1"/>
              <a:t>Besselfunktionen</a:t>
            </a:r>
            <a:r>
              <a:rPr lang="de-AT" dirty="0"/>
              <a:t>. Sie nehmen nicht gleichmäßig zu, sondern schwanken. Bei bestimmten Indexwerten (etwa 2,4 und 5,5) verschwindet sogar der Träger selbst fast ganz. Dadurch klingt FM lebendiger als ein einfacher Tiefpass-Sweep.</a:t>
            </a:r>
          </a:p>
          <a:p>
            <a:endParaRPr lang="de-DE"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A375B947-B4FF-FE49-A706-9C41FC14B2BC}"/>
              </a:ext>
            </a:extLst>
          </p:cNvPr>
          <p:cNvSpPr txBox="1"/>
          <p:nvPr/>
        </p:nvSpPr>
        <p:spPr>
          <a:xfrm>
            <a:off x="1222199" y="923759"/>
            <a:ext cx="4441680" cy="3330720"/>
          </a:xfrm>
          <a:prstGeom prst="rect">
            <a:avLst/>
          </a:prstGeom>
          <a:solidFill>
            <a:srgbClr val="FFFFFF"/>
          </a:solidFill>
          <a:ln w="9360" cap="sq">
            <a:solidFill>
              <a:srgbClr val="000000"/>
            </a:solidFill>
            <a:prstDash val="solid"/>
            <a:miter/>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3" name="Text Box 2">
            <a:extLst>
              <a:ext uri="{FF2B5EF4-FFF2-40B4-BE49-F238E27FC236}">
                <a16:creationId xmlns:a16="http://schemas.microsoft.com/office/drawing/2014/main" id="{8393AA23-15DA-6D48-B0FA-84A9181A3E56}"/>
              </a:ext>
            </a:extLst>
          </p:cNvPr>
          <p:cNvSpPr txBox="1"/>
          <p:nvPr/>
        </p:nvSpPr>
        <p:spPr>
          <a:xfrm>
            <a:off x="1066680" y="4578479"/>
            <a:ext cx="4759200" cy="369576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4" name="Notizenplatzhalter 3">
            <a:extLst>
              <a:ext uri="{FF2B5EF4-FFF2-40B4-BE49-F238E27FC236}">
                <a16:creationId xmlns:a16="http://schemas.microsoft.com/office/drawing/2014/main" id="{043A20CD-8516-C50A-DA90-1D52944FE86A}"/>
              </a:ext>
            </a:extLst>
          </p:cNvPr>
          <p:cNvSpPr>
            <a:spLocks noGrp="1"/>
          </p:cNvSpPr>
          <p:nvPr>
            <p:ph type="body" idx="1"/>
          </p:nvPr>
        </p:nvSpPr>
        <p:spPr/>
        <p:txBody>
          <a:bodyPr>
            <a:normAutofit fontScale="62500" lnSpcReduction="20000"/>
          </a:bodyPr>
          <a:lstStyle/>
          <a:p>
            <a:pPr rtl="0"/>
            <a:r>
              <a:rPr lang="de-AT" b="1" dirty="0"/>
              <a:t>Das Verhältnis </a:t>
            </a:r>
            <a:r>
              <a:rPr lang="de-AT" b="1" dirty="0" err="1"/>
              <a:t>fc</a:t>
            </a:r>
            <a:r>
              <a:rPr lang="de-AT" b="1" dirty="0"/>
              <a:t> : fm bestimmt die Tonhöhe und den Charakter</a:t>
            </a:r>
            <a:endParaRPr lang="de-AT" dirty="0"/>
          </a:p>
          <a:p>
            <a:pPr lvl="0" rtl="0"/>
            <a:r>
              <a:rPr lang="de-AT" b="1" dirty="0"/>
              <a:t>Ganzzahlige Verhältnisse</a:t>
            </a:r>
            <a:r>
              <a:rPr lang="de-AT" dirty="0"/>
              <a:t> (z. B. 1:1, 2:1, 3:2): Die Seitenbänder fallen auf eine harmonische Reihe, der Klang hat eine klare Tonhöhe (Bässe, Orgeln, E-Pianos).</a:t>
            </a:r>
          </a:p>
          <a:p>
            <a:pPr lvl="0" rtl="0"/>
            <a:r>
              <a:rPr lang="de-AT" b="1" dirty="0"/>
              <a:t>Nicht ganzzahlige Verhältnisse</a:t>
            </a:r>
            <a:r>
              <a:rPr lang="de-AT" dirty="0"/>
              <a:t> (z. B. 1:1,41): Die Anteile sind </a:t>
            </a:r>
            <a:r>
              <a:rPr lang="de-AT" dirty="0" err="1"/>
              <a:t>inharmonisch</a:t>
            </a:r>
            <a:r>
              <a:rPr lang="de-AT" dirty="0"/>
              <a:t>, der Klang wirkt glockig, metallisch oder perkussiv.</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68D50363-0C9E-744A-8949-DCE47CE35776}"/>
              </a:ext>
            </a:extLst>
          </p:cNvPr>
          <p:cNvSpPr txBox="1"/>
          <p:nvPr/>
        </p:nvSpPr>
        <p:spPr>
          <a:xfrm>
            <a:off x="1222199" y="923759"/>
            <a:ext cx="4441680" cy="3330720"/>
          </a:xfrm>
          <a:prstGeom prst="rect">
            <a:avLst/>
          </a:prstGeom>
          <a:solidFill>
            <a:srgbClr val="FFFFFF"/>
          </a:solidFill>
          <a:ln w="9360" cap="sq">
            <a:solidFill>
              <a:srgbClr val="000000"/>
            </a:solidFill>
            <a:prstDash val="solid"/>
            <a:miter/>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3" name="Text Box 2">
            <a:extLst>
              <a:ext uri="{FF2B5EF4-FFF2-40B4-BE49-F238E27FC236}">
                <a16:creationId xmlns:a16="http://schemas.microsoft.com/office/drawing/2014/main" id="{ABE9A7AD-6FB5-1543-B69A-F8ABF4155833}"/>
              </a:ext>
            </a:extLst>
          </p:cNvPr>
          <p:cNvSpPr txBox="1"/>
          <p:nvPr/>
        </p:nvSpPr>
        <p:spPr>
          <a:xfrm>
            <a:off x="1066680" y="4578479"/>
            <a:ext cx="4759200" cy="3695760"/>
          </a:xfrm>
          <a:prstGeom prst="rect">
            <a:avLst/>
          </a:prstGeom>
          <a:noFill/>
          <a:ln cap="flat">
            <a:noFill/>
          </a:ln>
        </p:spPr>
        <p:txBody>
          <a:bodyPr vert="horz" wrap="none" lIns="91440" tIns="45720" rIns="91440" bIns="45720" anchor="ctr" anchorCtr="0" compatLnSpc="0">
            <a:normAutofit/>
          </a:bodyPr>
          <a:lstStyle/>
          <a:p>
            <a:pPr marL="0" marR="0" lvl="0" indent="0" rtl="0" hangingPunct="0">
              <a:lnSpc>
                <a:spcPct val="100000"/>
              </a:lnSpc>
              <a:spcBef>
                <a:spcPts val="0"/>
              </a:spcBef>
              <a:spcAft>
                <a:spcPts val="0"/>
              </a:spcAft>
              <a:buNone/>
              <a:tabLst/>
            </a:pPr>
            <a:endParaRPr lang="de-DE" sz="1800" u="none" strike="noStrike" kern="1200" cap="none" dirty="0">
              <a:ln>
                <a:noFill/>
              </a:ln>
              <a:latin typeface="Arial Regular"/>
              <a:ea typeface="PingFang SC" pitchFamily="2"/>
              <a:cs typeface="Arial Unicode MS" pitchFamily="2"/>
            </a:endParaRPr>
          </a:p>
        </p:txBody>
      </p:sp>
      <p:sp>
        <p:nvSpPr>
          <p:cNvPr id="4" name="Notizenplatzhalter 3">
            <a:extLst>
              <a:ext uri="{FF2B5EF4-FFF2-40B4-BE49-F238E27FC236}">
                <a16:creationId xmlns:a16="http://schemas.microsoft.com/office/drawing/2014/main" id="{D21AA1C5-3AA9-38A4-B0F4-C58CD888A467}"/>
              </a:ext>
            </a:extLst>
          </p:cNvPr>
          <p:cNvSpPr>
            <a:spLocks noGrp="1"/>
          </p:cNvSpPr>
          <p:nvPr>
            <p:ph type="body" idx="1"/>
          </p:nvPr>
        </p:nvSpPr>
        <p:spPr/>
        <p:txBody>
          <a:bodyPr/>
          <a:lstStyle/>
          <a:p>
            <a:endParaRPr lang="de-DE"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b="0" i="0">
                <a:latin typeface="Arial Regular"/>
              </a:defRPr>
            </a:lvl1pPr>
          </a:lstStyle>
          <a:p>
            <a:r>
              <a:rPr lang="de-DE" dirty="0"/>
              <a:t>Mastertitelformat bearbeiten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b="0" i="0">
                <a:latin typeface="Arial Regular"/>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endParaRPr lang="en-US" dirty="0"/>
          </a:p>
        </p:txBody>
      </p:sp>
      <p:sp>
        <p:nvSpPr>
          <p:cNvPr id="4" name="Date Placeholder 3"/>
          <p:cNvSpPr>
            <a:spLocks noGrp="1"/>
          </p:cNvSpPr>
          <p:nvPr>
            <p:ph type="dt" sz="half" idx="10"/>
          </p:nvPr>
        </p:nvSpPr>
        <p:spPr/>
        <p:txBody>
          <a:bodyPr/>
          <a:lstStyle>
            <a:lvl1pPr>
              <a:defRPr b="0" i="0">
                <a:latin typeface="Arial Regular"/>
              </a:defRPr>
            </a:lvl1pPr>
          </a:lstStyle>
          <a:p>
            <a:fld id="{C764DE79-268F-4C1A-8933-263129D2AF90}" type="datetimeFigureOut">
              <a:rPr lang="en-US" smtClean="0"/>
              <a:pPr/>
              <a:t>10/13/26</a:t>
            </a:fld>
            <a:endParaRPr lang="en-US" dirty="0"/>
          </a:p>
        </p:txBody>
      </p:sp>
      <p:sp>
        <p:nvSpPr>
          <p:cNvPr id="5" name="Footer Placeholder 4"/>
          <p:cNvSpPr>
            <a:spLocks noGrp="1"/>
          </p:cNvSpPr>
          <p:nvPr>
            <p:ph type="ftr" sz="quarter" idx="11"/>
          </p:nvPr>
        </p:nvSpPr>
        <p:spPr/>
        <p:txBody>
          <a:bodyPr/>
          <a:lstStyle>
            <a:lvl1pPr>
              <a:defRPr b="0" i="0">
                <a:latin typeface="Arial Regular"/>
              </a:defRPr>
            </a:lvl1pPr>
          </a:lstStyle>
          <a:p>
            <a:endParaRPr lang="en-US" dirty="0"/>
          </a:p>
        </p:txBody>
      </p:sp>
      <p:sp>
        <p:nvSpPr>
          <p:cNvPr id="6" name="Slide Number Placeholder 5"/>
          <p:cNvSpPr>
            <a:spLocks noGrp="1"/>
          </p:cNvSpPr>
          <p:nvPr>
            <p:ph type="sldNum" sz="quarter" idx="12"/>
          </p:nvPr>
        </p:nvSpPr>
        <p:spPr/>
        <p:txBody>
          <a:bodyPr/>
          <a:lstStyle>
            <a:lvl1pPr>
              <a:defRPr b="0" i="0">
                <a:latin typeface="Arial Regular"/>
              </a:defRPr>
            </a:lvl1pPr>
          </a:lstStyle>
          <a:p>
            <a:fld id="{48F63A3B-78C7-47BE-AE5E-E10140E04643}" type="slidenum">
              <a:rPr lang="en-US" smtClean="0"/>
              <a:pPr/>
              <a:t>‹Nr.›</a:t>
            </a:fld>
            <a:endParaRPr lang="en-US" dirty="0"/>
          </a:p>
        </p:txBody>
      </p:sp>
    </p:spTree>
    <p:extLst>
      <p:ext uri="{BB962C8B-B14F-4D97-AF65-F5344CB8AC3E}">
        <p14:creationId xmlns:p14="http://schemas.microsoft.com/office/powerpoint/2010/main" val="1611796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Arial Regular"/>
              </a:defRPr>
            </a:lvl1pPr>
          </a:lstStyle>
          <a:p>
            <a:r>
              <a:rPr lang="de-DE" dirty="0"/>
              <a:t>Mastertitelformat bearbeiten</a:t>
            </a:r>
            <a:endParaRPr lang="en-US" dirty="0"/>
          </a:p>
        </p:txBody>
      </p:sp>
      <p:sp>
        <p:nvSpPr>
          <p:cNvPr id="3" name="Content Placeholder 2"/>
          <p:cNvSpPr>
            <a:spLocks noGrp="1"/>
          </p:cNvSpPr>
          <p:nvPr>
            <p:ph idx="1"/>
          </p:nvPr>
        </p:nvSpPr>
        <p:spPr/>
        <p:txBody>
          <a:bodyPr/>
          <a:lstStyle>
            <a:lvl1pPr>
              <a:defRPr b="0" i="0">
                <a:latin typeface="Arial Regular"/>
              </a:defRPr>
            </a:lvl1pPr>
          </a:lstStyle>
          <a:p>
            <a:pPr lvl="0"/>
            <a:r>
              <a:rPr lang="de-DE" dirty="0"/>
              <a:t>Mastertextformat bearbeiten
Zweite Ebene
Dritte Ebene
Vierte Ebene
Fünfte Ebene</a:t>
            </a:r>
            <a:endParaRPr lang="en-US" dirty="0"/>
          </a:p>
        </p:txBody>
      </p:sp>
      <p:sp>
        <p:nvSpPr>
          <p:cNvPr id="4" name="Date Placeholder 3"/>
          <p:cNvSpPr>
            <a:spLocks noGrp="1"/>
          </p:cNvSpPr>
          <p:nvPr>
            <p:ph type="dt" sz="half" idx="10"/>
          </p:nvPr>
        </p:nvSpPr>
        <p:spPr/>
        <p:txBody>
          <a:bodyPr/>
          <a:lstStyle>
            <a:lvl1pPr>
              <a:defRPr b="0" i="0">
                <a:latin typeface="Arial Regular"/>
              </a:defRPr>
            </a:lvl1pPr>
          </a:lstStyle>
          <a:p>
            <a:fld id="{C764DE79-268F-4C1A-8933-263129D2AF90}" type="datetimeFigureOut">
              <a:rPr lang="en-US" smtClean="0"/>
              <a:pPr/>
              <a:t>10/13/26</a:t>
            </a:fld>
            <a:endParaRPr lang="en-US" dirty="0"/>
          </a:p>
        </p:txBody>
      </p:sp>
      <p:sp>
        <p:nvSpPr>
          <p:cNvPr id="5" name="Footer Placeholder 4"/>
          <p:cNvSpPr>
            <a:spLocks noGrp="1"/>
          </p:cNvSpPr>
          <p:nvPr>
            <p:ph type="ftr" sz="quarter" idx="11"/>
          </p:nvPr>
        </p:nvSpPr>
        <p:spPr/>
        <p:txBody>
          <a:bodyPr/>
          <a:lstStyle>
            <a:lvl1pPr>
              <a:defRPr b="0" i="0">
                <a:latin typeface="Arial Regular"/>
              </a:defRPr>
            </a:lvl1pPr>
          </a:lstStyle>
          <a:p>
            <a:endParaRPr lang="en-US" dirty="0"/>
          </a:p>
        </p:txBody>
      </p:sp>
      <p:sp>
        <p:nvSpPr>
          <p:cNvPr id="6" name="Slide Number Placeholder 5"/>
          <p:cNvSpPr>
            <a:spLocks noGrp="1"/>
          </p:cNvSpPr>
          <p:nvPr>
            <p:ph type="sldNum" sz="quarter" idx="12"/>
          </p:nvPr>
        </p:nvSpPr>
        <p:spPr/>
        <p:txBody>
          <a:bodyPr/>
          <a:lstStyle>
            <a:lvl1pPr>
              <a:defRPr b="0" i="0">
                <a:latin typeface="Arial Regular"/>
              </a:defRPr>
            </a:lvl1pPr>
          </a:lstStyle>
          <a:p>
            <a:fld id="{48F63A3B-78C7-47BE-AE5E-E10140E04643}" type="slidenum">
              <a:rPr lang="en-US" smtClean="0"/>
              <a:pPr/>
              <a:t>‹Nr.›</a:t>
            </a:fld>
            <a:endParaRPr lang="en-US" dirty="0"/>
          </a:p>
        </p:txBody>
      </p:sp>
    </p:spTree>
    <p:extLst>
      <p:ext uri="{BB962C8B-B14F-4D97-AF65-F5344CB8AC3E}">
        <p14:creationId xmlns:p14="http://schemas.microsoft.com/office/powerpoint/2010/main" val="569566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b="0" i="0">
                <a:latin typeface="Arial Regular"/>
              </a:defRPr>
            </a:lvl1pPr>
          </a:lstStyle>
          <a:p>
            <a:r>
              <a:rPr lang="de-DE" dirty="0"/>
              <a:t>Mastertitelformat bearbeiten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b="0" i="0">
                <a:solidFill>
                  <a:schemeClr val="tx1"/>
                </a:solidFill>
                <a:latin typeface="Arial Regular"/>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Mastertextformat bearbeiten
Zweite Ebene
Dritte Ebene
Vierte Ebene
Fünfte Ebene</a:t>
            </a:r>
            <a:endParaRPr lang="en-US" dirty="0"/>
          </a:p>
        </p:txBody>
      </p:sp>
      <p:sp>
        <p:nvSpPr>
          <p:cNvPr id="4" name="Date Placeholder 3"/>
          <p:cNvSpPr>
            <a:spLocks noGrp="1"/>
          </p:cNvSpPr>
          <p:nvPr>
            <p:ph type="dt" sz="half" idx="10"/>
          </p:nvPr>
        </p:nvSpPr>
        <p:spPr/>
        <p:txBody>
          <a:bodyPr/>
          <a:lstStyle>
            <a:lvl1pPr>
              <a:defRPr b="0" i="0">
                <a:latin typeface="Arial Regular"/>
              </a:defRPr>
            </a:lvl1pPr>
          </a:lstStyle>
          <a:p>
            <a:fld id="{C764DE79-268F-4C1A-8933-263129D2AF90}" type="datetimeFigureOut">
              <a:rPr lang="en-US" smtClean="0"/>
              <a:pPr/>
              <a:t>10/13/26</a:t>
            </a:fld>
            <a:endParaRPr lang="en-US" dirty="0"/>
          </a:p>
        </p:txBody>
      </p:sp>
      <p:sp>
        <p:nvSpPr>
          <p:cNvPr id="5" name="Footer Placeholder 4"/>
          <p:cNvSpPr>
            <a:spLocks noGrp="1"/>
          </p:cNvSpPr>
          <p:nvPr>
            <p:ph type="ftr" sz="quarter" idx="11"/>
          </p:nvPr>
        </p:nvSpPr>
        <p:spPr/>
        <p:txBody>
          <a:bodyPr/>
          <a:lstStyle>
            <a:lvl1pPr>
              <a:defRPr b="0" i="0">
                <a:latin typeface="Arial Regular"/>
              </a:defRPr>
            </a:lvl1pPr>
          </a:lstStyle>
          <a:p>
            <a:endParaRPr lang="en-US" dirty="0"/>
          </a:p>
        </p:txBody>
      </p:sp>
      <p:sp>
        <p:nvSpPr>
          <p:cNvPr id="6" name="Slide Number Placeholder 5"/>
          <p:cNvSpPr>
            <a:spLocks noGrp="1"/>
          </p:cNvSpPr>
          <p:nvPr>
            <p:ph type="sldNum" sz="quarter" idx="12"/>
          </p:nvPr>
        </p:nvSpPr>
        <p:spPr/>
        <p:txBody>
          <a:bodyPr/>
          <a:lstStyle>
            <a:lvl1pPr>
              <a:defRPr b="0" i="0">
                <a:latin typeface="Arial Regular"/>
              </a:defRPr>
            </a:lvl1pPr>
          </a:lstStyle>
          <a:p>
            <a:fld id="{48F63A3B-78C7-47BE-AE5E-E10140E04643}" type="slidenum">
              <a:rPr lang="en-US" smtClean="0"/>
              <a:pPr/>
              <a:t>‹Nr.›</a:t>
            </a:fld>
            <a:endParaRPr lang="en-US" dirty="0"/>
          </a:p>
        </p:txBody>
      </p:sp>
    </p:spTree>
    <p:extLst>
      <p:ext uri="{BB962C8B-B14F-4D97-AF65-F5344CB8AC3E}">
        <p14:creationId xmlns:p14="http://schemas.microsoft.com/office/powerpoint/2010/main" val="2795857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Arial Regular"/>
              </a:defRPr>
            </a:lvl1pPr>
          </a:lstStyle>
          <a:p>
            <a:r>
              <a:rPr lang="de-DE" dirty="0"/>
              <a:t>Mastertitelformat bearbeiten</a:t>
            </a:r>
            <a:endParaRPr lang="en-US" dirty="0"/>
          </a:p>
        </p:txBody>
      </p:sp>
      <p:sp>
        <p:nvSpPr>
          <p:cNvPr id="3" name="Content Placeholder 2"/>
          <p:cNvSpPr>
            <a:spLocks noGrp="1"/>
          </p:cNvSpPr>
          <p:nvPr>
            <p:ph sz="half" idx="1"/>
          </p:nvPr>
        </p:nvSpPr>
        <p:spPr>
          <a:xfrm>
            <a:off x="628650" y="1825625"/>
            <a:ext cx="3886200" cy="4351338"/>
          </a:xfrm>
        </p:spPr>
        <p:txBody>
          <a:bodyPr/>
          <a:lstStyle>
            <a:lvl1pPr>
              <a:defRPr b="0" i="0">
                <a:latin typeface="Arial Regular"/>
              </a:defRPr>
            </a:lvl1pPr>
          </a:lstStyle>
          <a:p>
            <a:pPr lvl="0"/>
            <a:r>
              <a:rPr lang="de-DE" dirty="0"/>
              <a:t>Mastertextformat bearbeiten
Zweite Ebene
Dritte Ebene
Vierte Ebene
Fünfte Ebene</a:t>
            </a:r>
            <a:endParaRPr lang="en-US" dirty="0"/>
          </a:p>
        </p:txBody>
      </p:sp>
      <p:sp>
        <p:nvSpPr>
          <p:cNvPr id="4" name="Content Placeholder 3"/>
          <p:cNvSpPr>
            <a:spLocks noGrp="1"/>
          </p:cNvSpPr>
          <p:nvPr>
            <p:ph sz="half" idx="2"/>
          </p:nvPr>
        </p:nvSpPr>
        <p:spPr>
          <a:xfrm>
            <a:off x="4629150" y="1825625"/>
            <a:ext cx="3886200" cy="4351338"/>
          </a:xfrm>
        </p:spPr>
        <p:txBody>
          <a:bodyPr/>
          <a:lstStyle>
            <a:lvl1pPr>
              <a:defRPr b="0" i="0">
                <a:latin typeface="Arial Regular"/>
              </a:defRPr>
            </a:lvl1pPr>
          </a:lstStyle>
          <a:p>
            <a:pPr lvl="0"/>
            <a:r>
              <a:rPr lang="de-DE" dirty="0"/>
              <a:t>Mastertextformat bearbeiten
Zweite Ebene
Dritte Ebene
Vierte Ebene
Fünfte Ebene</a:t>
            </a:r>
            <a:endParaRPr lang="en-US" dirty="0"/>
          </a:p>
        </p:txBody>
      </p:sp>
      <p:sp>
        <p:nvSpPr>
          <p:cNvPr id="5" name="Date Placeholder 4"/>
          <p:cNvSpPr>
            <a:spLocks noGrp="1"/>
          </p:cNvSpPr>
          <p:nvPr>
            <p:ph type="dt" sz="half" idx="10"/>
          </p:nvPr>
        </p:nvSpPr>
        <p:spPr/>
        <p:txBody>
          <a:bodyPr/>
          <a:lstStyle>
            <a:lvl1pPr>
              <a:defRPr b="0" i="0">
                <a:latin typeface="Arial Regular"/>
              </a:defRPr>
            </a:lvl1pPr>
          </a:lstStyle>
          <a:p>
            <a:fld id="{C764DE79-268F-4C1A-8933-263129D2AF90}" type="datetimeFigureOut">
              <a:rPr lang="en-US" smtClean="0"/>
              <a:pPr/>
              <a:t>10/13/26</a:t>
            </a:fld>
            <a:endParaRPr lang="en-US" dirty="0"/>
          </a:p>
        </p:txBody>
      </p:sp>
      <p:sp>
        <p:nvSpPr>
          <p:cNvPr id="6" name="Footer Placeholder 5"/>
          <p:cNvSpPr>
            <a:spLocks noGrp="1"/>
          </p:cNvSpPr>
          <p:nvPr>
            <p:ph type="ftr" sz="quarter" idx="11"/>
          </p:nvPr>
        </p:nvSpPr>
        <p:spPr/>
        <p:txBody>
          <a:bodyPr/>
          <a:lstStyle>
            <a:lvl1pPr>
              <a:defRPr b="0" i="0">
                <a:latin typeface="Arial Regular"/>
              </a:defRPr>
            </a:lvl1pPr>
          </a:lstStyle>
          <a:p>
            <a:endParaRPr lang="en-US" dirty="0"/>
          </a:p>
        </p:txBody>
      </p:sp>
      <p:sp>
        <p:nvSpPr>
          <p:cNvPr id="7" name="Slide Number Placeholder 6"/>
          <p:cNvSpPr>
            <a:spLocks noGrp="1"/>
          </p:cNvSpPr>
          <p:nvPr>
            <p:ph type="sldNum" sz="quarter" idx="12"/>
          </p:nvPr>
        </p:nvSpPr>
        <p:spPr/>
        <p:txBody>
          <a:bodyPr/>
          <a:lstStyle>
            <a:lvl1pPr>
              <a:defRPr b="0" i="0">
                <a:latin typeface="Arial Regular"/>
              </a:defRPr>
            </a:lvl1pPr>
          </a:lstStyle>
          <a:p>
            <a:fld id="{48F63A3B-78C7-47BE-AE5E-E10140E04643}" type="slidenum">
              <a:rPr lang="en-US" smtClean="0"/>
              <a:pPr/>
              <a:t>‹Nr.›</a:t>
            </a:fld>
            <a:endParaRPr lang="en-US" dirty="0"/>
          </a:p>
        </p:txBody>
      </p:sp>
    </p:spTree>
    <p:extLst>
      <p:ext uri="{BB962C8B-B14F-4D97-AF65-F5344CB8AC3E}">
        <p14:creationId xmlns:p14="http://schemas.microsoft.com/office/powerpoint/2010/main" val="32615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lvl1pPr>
              <a:defRPr b="0" i="0">
                <a:latin typeface="Arial Regular"/>
              </a:defRPr>
            </a:lvl1pPr>
          </a:lstStyle>
          <a:p>
            <a:r>
              <a:rPr lang="de-DE" dirty="0"/>
              <a:t>Mastertitelformat bearbeiten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0" i="0">
                <a:latin typeface="Arial Regular"/>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Mastertextformat bearbeiten
Zweite Ebene
Dritte Ebene
Vierte Ebene
Fünfte Ebene</a:t>
            </a:r>
            <a:endParaRPr lang="en-US" dirty="0"/>
          </a:p>
        </p:txBody>
      </p:sp>
      <p:sp>
        <p:nvSpPr>
          <p:cNvPr id="4" name="Content Placeholder 3"/>
          <p:cNvSpPr>
            <a:spLocks noGrp="1"/>
          </p:cNvSpPr>
          <p:nvPr>
            <p:ph sz="half" idx="2"/>
          </p:nvPr>
        </p:nvSpPr>
        <p:spPr>
          <a:xfrm>
            <a:off x="629842" y="2505075"/>
            <a:ext cx="3868340" cy="3684588"/>
          </a:xfrm>
        </p:spPr>
        <p:txBody>
          <a:bodyPr/>
          <a:lstStyle>
            <a:lvl1pPr>
              <a:defRPr b="0" i="0">
                <a:latin typeface="Arial Regular"/>
              </a:defRPr>
            </a:lvl1pPr>
          </a:lstStyle>
          <a:p>
            <a:pPr lvl="0"/>
            <a:r>
              <a:rPr lang="de-DE" dirty="0"/>
              <a:t>Mastertextformat bearbeiten
Zweite Ebene
Dritte Ebene
Vierte Ebene
Fünfte Ebene</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0" i="0">
                <a:latin typeface="Arial Regular"/>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Mastertextformat bearbeiten
Zweite Ebene
Dritte Ebene
Vierte Ebene
Fünfte Ebene</a:t>
            </a:r>
            <a:endParaRPr lang="en-US" dirty="0"/>
          </a:p>
        </p:txBody>
      </p:sp>
      <p:sp>
        <p:nvSpPr>
          <p:cNvPr id="6" name="Content Placeholder 5"/>
          <p:cNvSpPr>
            <a:spLocks noGrp="1"/>
          </p:cNvSpPr>
          <p:nvPr>
            <p:ph sz="quarter" idx="4"/>
          </p:nvPr>
        </p:nvSpPr>
        <p:spPr>
          <a:xfrm>
            <a:off x="4629150" y="2505075"/>
            <a:ext cx="3887391" cy="3684588"/>
          </a:xfrm>
        </p:spPr>
        <p:txBody>
          <a:bodyPr/>
          <a:lstStyle>
            <a:lvl1pPr>
              <a:defRPr b="0" i="0">
                <a:latin typeface="Arial Regular"/>
              </a:defRPr>
            </a:lvl1pPr>
          </a:lstStyle>
          <a:p>
            <a:pPr lvl="0"/>
            <a:r>
              <a:rPr lang="de-DE" dirty="0"/>
              <a:t>Mastertextformat bearbeiten
Zweite Ebene
Dritte Ebene
Vierte Ebene
Fünfte Ebene</a:t>
            </a:r>
            <a:endParaRPr lang="en-US" dirty="0"/>
          </a:p>
        </p:txBody>
      </p:sp>
      <p:sp>
        <p:nvSpPr>
          <p:cNvPr id="7" name="Date Placeholder 6"/>
          <p:cNvSpPr>
            <a:spLocks noGrp="1"/>
          </p:cNvSpPr>
          <p:nvPr>
            <p:ph type="dt" sz="half" idx="10"/>
          </p:nvPr>
        </p:nvSpPr>
        <p:spPr/>
        <p:txBody>
          <a:bodyPr/>
          <a:lstStyle>
            <a:lvl1pPr>
              <a:defRPr b="0" i="0">
                <a:latin typeface="Arial Regular"/>
              </a:defRPr>
            </a:lvl1pPr>
          </a:lstStyle>
          <a:p>
            <a:fld id="{C764DE79-268F-4C1A-8933-263129D2AF90}" type="datetimeFigureOut">
              <a:rPr lang="en-US" smtClean="0"/>
              <a:pPr/>
              <a:t>10/13/26</a:t>
            </a:fld>
            <a:endParaRPr lang="en-US" dirty="0"/>
          </a:p>
        </p:txBody>
      </p:sp>
      <p:sp>
        <p:nvSpPr>
          <p:cNvPr id="8" name="Footer Placeholder 7"/>
          <p:cNvSpPr>
            <a:spLocks noGrp="1"/>
          </p:cNvSpPr>
          <p:nvPr>
            <p:ph type="ftr" sz="quarter" idx="11"/>
          </p:nvPr>
        </p:nvSpPr>
        <p:spPr/>
        <p:txBody>
          <a:bodyPr/>
          <a:lstStyle>
            <a:lvl1pPr>
              <a:defRPr b="0" i="0">
                <a:latin typeface="Arial Regular"/>
              </a:defRPr>
            </a:lvl1pPr>
          </a:lstStyle>
          <a:p>
            <a:endParaRPr lang="en-US" dirty="0"/>
          </a:p>
        </p:txBody>
      </p:sp>
      <p:sp>
        <p:nvSpPr>
          <p:cNvPr id="9" name="Slide Number Placeholder 8"/>
          <p:cNvSpPr>
            <a:spLocks noGrp="1"/>
          </p:cNvSpPr>
          <p:nvPr>
            <p:ph type="sldNum" sz="quarter" idx="12"/>
          </p:nvPr>
        </p:nvSpPr>
        <p:spPr/>
        <p:txBody>
          <a:bodyPr/>
          <a:lstStyle>
            <a:lvl1pPr>
              <a:defRPr b="0" i="0">
                <a:latin typeface="Arial Regular"/>
              </a:defRPr>
            </a:lvl1pPr>
          </a:lstStyle>
          <a:p>
            <a:fld id="{48F63A3B-78C7-47BE-AE5E-E10140E04643}" type="slidenum">
              <a:rPr lang="en-US" smtClean="0"/>
              <a:pPr/>
              <a:t>‹Nr.›</a:t>
            </a:fld>
            <a:endParaRPr lang="en-US" dirty="0"/>
          </a:p>
        </p:txBody>
      </p:sp>
    </p:spTree>
    <p:extLst>
      <p:ext uri="{BB962C8B-B14F-4D97-AF65-F5344CB8AC3E}">
        <p14:creationId xmlns:p14="http://schemas.microsoft.com/office/powerpoint/2010/main" val="1449066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Arial Regular"/>
              </a:defRPr>
            </a:lvl1pPr>
          </a:lstStyle>
          <a:p>
            <a:r>
              <a:rPr lang="de-DE" dirty="0"/>
              <a:t>Mastertitelformat bearbeiten</a:t>
            </a:r>
            <a:endParaRPr lang="en-US" dirty="0"/>
          </a:p>
        </p:txBody>
      </p:sp>
      <p:sp>
        <p:nvSpPr>
          <p:cNvPr id="3" name="Date Placeholder 2"/>
          <p:cNvSpPr>
            <a:spLocks noGrp="1"/>
          </p:cNvSpPr>
          <p:nvPr>
            <p:ph type="dt" sz="half" idx="10"/>
          </p:nvPr>
        </p:nvSpPr>
        <p:spPr/>
        <p:txBody>
          <a:bodyPr/>
          <a:lstStyle>
            <a:lvl1pPr>
              <a:defRPr b="0" i="0">
                <a:latin typeface="Arial Regular"/>
              </a:defRPr>
            </a:lvl1pPr>
          </a:lstStyle>
          <a:p>
            <a:fld id="{C764DE79-268F-4C1A-8933-263129D2AF90}" type="datetimeFigureOut">
              <a:rPr lang="en-US" smtClean="0"/>
              <a:pPr/>
              <a:t>10/13/26</a:t>
            </a:fld>
            <a:endParaRPr lang="en-US" dirty="0"/>
          </a:p>
        </p:txBody>
      </p:sp>
      <p:sp>
        <p:nvSpPr>
          <p:cNvPr id="4" name="Footer Placeholder 3"/>
          <p:cNvSpPr>
            <a:spLocks noGrp="1"/>
          </p:cNvSpPr>
          <p:nvPr>
            <p:ph type="ftr" sz="quarter" idx="11"/>
          </p:nvPr>
        </p:nvSpPr>
        <p:spPr/>
        <p:txBody>
          <a:bodyPr/>
          <a:lstStyle>
            <a:lvl1pPr>
              <a:defRPr b="0" i="0">
                <a:latin typeface="Arial Regular"/>
              </a:defRPr>
            </a:lvl1pPr>
          </a:lstStyle>
          <a:p>
            <a:endParaRPr lang="en-US" dirty="0"/>
          </a:p>
        </p:txBody>
      </p:sp>
      <p:sp>
        <p:nvSpPr>
          <p:cNvPr id="5" name="Slide Number Placeholder 4"/>
          <p:cNvSpPr>
            <a:spLocks noGrp="1"/>
          </p:cNvSpPr>
          <p:nvPr>
            <p:ph type="sldNum" sz="quarter" idx="12"/>
          </p:nvPr>
        </p:nvSpPr>
        <p:spPr/>
        <p:txBody>
          <a:bodyPr/>
          <a:lstStyle>
            <a:lvl1pPr>
              <a:defRPr b="0" i="0">
                <a:latin typeface="Arial Regular"/>
              </a:defRPr>
            </a:lvl1pPr>
          </a:lstStyle>
          <a:p>
            <a:fld id="{48F63A3B-78C7-47BE-AE5E-E10140E04643}" type="slidenum">
              <a:rPr lang="en-US" smtClean="0"/>
              <a:pPr/>
              <a:t>‹Nr.›</a:t>
            </a:fld>
            <a:endParaRPr lang="en-US" dirty="0"/>
          </a:p>
        </p:txBody>
      </p:sp>
    </p:spTree>
    <p:extLst>
      <p:ext uri="{BB962C8B-B14F-4D97-AF65-F5344CB8AC3E}">
        <p14:creationId xmlns:p14="http://schemas.microsoft.com/office/powerpoint/2010/main" val="523232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b="0" i="0">
                <a:latin typeface="Arial Regular"/>
              </a:defRPr>
            </a:lvl1pPr>
          </a:lstStyle>
          <a:p>
            <a:fld id="{C764DE79-268F-4C1A-8933-263129D2AF90}" type="datetimeFigureOut">
              <a:rPr lang="en-US" smtClean="0"/>
              <a:pPr/>
              <a:t>10/13/26</a:t>
            </a:fld>
            <a:endParaRPr lang="en-US" dirty="0"/>
          </a:p>
        </p:txBody>
      </p:sp>
      <p:sp>
        <p:nvSpPr>
          <p:cNvPr id="3" name="Footer Placeholder 2"/>
          <p:cNvSpPr>
            <a:spLocks noGrp="1"/>
          </p:cNvSpPr>
          <p:nvPr>
            <p:ph type="ftr" sz="quarter" idx="11"/>
          </p:nvPr>
        </p:nvSpPr>
        <p:spPr/>
        <p:txBody>
          <a:bodyPr/>
          <a:lstStyle>
            <a:lvl1pPr>
              <a:defRPr b="0" i="0">
                <a:latin typeface="Arial Regular"/>
              </a:defRPr>
            </a:lvl1pPr>
          </a:lstStyle>
          <a:p>
            <a:endParaRPr lang="en-US" dirty="0"/>
          </a:p>
        </p:txBody>
      </p:sp>
      <p:sp>
        <p:nvSpPr>
          <p:cNvPr id="4" name="Slide Number Placeholder 3"/>
          <p:cNvSpPr>
            <a:spLocks noGrp="1"/>
          </p:cNvSpPr>
          <p:nvPr>
            <p:ph type="sldNum" sz="quarter" idx="12"/>
          </p:nvPr>
        </p:nvSpPr>
        <p:spPr/>
        <p:txBody>
          <a:bodyPr/>
          <a:lstStyle>
            <a:lvl1pPr>
              <a:defRPr b="0" i="0">
                <a:latin typeface="Arial Regular"/>
              </a:defRPr>
            </a:lvl1pPr>
          </a:lstStyle>
          <a:p>
            <a:fld id="{48F63A3B-78C7-47BE-AE5E-E10140E04643}" type="slidenum">
              <a:rPr lang="en-US" smtClean="0"/>
              <a:pPr/>
              <a:t>‹Nr.›</a:t>
            </a:fld>
            <a:endParaRPr lang="en-US" dirty="0"/>
          </a:p>
        </p:txBody>
      </p:sp>
    </p:spTree>
    <p:extLst>
      <p:ext uri="{BB962C8B-B14F-4D97-AF65-F5344CB8AC3E}">
        <p14:creationId xmlns:p14="http://schemas.microsoft.com/office/powerpoint/2010/main" val="3105133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b="0" i="0">
                <a:latin typeface="Arial Regular"/>
              </a:defRPr>
            </a:lvl1pPr>
          </a:lstStyle>
          <a:p>
            <a:r>
              <a:rPr lang="de-DE" dirty="0"/>
              <a:t>Mastertitelformat bearbeiten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b="0" i="0">
                <a:latin typeface="Arial Regular"/>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dirty="0"/>
              <a:t>Mastertextformat bearbeiten
Zweite Ebene
Dritte Ebene
Vierte Ebene
Fünfte Ebene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b="0" i="0">
                <a:latin typeface="Arial Regular"/>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dirty="0"/>
              <a:t>Mastertextformat bearbeiten
Zweite Ebene
Dritte Ebene
Vierte Ebene
Fünfte Ebene</a:t>
            </a:r>
            <a:endParaRPr lang="en-US" dirty="0"/>
          </a:p>
        </p:txBody>
      </p:sp>
      <p:sp>
        <p:nvSpPr>
          <p:cNvPr id="5" name="Date Placeholder 4"/>
          <p:cNvSpPr>
            <a:spLocks noGrp="1"/>
          </p:cNvSpPr>
          <p:nvPr>
            <p:ph type="dt" sz="half" idx="10"/>
          </p:nvPr>
        </p:nvSpPr>
        <p:spPr/>
        <p:txBody>
          <a:bodyPr/>
          <a:lstStyle>
            <a:lvl1pPr>
              <a:defRPr b="0" i="0">
                <a:latin typeface="Arial Regular"/>
              </a:defRPr>
            </a:lvl1pPr>
          </a:lstStyle>
          <a:p>
            <a:fld id="{C764DE79-268F-4C1A-8933-263129D2AF90}" type="datetimeFigureOut">
              <a:rPr lang="en-US" smtClean="0"/>
              <a:pPr/>
              <a:t>10/13/26</a:t>
            </a:fld>
            <a:endParaRPr lang="en-US" dirty="0"/>
          </a:p>
        </p:txBody>
      </p:sp>
      <p:sp>
        <p:nvSpPr>
          <p:cNvPr id="6" name="Footer Placeholder 5"/>
          <p:cNvSpPr>
            <a:spLocks noGrp="1"/>
          </p:cNvSpPr>
          <p:nvPr>
            <p:ph type="ftr" sz="quarter" idx="11"/>
          </p:nvPr>
        </p:nvSpPr>
        <p:spPr/>
        <p:txBody>
          <a:bodyPr/>
          <a:lstStyle>
            <a:lvl1pPr>
              <a:defRPr b="0" i="0">
                <a:latin typeface="Arial Regular"/>
              </a:defRPr>
            </a:lvl1pPr>
          </a:lstStyle>
          <a:p>
            <a:endParaRPr lang="en-US" dirty="0"/>
          </a:p>
        </p:txBody>
      </p:sp>
      <p:sp>
        <p:nvSpPr>
          <p:cNvPr id="7" name="Slide Number Placeholder 6"/>
          <p:cNvSpPr>
            <a:spLocks noGrp="1"/>
          </p:cNvSpPr>
          <p:nvPr>
            <p:ph type="sldNum" sz="quarter" idx="12"/>
          </p:nvPr>
        </p:nvSpPr>
        <p:spPr/>
        <p:txBody>
          <a:bodyPr/>
          <a:lstStyle>
            <a:lvl1pPr>
              <a:defRPr b="0" i="0">
                <a:latin typeface="Arial Regular"/>
              </a:defRPr>
            </a:lvl1pPr>
          </a:lstStyle>
          <a:p>
            <a:fld id="{48F63A3B-78C7-47BE-AE5E-E10140E04643}" type="slidenum">
              <a:rPr lang="en-US" smtClean="0"/>
              <a:pPr/>
              <a:t>‹Nr.›</a:t>
            </a:fld>
            <a:endParaRPr lang="en-US" dirty="0"/>
          </a:p>
        </p:txBody>
      </p:sp>
    </p:spTree>
    <p:extLst>
      <p:ext uri="{BB962C8B-B14F-4D97-AF65-F5344CB8AC3E}">
        <p14:creationId xmlns:p14="http://schemas.microsoft.com/office/powerpoint/2010/main" val="1977729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b="0" i="0">
                <a:latin typeface="Arial Regular"/>
              </a:defRPr>
            </a:lvl1pPr>
          </a:lstStyle>
          <a:p>
            <a:r>
              <a:rPr lang="de-DE" dirty="0"/>
              <a:t>Mastertitelformat bearbeiten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b="0" i="0">
                <a:latin typeface="Arial Regular"/>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Bild durch Klicken auf Symbol hinzufügen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b="0" i="0">
                <a:latin typeface="Arial Regular"/>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dirty="0"/>
              <a:t>Mastertextformat bearbeiten
Zweite Ebene
Dritte Ebene
Vierte Ebene
Fünfte Ebene</a:t>
            </a:r>
            <a:endParaRPr lang="en-US" dirty="0"/>
          </a:p>
        </p:txBody>
      </p:sp>
      <p:sp>
        <p:nvSpPr>
          <p:cNvPr id="5" name="Date Placeholder 4"/>
          <p:cNvSpPr>
            <a:spLocks noGrp="1"/>
          </p:cNvSpPr>
          <p:nvPr>
            <p:ph type="dt" sz="half" idx="10"/>
          </p:nvPr>
        </p:nvSpPr>
        <p:spPr/>
        <p:txBody>
          <a:bodyPr/>
          <a:lstStyle>
            <a:lvl1pPr>
              <a:defRPr b="0" i="0">
                <a:latin typeface="Arial Regular"/>
              </a:defRPr>
            </a:lvl1pPr>
          </a:lstStyle>
          <a:p>
            <a:fld id="{C764DE79-268F-4C1A-8933-263129D2AF90}" type="datetimeFigureOut">
              <a:rPr lang="en-US" smtClean="0"/>
              <a:pPr/>
              <a:t>10/13/26</a:t>
            </a:fld>
            <a:endParaRPr lang="en-US" dirty="0"/>
          </a:p>
        </p:txBody>
      </p:sp>
      <p:sp>
        <p:nvSpPr>
          <p:cNvPr id="6" name="Footer Placeholder 5"/>
          <p:cNvSpPr>
            <a:spLocks noGrp="1"/>
          </p:cNvSpPr>
          <p:nvPr>
            <p:ph type="ftr" sz="quarter" idx="11"/>
          </p:nvPr>
        </p:nvSpPr>
        <p:spPr/>
        <p:txBody>
          <a:bodyPr/>
          <a:lstStyle>
            <a:lvl1pPr>
              <a:defRPr b="0" i="0">
                <a:latin typeface="Arial Regular"/>
              </a:defRPr>
            </a:lvl1pPr>
          </a:lstStyle>
          <a:p>
            <a:endParaRPr lang="en-US" dirty="0"/>
          </a:p>
        </p:txBody>
      </p:sp>
      <p:sp>
        <p:nvSpPr>
          <p:cNvPr id="7" name="Slide Number Placeholder 6"/>
          <p:cNvSpPr>
            <a:spLocks noGrp="1"/>
          </p:cNvSpPr>
          <p:nvPr>
            <p:ph type="sldNum" sz="quarter" idx="12"/>
          </p:nvPr>
        </p:nvSpPr>
        <p:spPr/>
        <p:txBody>
          <a:bodyPr/>
          <a:lstStyle>
            <a:lvl1pPr>
              <a:defRPr b="0" i="0">
                <a:latin typeface="Arial Regular"/>
              </a:defRPr>
            </a:lvl1pPr>
          </a:lstStyle>
          <a:p>
            <a:fld id="{48F63A3B-78C7-47BE-AE5E-E10140E04643}" type="slidenum">
              <a:rPr lang="en-US" smtClean="0"/>
              <a:pPr/>
              <a:t>‹Nr.›</a:t>
            </a:fld>
            <a:endParaRPr lang="en-US" dirty="0"/>
          </a:p>
        </p:txBody>
      </p:sp>
    </p:spTree>
    <p:extLst>
      <p:ext uri="{BB962C8B-B14F-4D97-AF65-F5344CB8AC3E}">
        <p14:creationId xmlns:p14="http://schemas.microsoft.com/office/powerpoint/2010/main" val="79270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Arial Regular"/>
              </a:defRPr>
            </a:lvl1pPr>
          </a:lstStyle>
          <a:p>
            <a:r>
              <a:rPr lang="de-DE" dirty="0"/>
              <a:t>Mastertitelformat bearbeiten</a:t>
            </a:r>
            <a:endParaRPr lang="en-US" dirty="0"/>
          </a:p>
        </p:txBody>
      </p:sp>
      <p:sp>
        <p:nvSpPr>
          <p:cNvPr id="3" name="Vertical Text Placeholder 2"/>
          <p:cNvSpPr>
            <a:spLocks noGrp="1"/>
          </p:cNvSpPr>
          <p:nvPr>
            <p:ph type="body" orient="vert" idx="1"/>
          </p:nvPr>
        </p:nvSpPr>
        <p:spPr/>
        <p:txBody>
          <a:bodyPr vert="eaVert"/>
          <a:lstStyle>
            <a:lvl1pPr>
              <a:defRPr b="0" i="0">
                <a:latin typeface="Arial Regular"/>
              </a:defRPr>
            </a:lvl1pPr>
          </a:lstStyle>
          <a:p>
            <a:pPr lvl="0"/>
            <a:r>
              <a:rPr lang="de-DE" dirty="0"/>
              <a:t>Mastertextformat bearbeiten
Zweite Ebene
Dritte Ebene
Vierte Ebene
Fünfte Ebene</a:t>
            </a:r>
            <a:endParaRPr lang="en-US" dirty="0"/>
          </a:p>
        </p:txBody>
      </p:sp>
      <p:sp>
        <p:nvSpPr>
          <p:cNvPr id="4" name="Date Placeholder 3"/>
          <p:cNvSpPr>
            <a:spLocks noGrp="1"/>
          </p:cNvSpPr>
          <p:nvPr>
            <p:ph type="dt" sz="half" idx="10"/>
          </p:nvPr>
        </p:nvSpPr>
        <p:spPr/>
        <p:txBody>
          <a:bodyPr/>
          <a:lstStyle>
            <a:lvl1pPr>
              <a:defRPr b="0" i="0">
                <a:latin typeface="Arial Regular"/>
              </a:defRPr>
            </a:lvl1pPr>
          </a:lstStyle>
          <a:p>
            <a:fld id="{C764DE79-268F-4C1A-8933-263129D2AF90}" type="datetimeFigureOut">
              <a:rPr lang="en-US" smtClean="0"/>
              <a:pPr/>
              <a:t>10/13/26</a:t>
            </a:fld>
            <a:endParaRPr lang="en-US" dirty="0"/>
          </a:p>
        </p:txBody>
      </p:sp>
      <p:sp>
        <p:nvSpPr>
          <p:cNvPr id="5" name="Footer Placeholder 4"/>
          <p:cNvSpPr>
            <a:spLocks noGrp="1"/>
          </p:cNvSpPr>
          <p:nvPr>
            <p:ph type="ftr" sz="quarter" idx="11"/>
          </p:nvPr>
        </p:nvSpPr>
        <p:spPr/>
        <p:txBody>
          <a:bodyPr/>
          <a:lstStyle>
            <a:lvl1pPr>
              <a:defRPr b="0" i="0">
                <a:latin typeface="Arial Regular"/>
              </a:defRPr>
            </a:lvl1pPr>
          </a:lstStyle>
          <a:p>
            <a:endParaRPr lang="en-US" dirty="0"/>
          </a:p>
        </p:txBody>
      </p:sp>
      <p:sp>
        <p:nvSpPr>
          <p:cNvPr id="6" name="Slide Number Placeholder 5"/>
          <p:cNvSpPr>
            <a:spLocks noGrp="1"/>
          </p:cNvSpPr>
          <p:nvPr>
            <p:ph type="sldNum" sz="quarter" idx="12"/>
          </p:nvPr>
        </p:nvSpPr>
        <p:spPr/>
        <p:txBody>
          <a:bodyPr/>
          <a:lstStyle>
            <a:lvl1pPr>
              <a:defRPr b="0" i="0">
                <a:latin typeface="Arial Regular"/>
              </a:defRPr>
            </a:lvl1pPr>
          </a:lstStyle>
          <a:p>
            <a:fld id="{48F63A3B-78C7-47BE-AE5E-E10140E04643}" type="slidenum">
              <a:rPr lang="en-US" smtClean="0"/>
              <a:pPr/>
              <a:t>‹Nr.›</a:t>
            </a:fld>
            <a:endParaRPr lang="en-US" dirty="0"/>
          </a:p>
        </p:txBody>
      </p:sp>
    </p:spTree>
    <p:extLst>
      <p:ext uri="{BB962C8B-B14F-4D97-AF65-F5344CB8AC3E}">
        <p14:creationId xmlns:p14="http://schemas.microsoft.com/office/powerpoint/2010/main" val="3942562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lvl1pPr>
              <a:defRPr b="0" i="0">
                <a:latin typeface="Arial Regular"/>
              </a:defRPr>
            </a:lvl1pPr>
          </a:lstStyle>
          <a:p>
            <a:r>
              <a:rPr lang="de-DE" dirty="0"/>
              <a:t>Mastertitelformat bearbeiten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lvl1pPr>
              <a:defRPr b="0" i="0">
                <a:latin typeface="Arial Regular"/>
              </a:defRPr>
            </a:lvl1pPr>
          </a:lstStyle>
          <a:p>
            <a:pPr lvl="0"/>
            <a:r>
              <a:rPr lang="de-DE" dirty="0"/>
              <a:t>Mastertextformat bearbeiten
Zweite Ebene
Dritte Ebene
Vierte Ebene
Fünfte Ebene</a:t>
            </a:r>
            <a:endParaRPr lang="en-US" dirty="0"/>
          </a:p>
        </p:txBody>
      </p:sp>
      <p:sp>
        <p:nvSpPr>
          <p:cNvPr id="4" name="Date Placeholder 3"/>
          <p:cNvSpPr>
            <a:spLocks noGrp="1"/>
          </p:cNvSpPr>
          <p:nvPr>
            <p:ph type="dt" sz="half" idx="10"/>
          </p:nvPr>
        </p:nvSpPr>
        <p:spPr/>
        <p:txBody>
          <a:bodyPr/>
          <a:lstStyle>
            <a:lvl1pPr>
              <a:defRPr b="0" i="0">
                <a:latin typeface="Arial Regular"/>
              </a:defRPr>
            </a:lvl1pPr>
          </a:lstStyle>
          <a:p>
            <a:fld id="{C764DE79-268F-4C1A-8933-263129D2AF90}" type="datetimeFigureOut">
              <a:rPr lang="en-US" smtClean="0"/>
              <a:pPr/>
              <a:t>10/13/26</a:t>
            </a:fld>
            <a:endParaRPr lang="en-US" dirty="0"/>
          </a:p>
        </p:txBody>
      </p:sp>
      <p:sp>
        <p:nvSpPr>
          <p:cNvPr id="5" name="Footer Placeholder 4"/>
          <p:cNvSpPr>
            <a:spLocks noGrp="1"/>
          </p:cNvSpPr>
          <p:nvPr>
            <p:ph type="ftr" sz="quarter" idx="11"/>
          </p:nvPr>
        </p:nvSpPr>
        <p:spPr/>
        <p:txBody>
          <a:bodyPr/>
          <a:lstStyle>
            <a:lvl1pPr>
              <a:defRPr b="0" i="0">
                <a:latin typeface="Arial Regular"/>
              </a:defRPr>
            </a:lvl1pPr>
          </a:lstStyle>
          <a:p>
            <a:endParaRPr lang="en-US" dirty="0"/>
          </a:p>
        </p:txBody>
      </p:sp>
      <p:sp>
        <p:nvSpPr>
          <p:cNvPr id="6" name="Slide Number Placeholder 5"/>
          <p:cNvSpPr>
            <a:spLocks noGrp="1"/>
          </p:cNvSpPr>
          <p:nvPr>
            <p:ph type="sldNum" sz="quarter" idx="12"/>
          </p:nvPr>
        </p:nvSpPr>
        <p:spPr/>
        <p:txBody>
          <a:bodyPr/>
          <a:lstStyle>
            <a:lvl1pPr>
              <a:defRPr b="0" i="0">
                <a:latin typeface="Arial Regular"/>
              </a:defRPr>
            </a:lvl1pPr>
          </a:lstStyle>
          <a:p>
            <a:fld id="{48F63A3B-78C7-47BE-AE5E-E10140E04643}" type="slidenum">
              <a:rPr lang="en-US" smtClean="0"/>
              <a:pPr/>
              <a:t>‹Nr.›</a:t>
            </a:fld>
            <a:endParaRPr lang="en-US" dirty="0"/>
          </a:p>
        </p:txBody>
      </p:sp>
    </p:spTree>
    <p:extLst>
      <p:ext uri="{BB962C8B-B14F-4D97-AF65-F5344CB8AC3E}">
        <p14:creationId xmlns:p14="http://schemas.microsoft.com/office/powerpoint/2010/main" val="5838806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Leer_5f_">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55BAB5-C57D-F34E-A98F-E78419DECDE5}"/>
              </a:ext>
            </a:extLst>
          </p:cNvPr>
          <p:cNvSpPr txBox="1">
            <a:spLocks noGrp="1"/>
          </p:cNvSpPr>
          <p:nvPr>
            <p:ph type="title" idx="4294967295"/>
          </p:nvPr>
        </p:nvSpPr>
        <p:spPr>
          <a:xfrm>
            <a:off x="457171" y="273352"/>
            <a:ext cx="8229090" cy="1144682"/>
          </a:xfrm>
        </p:spPr>
        <p:txBody>
          <a:bodyPr lIns="0" tIns="0" rIns="0" bIns="0" anchor="ctr"/>
          <a:lstStyle>
            <a:lvl1pPr algn="ctr">
              <a:defRPr lang="de-DE" b="0" i="0" kern="1200">
                <a:latin typeface="Arial Regular"/>
                <a:ea typeface="PingFang SC" pitchFamily="2"/>
                <a:cs typeface="Arial Unicode MS" pitchFamily="2"/>
              </a:defRPr>
            </a:lvl1pPr>
          </a:lstStyle>
          <a:p>
            <a:endParaRPr lang="de-DE" dirty="0"/>
          </a:p>
        </p:txBody>
      </p:sp>
      <p:sp>
        <p:nvSpPr>
          <p:cNvPr id="3" name="Textplatzhalter 2">
            <a:extLst>
              <a:ext uri="{FF2B5EF4-FFF2-40B4-BE49-F238E27FC236}">
                <a16:creationId xmlns:a16="http://schemas.microsoft.com/office/drawing/2014/main" id="{B24E051B-F886-244F-8738-A29BD7356923}"/>
              </a:ext>
            </a:extLst>
          </p:cNvPr>
          <p:cNvSpPr txBox="1">
            <a:spLocks noGrp="1"/>
          </p:cNvSpPr>
          <p:nvPr>
            <p:ph type="body" idx="4294967295"/>
          </p:nvPr>
        </p:nvSpPr>
        <p:spPr>
          <a:xfrm>
            <a:off x="457171" y="1604514"/>
            <a:ext cx="8229090" cy="402033"/>
          </a:xfrm>
        </p:spPr>
        <p:txBody>
          <a:bodyPr lIns="0" tIns="0" rIns="0" bIns="0">
            <a:spAutoFit/>
          </a:bodyPr>
          <a:lstStyle>
            <a:lvl1pPr>
              <a:spcBef>
                <a:spcPts val="1285"/>
              </a:spcBef>
              <a:defRPr lang="de-DE" sz="2903" b="0" i="0" kern="1200">
                <a:latin typeface="Arial Regular"/>
                <a:ea typeface="PingFang SC" pitchFamily="2"/>
                <a:cs typeface="Arial Unicode MS" pitchFamily="2"/>
              </a:defRPr>
            </a:lvl1pPr>
          </a:lstStyle>
          <a:p>
            <a:endParaRPr lang="de-DE" dirty="0"/>
          </a:p>
        </p:txBody>
      </p:sp>
    </p:spTree>
    <p:extLst>
      <p:ext uri="{BB962C8B-B14F-4D97-AF65-F5344CB8AC3E}">
        <p14:creationId xmlns:p14="http://schemas.microsoft.com/office/powerpoint/2010/main" val="877750398"/>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de-DE" dirty="0"/>
              <a:t>Mastertitelformat bearbeiten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de-DE" dirty="0"/>
              <a:t>Mastertextformat bearbeiten
Zweite Ebene
Dritte Ebene
Vierte Ebene
Fünfte Ebene</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b="0" i="0">
                <a:solidFill>
                  <a:schemeClr val="tx1">
                    <a:tint val="75000"/>
                  </a:schemeClr>
                </a:solidFill>
                <a:latin typeface="Arial Regular"/>
              </a:defRPr>
            </a:lvl1pPr>
          </a:lstStyle>
          <a:p>
            <a:fld id="{C764DE79-268F-4C1A-8933-263129D2AF90}" type="datetimeFigureOut">
              <a:rPr lang="en-US" smtClean="0"/>
              <a:pPr/>
              <a:t>10/13/26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b="0" i="0">
                <a:solidFill>
                  <a:schemeClr val="tx1">
                    <a:tint val="75000"/>
                  </a:schemeClr>
                </a:solidFill>
                <a:latin typeface="Arial Regular"/>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b="0" i="0">
                <a:solidFill>
                  <a:schemeClr val="tx1">
                    <a:tint val="75000"/>
                  </a:schemeClr>
                </a:solidFill>
                <a:latin typeface="Arial Regular"/>
              </a:defRPr>
            </a:lvl1pPr>
          </a:lstStyle>
          <a:p>
            <a:fld id="{48F63A3B-78C7-47BE-AE5E-E10140E04643}" type="slidenum">
              <a:rPr lang="en-US" smtClean="0"/>
              <a:pPr/>
              <a:t>‹Nr.›</a:t>
            </a:fld>
            <a:endParaRPr lang="en-US" dirty="0"/>
          </a:p>
        </p:txBody>
      </p:sp>
    </p:spTree>
    <p:extLst>
      <p:ext uri="{BB962C8B-B14F-4D97-AF65-F5344CB8AC3E}">
        <p14:creationId xmlns:p14="http://schemas.microsoft.com/office/powerpoint/2010/main" val="211548092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b="0" i="0" kern="1200">
          <a:solidFill>
            <a:schemeClr val="tx1"/>
          </a:solidFill>
          <a:latin typeface="Arial Regular"/>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rial Regular"/>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audio" Target="../media/media4.mp3"/><Relationship Id="rId13" Type="http://schemas.openxmlformats.org/officeDocument/2006/relationships/image" Target="../media/image5.tiff"/><Relationship Id="rId18" Type="http://schemas.openxmlformats.org/officeDocument/2006/relationships/image" Target="../media/image10.png"/><Relationship Id="rId3" Type="http://schemas.microsoft.com/office/2007/relationships/media" Target="../media/media2.mp3"/><Relationship Id="rId7" Type="http://schemas.microsoft.com/office/2007/relationships/media" Target="../media/media4.mp3"/><Relationship Id="rId12" Type="http://schemas.openxmlformats.org/officeDocument/2006/relationships/notesSlide" Target="../notesSlides/notesSlide3.xml"/><Relationship Id="rId17" Type="http://schemas.openxmlformats.org/officeDocument/2006/relationships/image" Target="../media/image9.tiff"/><Relationship Id="rId2" Type="http://schemas.openxmlformats.org/officeDocument/2006/relationships/audio" Target="../media/media1.mp3"/><Relationship Id="rId16" Type="http://schemas.openxmlformats.org/officeDocument/2006/relationships/image" Target="../media/image8.tiff"/><Relationship Id="rId1" Type="http://schemas.microsoft.com/office/2007/relationships/media" Target="../media/media1.mp3"/><Relationship Id="rId6" Type="http://schemas.openxmlformats.org/officeDocument/2006/relationships/audio" Target="../media/media3.mp3"/><Relationship Id="rId11" Type="http://schemas.openxmlformats.org/officeDocument/2006/relationships/slideLayout" Target="../slideLayouts/slideLayout12.xml"/><Relationship Id="rId5" Type="http://schemas.microsoft.com/office/2007/relationships/media" Target="../media/media3.mp3"/><Relationship Id="rId15" Type="http://schemas.openxmlformats.org/officeDocument/2006/relationships/image" Target="../media/image7.tiff"/><Relationship Id="rId10" Type="http://schemas.openxmlformats.org/officeDocument/2006/relationships/audio" Target="../media/media5.mp3"/><Relationship Id="rId4" Type="http://schemas.openxmlformats.org/officeDocument/2006/relationships/audio" Target="../media/media2.mp3"/><Relationship Id="rId9" Type="http://schemas.microsoft.com/office/2007/relationships/media" Target="../media/media5.mp3"/><Relationship Id="rId14" Type="http://schemas.openxmlformats.org/officeDocument/2006/relationships/image" Target="../media/image6.tiff"/></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4.xml"/><Relationship Id="rId3" Type="http://schemas.microsoft.com/office/2007/relationships/media" Target="../media/media7.wav"/><Relationship Id="rId7" Type="http://schemas.openxmlformats.org/officeDocument/2006/relationships/slideLayout" Target="../slideLayouts/slideLayout12.xml"/><Relationship Id="rId12" Type="http://schemas.openxmlformats.org/officeDocument/2006/relationships/image" Target="../media/image10.png"/><Relationship Id="rId2" Type="http://schemas.openxmlformats.org/officeDocument/2006/relationships/audio" Target="../media/media6.wav"/><Relationship Id="rId1" Type="http://schemas.microsoft.com/office/2007/relationships/media" Target="../media/media6.wav"/><Relationship Id="rId6" Type="http://schemas.openxmlformats.org/officeDocument/2006/relationships/audio" Target="../media/media8.wav"/><Relationship Id="rId11" Type="http://schemas.openxmlformats.org/officeDocument/2006/relationships/image" Target="../media/image13.png"/><Relationship Id="rId5" Type="http://schemas.microsoft.com/office/2007/relationships/media" Target="../media/media8.wav"/><Relationship Id="rId10" Type="http://schemas.openxmlformats.org/officeDocument/2006/relationships/image" Target="../media/image12.png"/><Relationship Id="rId4" Type="http://schemas.openxmlformats.org/officeDocument/2006/relationships/audio" Target="../media/media7.wav"/><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6.xml"/><Relationship Id="rId3" Type="http://schemas.microsoft.com/office/2007/relationships/media" Target="../media/media10.mp3"/><Relationship Id="rId7" Type="http://schemas.openxmlformats.org/officeDocument/2006/relationships/slideLayout" Target="../slideLayouts/slideLayout12.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audio" Target="../media/media11.mp3"/><Relationship Id="rId11" Type="http://schemas.openxmlformats.org/officeDocument/2006/relationships/image" Target="../media/image10.png"/><Relationship Id="rId5" Type="http://schemas.microsoft.com/office/2007/relationships/media" Target="../media/media11.mp3"/><Relationship Id="rId10" Type="http://schemas.openxmlformats.org/officeDocument/2006/relationships/image" Target="../media/image16.gif"/><Relationship Id="rId4" Type="http://schemas.openxmlformats.org/officeDocument/2006/relationships/audio" Target="../media/media10.mp3"/><Relationship Id="rId9" Type="http://schemas.openxmlformats.org/officeDocument/2006/relationships/image" Target="../media/image15.gi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31.jp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34.jp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37.jpg"/><Relationship Id="rId4" Type="http://schemas.openxmlformats.org/officeDocument/2006/relationships/image" Target="../media/image36.jpg"/></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23.xml"/><Relationship Id="rId1" Type="http://schemas.openxmlformats.org/officeDocument/2006/relationships/slideLayout" Target="../slideLayouts/slideLayout12.xml"/><Relationship Id="rId5" Type="http://schemas.openxmlformats.org/officeDocument/2006/relationships/image" Target="../media/image41.png"/><Relationship Id="rId4" Type="http://schemas.openxmlformats.org/officeDocument/2006/relationships/image" Target="../media/image40.jpg"/></Relationships>
</file>

<file path=ppt/slides/_rels/slide25.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43.jp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2.mp4"/><Relationship Id="rId1" Type="http://schemas.microsoft.com/office/2007/relationships/media" Target="../media/media12.mp4"/><Relationship Id="rId6" Type="http://schemas.openxmlformats.org/officeDocument/2006/relationships/image" Target="../media/image45.png"/><Relationship Id="rId5" Type="http://schemas.openxmlformats.org/officeDocument/2006/relationships/image" Target="../media/image44.jpg"/><Relationship Id="rId4"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2.xml"/><Relationship Id="rId1" Type="http://schemas.openxmlformats.org/officeDocument/2006/relationships/slideLayout" Target="../slideLayouts/slideLayout12.xml"/><Relationship Id="rId5" Type="http://schemas.openxmlformats.org/officeDocument/2006/relationships/image" Target="../media/image54.png"/><Relationship Id="rId4" Type="http://schemas.openxmlformats.org/officeDocument/2006/relationships/image" Target="../media/image53.jpg"/></Relationships>
</file>

<file path=ppt/slides/_rels/slide3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56.png"/></Relationships>
</file>

<file path=ppt/slides/_rels/slide3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1.xml"/><Relationship Id="rId1" Type="http://schemas.openxmlformats.org/officeDocument/2006/relationships/slideLayout" Target="../slideLayouts/slideLayout12.xml"/><Relationship Id="rId4" Type="http://schemas.openxmlformats.org/officeDocument/2006/relationships/image" Target="../media/image65.png"/></Relationships>
</file>

<file path=ppt/slides/_rels/slide43.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notesSlide" Target="../notesSlides/notesSlide42.xml"/><Relationship Id="rId1" Type="http://schemas.openxmlformats.org/officeDocument/2006/relationships/slideLayout" Target="../slideLayouts/slideLayout12.xml"/><Relationship Id="rId5" Type="http://schemas.openxmlformats.org/officeDocument/2006/relationships/image" Target="../media/image68.jpg"/><Relationship Id="rId4" Type="http://schemas.openxmlformats.org/officeDocument/2006/relationships/image" Target="../media/image67.jpg"/></Relationships>
</file>

<file path=ppt/slides/_rels/slide44.xml.rels><?xml version="1.0" encoding="UTF-8" standalone="yes"?>
<Relationships xmlns="http://schemas.openxmlformats.org/package/2006/relationships"><Relationship Id="rId3" Type="http://schemas.openxmlformats.org/officeDocument/2006/relationships/image" Target="../media/image69.jp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72.png"/><Relationship Id="rId5" Type="http://schemas.openxmlformats.org/officeDocument/2006/relationships/image" Target="../media/image71.jpg"/><Relationship Id="rId4" Type="http://schemas.openxmlformats.org/officeDocument/2006/relationships/image" Target="../media/image70.jpg"/></Relationships>
</file>

<file path=ppt/slides/_rels/slide45.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45.xml"/><Relationship Id="rId1" Type="http://schemas.openxmlformats.org/officeDocument/2006/relationships/slideLayout" Target="../slideLayouts/slideLayout12.xml"/><Relationship Id="rId5" Type="http://schemas.openxmlformats.org/officeDocument/2006/relationships/image" Target="../media/image76.jpg"/><Relationship Id="rId4" Type="http://schemas.openxmlformats.org/officeDocument/2006/relationships/image" Target="../media/image75.jpg"/></Relationships>
</file>

<file path=ppt/slides/_rels/slide47.xml.rels><?xml version="1.0" encoding="UTF-8" standalone="yes"?>
<Relationships xmlns="http://schemas.openxmlformats.org/package/2006/relationships"><Relationship Id="rId3" Type="http://schemas.openxmlformats.org/officeDocument/2006/relationships/image" Target="../media/image77.jp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79.jpg"/><Relationship Id="rId2" Type="http://schemas.openxmlformats.org/officeDocument/2006/relationships/notesSlide" Target="../notesSlides/notesSlide48.xml"/><Relationship Id="rId1" Type="http://schemas.openxmlformats.org/officeDocument/2006/relationships/slideLayout" Target="../slideLayouts/slideLayout12.xml"/><Relationship Id="rId5" Type="http://schemas.openxmlformats.org/officeDocument/2006/relationships/image" Target="../media/image81.jpg"/><Relationship Id="rId4" Type="http://schemas.openxmlformats.org/officeDocument/2006/relationships/image" Target="../media/image80.jpg"/></Relationships>
</file>

<file path=ppt/slides/_rels/slide50.xml.rels><?xml version="1.0" encoding="UTF-8" standalone="yes"?>
<Relationships xmlns="http://schemas.openxmlformats.org/package/2006/relationships"><Relationship Id="rId8" Type="http://schemas.openxmlformats.org/officeDocument/2006/relationships/image" Target="../media/image87.jpg"/><Relationship Id="rId13" Type="http://schemas.openxmlformats.org/officeDocument/2006/relationships/image" Target="../media/image92.jpg"/><Relationship Id="rId18" Type="http://schemas.openxmlformats.org/officeDocument/2006/relationships/image" Target="../media/image97.jpg"/><Relationship Id="rId3" Type="http://schemas.openxmlformats.org/officeDocument/2006/relationships/image" Target="../media/image82.jpg"/><Relationship Id="rId7" Type="http://schemas.openxmlformats.org/officeDocument/2006/relationships/image" Target="../media/image86.jpg"/><Relationship Id="rId12" Type="http://schemas.openxmlformats.org/officeDocument/2006/relationships/image" Target="../media/image91.jpg"/><Relationship Id="rId17" Type="http://schemas.openxmlformats.org/officeDocument/2006/relationships/image" Target="../media/image96.jpg"/><Relationship Id="rId2" Type="http://schemas.openxmlformats.org/officeDocument/2006/relationships/notesSlide" Target="../notesSlides/notesSlide49.xml"/><Relationship Id="rId16" Type="http://schemas.openxmlformats.org/officeDocument/2006/relationships/image" Target="../media/image95.jpg"/><Relationship Id="rId1" Type="http://schemas.openxmlformats.org/officeDocument/2006/relationships/slideLayout" Target="../slideLayouts/slideLayout12.xml"/><Relationship Id="rId6" Type="http://schemas.openxmlformats.org/officeDocument/2006/relationships/image" Target="../media/image85.jpg"/><Relationship Id="rId11" Type="http://schemas.openxmlformats.org/officeDocument/2006/relationships/image" Target="../media/image90.jpg"/><Relationship Id="rId5" Type="http://schemas.openxmlformats.org/officeDocument/2006/relationships/image" Target="../media/image84.jpg"/><Relationship Id="rId15" Type="http://schemas.openxmlformats.org/officeDocument/2006/relationships/image" Target="../media/image94.jpg"/><Relationship Id="rId10" Type="http://schemas.openxmlformats.org/officeDocument/2006/relationships/image" Target="../media/image89.jpg"/><Relationship Id="rId19" Type="http://schemas.openxmlformats.org/officeDocument/2006/relationships/image" Target="../media/image98.jpg"/><Relationship Id="rId4" Type="http://schemas.openxmlformats.org/officeDocument/2006/relationships/image" Target="../media/image83.jpg"/><Relationship Id="rId9" Type="http://schemas.openxmlformats.org/officeDocument/2006/relationships/image" Target="../media/image88.jpg"/><Relationship Id="rId14" Type="http://schemas.openxmlformats.org/officeDocument/2006/relationships/image" Target="../media/image93.jp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102.gif"/><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103.tiff"/><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104.gif"/><Relationship Id="rId2" Type="http://schemas.openxmlformats.org/officeDocument/2006/relationships/notesSlide" Target="../notesSlides/notesSlide58.xml"/><Relationship Id="rId1" Type="http://schemas.openxmlformats.org/officeDocument/2006/relationships/slideLayout" Target="../slideLayouts/slideLayout12.xml"/><Relationship Id="rId4" Type="http://schemas.openxmlformats.org/officeDocument/2006/relationships/image" Target="../media/image105.png"/></Relationships>
</file>

<file path=ppt/slides/_rels/slide60.xml.rels><?xml version="1.0" encoding="UTF-8" standalone="yes"?>
<Relationships xmlns="http://schemas.openxmlformats.org/package/2006/relationships"><Relationship Id="rId8" Type="http://schemas.openxmlformats.org/officeDocument/2006/relationships/image" Target="../media/image107.png"/><Relationship Id="rId3" Type="http://schemas.microsoft.com/office/2007/relationships/media" Target="../media/media14.mp3"/><Relationship Id="rId7" Type="http://schemas.openxmlformats.org/officeDocument/2006/relationships/image" Target="../media/image106.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notesSlide" Target="../notesSlides/notesSlide59.xml"/><Relationship Id="rId5" Type="http://schemas.openxmlformats.org/officeDocument/2006/relationships/slideLayout" Target="../slideLayouts/slideLayout12.xml"/><Relationship Id="rId4" Type="http://schemas.openxmlformats.org/officeDocument/2006/relationships/audio" Target="../media/media14.mp3"/><Relationship Id="rId9" Type="http://schemas.openxmlformats.org/officeDocument/2006/relationships/image" Target="../media/image10.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10.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61.xml"/><Relationship Id="rId1" Type="http://schemas.openxmlformats.org/officeDocument/2006/relationships/slideLayout" Target="../slideLayouts/slideLayout12.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s>
</file>

<file path=ppt/slides/_rels/slide63.xml.rels><?xml version="1.0" encoding="UTF-8" standalone="yes"?>
<Relationships xmlns="http://schemas.openxmlformats.org/package/2006/relationships"><Relationship Id="rId8" Type="http://schemas.openxmlformats.org/officeDocument/2006/relationships/image" Target="../media/image116.tiff"/><Relationship Id="rId3" Type="http://schemas.openxmlformats.org/officeDocument/2006/relationships/slideLayout" Target="../slideLayouts/slideLayout12.xml"/><Relationship Id="rId7" Type="http://schemas.openxmlformats.org/officeDocument/2006/relationships/image" Target="../media/image115.tiff"/><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114.tiff"/><Relationship Id="rId5" Type="http://schemas.openxmlformats.org/officeDocument/2006/relationships/image" Target="../media/image10.png"/><Relationship Id="rId4" Type="http://schemas.openxmlformats.org/officeDocument/2006/relationships/notesSlide" Target="../notesSlides/notesSlide62.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118.tiff"/><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117.png"/><Relationship Id="rId5" Type="http://schemas.openxmlformats.org/officeDocument/2006/relationships/image" Target="../media/image10.png"/><Relationship Id="rId4" Type="http://schemas.openxmlformats.org/officeDocument/2006/relationships/notesSlide" Target="../notesSlides/notesSlide63.xml"/></Relationships>
</file>

<file path=ppt/slides/_rels/slide65.xml.rels><?xml version="1.0" encoding="UTF-8" standalone="yes"?>
<Relationships xmlns="http://schemas.openxmlformats.org/package/2006/relationships"><Relationship Id="rId8" Type="http://schemas.openxmlformats.org/officeDocument/2006/relationships/image" Target="../media/image119.png"/><Relationship Id="rId3" Type="http://schemas.microsoft.com/office/2007/relationships/media" Target="../media/media19.mp3"/><Relationship Id="rId7" Type="http://schemas.openxmlformats.org/officeDocument/2006/relationships/image" Target="../media/image10.png"/><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notesSlide" Target="../notesSlides/notesSlide64.xml"/><Relationship Id="rId5" Type="http://schemas.openxmlformats.org/officeDocument/2006/relationships/slideLayout" Target="../slideLayouts/slideLayout12.xml"/><Relationship Id="rId4" Type="http://schemas.openxmlformats.org/officeDocument/2006/relationships/audio" Target="../media/media19.mp3"/></Relationships>
</file>

<file path=ppt/slides/_rels/slide6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3" Type="http://schemas.openxmlformats.org/officeDocument/2006/relationships/image" Target="../media/image121.gif"/><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18">
            <a:extLst>
              <a:ext uri="{FF2B5EF4-FFF2-40B4-BE49-F238E27FC236}">
                <a16:creationId xmlns:a16="http://schemas.microsoft.com/office/drawing/2014/main" id="{49BEED01-3A37-8C4C-2F17-A4CAC101777C}"/>
              </a:ext>
            </a:extLst>
          </p:cNvPr>
          <p:cNvSpPr txBox="1"/>
          <p:nvPr/>
        </p:nvSpPr>
        <p:spPr>
          <a:xfrm>
            <a:off x="1219453" y="5367114"/>
            <a:ext cx="1898873" cy="246221"/>
          </a:xfrm>
          <a:prstGeom prst="rect">
            <a:avLst/>
          </a:prstGeom>
          <a:noFill/>
        </p:spPr>
        <p:txBody>
          <a:bodyPr wrap="square" rtlCol="0">
            <a:spAutoFit/>
          </a:bodyPr>
          <a:lstStyle/>
          <a:p>
            <a:r>
              <a:rPr lang="de-DE" sz="1000" spc="-8" dirty="0" err="1">
                <a:solidFill>
                  <a:schemeClr val="tx1">
                    <a:lumMod val="85000"/>
                    <a:lumOff val="15000"/>
                  </a:schemeClr>
                </a:solidFill>
                <a:latin typeface="Studio Pro" pitchFamily="2" charset="77"/>
              </a:rPr>
              <a:t>Univ.Prof</a:t>
            </a:r>
            <a:r>
              <a:rPr lang="de-DE" sz="1000" spc="-8" dirty="0">
                <a:solidFill>
                  <a:schemeClr val="tx1">
                    <a:lumMod val="85000"/>
                    <a:lumOff val="15000"/>
                  </a:schemeClr>
                </a:solidFill>
                <a:latin typeface="Studio Pro" pitchFamily="2" charset="77"/>
              </a:rPr>
              <a:t>. Achim Bornhoeft</a:t>
            </a:r>
            <a:endParaRPr lang="fr-AT" sz="1000" spc="-8" dirty="0">
              <a:solidFill>
                <a:schemeClr val="tx1">
                  <a:lumMod val="85000"/>
                  <a:lumOff val="15000"/>
                </a:schemeClr>
              </a:solidFill>
              <a:latin typeface="Studio Pro" pitchFamily="2" charset="77"/>
            </a:endParaRPr>
          </a:p>
        </p:txBody>
      </p:sp>
      <p:sp>
        <p:nvSpPr>
          <p:cNvPr id="6" name="ZoneTexte 19">
            <a:extLst>
              <a:ext uri="{FF2B5EF4-FFF2-40B4-BE49-F238E27FC236}">
                <a16:creationId xmlns:a16="http://schemas.microsoft.com/office/drawing/2014/main" id="{04F42A54-3374-ADA6-8520-6CEFF9E4803C}"/>
              </a:ext>
            </a:extLst>
          </p:cNvPr>
          <p:cNvSpPr txBox="1"/>
          <p:nvPr/>
        </p:nvSpPr>
        <p:spPr>
          <a:xfrm>
            <a:off x="1166490" y="2576623"/>
            <a:ext cx="5855663" cy="605294"/>
          </a:xfrm>
          <a:prstGeom prst="rect">
            <a:avLst/>
          </a:prstGeom>
          <a:noFill/>
        </p:spPr>
        <p:txBody>
          <a:bodyPr wrap="square" rtlCol="0">
            <a:spAutoFit/>
          </a:bodyPr>
          <a:lstStyle/>
          <a:p>
            <a:pPr indent="-180900" fontAlgn="t">
              <a:lnSpc>
                <a:spcPts val="3975"/>
              </a:lnSpc>
            </a:pPr>
            <a:r>
              <a:rPr lang="de-AT" sz="2000" b="1" dirty="0">
                <a:solidFill>
                  <a:srgbClr val="000000"/>
                </a:solidFill>
                <a:latin typeface="Studio Pro Bold" pitchFamily="2" charset="77"/>
              </a:rPr>
              <a:t>Digital Audio</a:t>
            </a:r>
            <a:endParaRPr lang="fr-AT" sz="2000" b="1" spc="-300" dirty="0">
              <a:solidFill>
                <a:schemeClr val="tx1">
                  <a:lumMod val="85000"/>
                  <a:lumOff val="15000"/>
                </a:schemeClr>
              </a:solidFill>
              <a:latin typeface="Studio Pro Bold" pitchFamily="2" charset="77"/>
            </a:endParaRPr>
          </a:p>
        </p:txBody>
      </p:sp>
      <p:cxnSp>
        <p:nvCxnSpPr>
          <p:cNvPr id="7" name="Connecteur droit 9">
            <a:extLst>
              <a:ext uri="{FF2B5EF4-FFF2-40B4-BE49-F238E27FC236}">
                <a16:creationId xmlns:a16="http://schemas.microsoft.com/office/drawing/2014/main" id="{2D892AAA-B7BA-6A74-CFDC-14F7086B8960}"/>
              </a:ext>
            </a:extLst>
          </p:cNvPr>
          <p:cNvCxnSpPr>
            <a:cxnSpLocks/>
          </p:cNvCxnSpPr>
          <p:nvPr/>
        </p:nvCxnSpPr>
        <p:spPr>
          <a:xfrm>
            <a:off x="1291184" y="4459734"/>
            <a:ext cx="2930237" cy="0"/>
          </a:xfrm>
          <a:prstGeom prst="line">
            <a:avLst/>
          </a:prstGeom>
          <a:ln w="3175">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9" name="Gerade Verbindung 8">
            <a:extLst>
              <a:ext uri="{FF2B5EF4-FFF2-40B4-BE49-F238E27FC236}">
                <a16:creationId xmlns:a16="http://schemas.microsoft.com/office/drawing/2014/main" id="{E3B843C6-6929-722B-6380-D090170B2FD1}"/>
              </a:ext>
            </a:extLst>
          </p:cNvPr>
          <p:cNvCxnSpPr/>
          <p:nvPr/>
        </p:nvCxnSpPr>
        <p:spPr>
          <a:xfrm>
            <a:off x="0" y="986717"/>
            <a:ext cx="9144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13" name="Grafik 12" descr="Ein Bild, das Schrift, Screenshot, Text, Grafiken enthält.&#10;&#10;Automatisch generierte Beschreibung">
            <a:extLst>
              <a:ext uri="{FF2B5EF4-FFF2-40B4-BE49-F238E27FC236}">
                <a16:creationId xmlns:a16="http://schemas.microsoft.com/office/drawing/2014/main" id="{04A6E9DF-5E3E-D3B2-3415-15CF2EF91770}"/>
              </a:ext>
            </a:extLst>
          </p:cNvPr>
          <p:cNvPicPr>
            <a:picLocks noChangeAspect="1"/>
          </p:cNvPicPr>
          <p:nvPr/>
        </p:nvPicPr>
        <p:blipFill>
          <a:blip r:embed="rId2"/>
          <a:stretch>
            <a:fillRect/>
          </a:stretch>
        </p:blipFill>
        <p:spPr>
          <a:xfrm>
            <a:off x="1291184" y="567253"/>
            <a:ext cx="1715087" cy="419464"/>
          </a:xfrm>
          <a:prstGeom prst="rect">
            <a:avLst/>
          </a:prstGeom>
        </p:spPr>
      </p:pic>
    </p:spTree>
    <p:extLst>
      <p:ext uri="{BB962C8B-B14F-4D97-AF65-F5344CB8AC3E}">
        <p14:creationId xmlns:p14="http://schemas.microsoft.com/office/powerpoint/2010/main" val="528615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2">
    <p:bg>
      <p:bgPr>
        <a:solidFill>
          <a:srgbClr val="FFFFFF"/>
        </a:solidFill>
        <a:effectLst/>
      </p:bgPr>
    </p:bg>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46FBB3B5-DDB9-A448-8670-7B8D03C7A7B9}"/>
              </a:ext>
            </a:extLst>
          </p:cNvPr>
          <p:cNvPicPr>
            <a:picLocks noChangeAspect="1"/>
          </p:cNvPicPr>
          <p:nvPr/>
        </p:nvPicPr>
        <p:blipFill>
          <a:blip r:embed="rId3"/>
          <a:stretch>
            <a:fillRect/>
          </a:stretch>
        </p:blipFill>
        <p:spPr>
          <a:xfrm>
            <a:off x="467544" y="1206691"/>
            <a:ext cx="7992888" cy="2971423"/>
          </a:xfrm>
          <a:prstGeom prst="rect">
            <a:avLst/>
          </a:prstGeom>
        </p:spPr>
      </p:pic>
      <p:sp>
        <p:nvSpPr>
          <p:cNvPr id="2" name="Rectangle 1">
            <a:extLst>
              <a:ext uri="{FF2B5EF4-FFF2-40B4-BE49-F238E27FC236}">
                <a16:creationId xmlns:a16="http://schemas.microsoft.com/office/drawing/2014/main" id="{BDD8DCCD-CCC9-4447-AAAD-C12F736D4B9B}"/>
              </a:ext>
            </a:extLst>
          </p:cNvPr>
          <p:cNvSpPr/>
          <p:nvPr/>
        </p:nvSpPr>
        <p:spPr>
          <a:xfrm>
            <a:off x="827584" y="576323"/>
            <a:ext cx="1571409"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Wellenform</a:t>
            </a:r>
          </a:p>
        </p:txBody>
      </p:sp>
      <p:sp>
        <p:nvSpPr>
          <p:cNvPr id="4" name="Rectangle 3">
            <a:extLst>
              <a:ext uri="{FF2B5EF4-FFF2-40B4-BE49-F238E27FC236}">
                <a16:creationId xmlns:a16="http://schemas.microsoft.com/office/drawing/2014/main" id="{65C04FF9-87A5-F142-B1AA-1145396BD005}"/>
              </a:ext>
            </a:extLst>
          </p:cNvPr>
          <p:cNvSpPr/>
          <p:nvPr/>
        </p:nvSpPr>
        <p:spPr>
          <a:xfrm>
            <a:off x="5508104" y="368127"/>
            <a:ext cx="2952328" cy="1229701"/>
          </a:xfrm>
          <a:prstGeom prst="rect">
            <a:avLst/>
          </a:prstGeom>
          <a:noFill/>
          <a:ln cap="flat">
            <a:solidFill>
              <a:schemeClr val="tx1"/>
            </a:solidFill>
            <a:prstDash val="solid"/>
          </a:ln>
        </p:spPr>
        <p:txBody>
          <a:bodyPr vert="horz" wrap="square" lIns="81638" tIns="42452" rIns="81638" bIns="42452" anchor="t" anchorCtr="0" compatLnSpc="0">
            <a:spAutoFit/>
          </a:bodyPr>
          <a:lstStyle/>
          <a:p>
            <a:pPr hangingPunct="0">
              <a:lnSpc>
                <a:spcPct val="150000"/>
              </a:lnSpc>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en-US" sz="1800" dirty="0" err="1">
                <a:latin typeface="Arial Regular"/>
                <a:ea typeface="ＭＳ Ｐゴシック" pitchFamily="34"/>
                <a:cs typeface="MS Gothic" pitchFamily="49"/>
              </a:rPr>
              <a:t>Schwingungsform</a:t>
            </a:r>
            <a:r>
              <a:rPr lang="en-US" sz="1800" dirty="0">
                <a:latin typeface="Arial Regular"/>
                <a:ea typeface="ＭＳ Ｐゴシック" pitchFamily="34"/>
                <a:cs typeface="MS Gothic" pitchFamily="49"/>
              </a:rPr>
              <a:t> – </a:t>
            </a:r>
            <a:r>
              <a:rPr lang="en-US" sz="1800" dirty="0" err="1">
                <a:latin typeface="Arial Regular"/>
                <a:ea typeface="ＭＳ Ｐゴシック" pitchFamily="34"/>
                <a:cs typeface="MS Gothic" pitchFamily="49"/>
              </a:rPr>
              <a:t>Klang</a:t>
            </a:r>
            <a:endParaRPr lang="en-US" sz="1800" dirty="0">
              <a:latin typeface="Arial Regular"/>
              <a:ea typeface="ＭＳ Ｐゴシック" pitchFamily="34"/>
              <a:cs typeface="MS Gothic" pitchFamily="49"/>
            </a:endParaRPr>
          </a:p>
          <a:p>
            <a:pPr hangingPunct="0">
              <a:lnSpc>
                <a:spcPct val="150000"/>
              </a:lnSpc>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en-US" sz="1800" dirty="0">
                <a:latin typeface="Arial Regular"/>
                <a:ea typeface="ＭＳ Ｐゴシック" pitchFamily="34"/>
                <a:cs typeface="MS Gothic" pitchFamily="49"/>
              </a:rPr>
              <a:t>Amplitude (y) – </a:t>
            </a:r>
            <a:r>
              <a:rPr lang="en-US" sz="1800" dirty="0" err="1">
                <a:latin typeface="Arial Regular"/>
                <a:ea typeface="ＭＳ Ｐゴシック" pitchFamily="34"/>
                <a:cs typeface="MS Gothic" pitchFamily="49"/>
              </a:rPr>
              <a:t>Lautstärke</a:t>
            </a:r>
            <a:endParaRPr lang="en-US" sz="1800" dirty="0">
              <a:latin typeface="Arial Regular"/>
              <a:ea typeface="ＭＳ Ｐゴシック" pitchFamily="34"/>
              <a:cs typeface="MS Gothic" pitchFamily="49"/>
            </a:endParaRPr>
          </a:p>
          <a:p>
            <a:pPr hangingPunct="0">
              <a:lnSpc>
                <a:spcPct val="150000"/>
              </a:lnSpc>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en-US" sz="1800" dirty="0" err="1">
                <a:latin typeface="Arial Regular"/>
                <a:ea typeface="ＭＳ Ｐゴシック" pitchFamily="34"/>
                <a:cs typeface="MS Gothic" pitchFamily="49"/>
              </a:rPr>
              <a:t>Frequenz</a:t>
            </a:r>
            <a:r>
              <a:rPr lang="en-US" sz="1800" dirty="0">
                <a:latin typeface="Arial Regular"/>
                <a:ea typeface="ＭＳ Ｐゴシック" pitchFamily="34"/>
                <a:cs typeface="MS Gothic" pitchFamily="49"/>
              </a:rPr>
              <a:t> (x) – </a:t>
            </a:r>
            <a:r>
              <a:rPr lang="en-US" sz="1800" dirty="0" err="1">
                <a:latin typeface="Arial Regular"/>
                <a:ea typeface="ＭＳ Ｐゴシック" pitchFamily="34"/>
                <a:cs typeface="MS Gothic" pitchFamily="49"/>
              </a:rPr>
              <a:t>Tonhöhe</a:t>
            </a:r>
            <a:endParaRPr lang="en-US" sz="1800" dirty="0">
              <a:latin typeface="Arial Regular"/>
              <a:ea typeface="ＭＳ Ｐゴシック" pitchFamily="34"/>
              <a:cs typeface="MS Gothic" pitchFamily="49"/>
            </a:endParaRPr>
          </a:p>
        </p:txBody>
      </p:sp>
      <p:pic>
        <p:nvPicPr>
          <p:cNvPr id="6" name="Grafik 5">
            <a:extLst>
              <a:ext uri="{FF2B5EF4-FFF2-40B4-BE49-F238E27FC236}">
                <a16:creationId xmlns:a16="http://schemas.microsoft.com/office/drawing/2014/main" id="{80B75C1C-133F-0C42-90EF-473DE4C651A1}"/>
              </a:ext>
            </a:extLst>
          </p:cNvPr>
          <p:cNvPicPr>
            <a:picLocks noChangeAspect="1"/>
          </p:cNvPicPr>
          <p:nvPr/>
        </p:nvPicPr>
        <p:blipFill>
          <a:blip r:embed="rId4"/>
          <a:stretch>
            <a:fillRect/>
          </a:stretch>
        </p:blipFill>
        <p:spPr>
          <a:xfrm>
            <a:off x="1043608" y="4401827"/>
            <a:ext cx="7189438" cy="197950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4">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55FE8-2E80-6940-B625-B61EBE2FFC9D}"/>
              </a:ext>
            </a:extLst>
          </p:cNvPr>
          <p:cNvSpPr/>
          <p:nvPr/>
        </p:nvSpPr>
        <p:spPr>
          <a:xfrm>
            <a:off x="1116153" y="871599"/>
            <a:ext cx="2689088" cy="380557"/>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000" dirty="0">
                <a:solidFill>
                  <a:srgbClr val="000000"/>
                </a:solidFill>
                <a:latin typeface="Arial Regular"/>
                <a:ea typeface="ＭＳ Ｐゴシック" pitchFamily="34"/>
                <a:cs typeface="MS Gothic" pitchFamily="49"/>
              </a:rPr>
              <a:t>Schwingungsperioden</a:t>
            </a:r>
          </a:p>
        </p:txBody>
      </p:sp>
      <p:pic>
        <p:nvPicPr>
          <p:cNvPr id="3" name="Picture 2">
            <a:extLst>
              <a:ext uri="{FF2B5EF4-FFF2-40B4-BE49-F238E27FC236}">
                <a16:creationId xmlns:a16="http://schemas.microsoft.com/office/drawing/2014/main" id="{7CCCD493-1226-7247-8A4B-DC77A56EE505}"/>
              </a:ext>
            </a:extLst>
          </p:cNvPr>
          <p:cNvPicPr>
            <a:picLocks noChangeAspect="1"/>
          </p:cNvPicPr>
          <p:nvPr/>
        </p:nvPicPr>
        <p:blipFill>
          <a:blip r:embed="rId3"/>
          <a:srcRect/>
          <a:stretch>
            <a:fillRect/>
          </a:stretch>
        </p:blipFill>
        <p:spPr>
          <a:xfrm>
            <a:off x="2555776" y="1484784"/>
            <a:ext cx="3028435" cy="4949210"/>
          </a:xfrm>
          <a:prstGeom prst="rect">
            <a:avLst/>
          </a:prstGeom>
          <a:noFill/>
          <a:ln cap="flat">
            <a:noFill/>
          </a:ln>
          <a:effectLst>
            <a:outerShdw dist="23040" dir="5400000" algn="tl">
              <a:srgbClr val="000000">
                <a:alpha val="35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BEFD1C-BE79-7245-BEF6-1B9277B3C722}"/>
              </a:ext>
            </a:extLst>
          </p:cNvPr>
          <p:cNvSpPr/>
          <p:nvPr/>
        </p:nvSpPr>
        <p:spPr>
          <a:xfrm>
            <a:off x="1710693" y="758896"/>
            <a:ext cx="3117819" cy="359130"/>
          </a:xfrm>
          <a:prstGeom prst="rect">
            <a:avLst/>
          </a:prstGeom>
          <a:noFill/>
          <a:ln cap="flat">
            <a:noFill/>
            <a:prstDash val="solid"/>
          </a:ln>
        </p:spPr>
        <p:txBody>
          <a:bodyPr vert="horz" wrap="none" lIns="61235" tIns="31842" rIns="61235" bIns="31842" anchor="t" anchorCtr="0" compatLnSpc="0">
            <a:spAutoFit/>
          </a:bodyPr>
          <a:lstStyle/>
          <a:p>
            <a:pPr hangingPunct="0">
              <a:tabLst>
                <a:tab pos="0" algn="l"/>
                <a:tab pos="304706" algn="l"/>
                <a:tab pos="610147" algn="l"/>
                <a:tab pos="915834" algn="l"/>
                <a:tab pos="1221520" algn="l"/>
                <a:tab pos="1527206" algn="l"/>
                <a:tab pos="1832893" algn="l"/>
                <a:tab pos="2138578" algn="l"/>
                <a:tab pos="2444264" algn="l"/>
                <a:tab pos="2749950" algn="l"/>
                <a:tab pos="3055636" algn="l"/>
                <a:tab pos="3361323" algn="l"/>
                <a:tab pos="3667009" algn="l"/>
                <a:tab pos="3972695" algn="l"/>
                <a:tab pos="4278381" algn="l"/>
                <a:tab pos="4584067" algn="l"/>
                <a:tab pos="4889752" algn="l"/>
                <a:tab pos="5195440" algn="l"/>
                <a:tab pos="5501126" algn="l"/>
                <a:tab pos="5806812" algn="l"/>
                <a:tab pos="6112498" algn="l"/>
              </a:tabLst>
            </a:pPr>
            <a:r>
              <a:rPr lang="de-DE" sz="2000" dirty="0">
                <a:solidFill>
                  <a:srgbClr val="000000"/>
                </a:solidFill>
                <a:latin typeface="Arial Regular"/>
                <a:ea typeface="ＭＳ Ｐゴシック" pitchFamily="34"/>
                <a:cs typeface="MS Gothic" pitchFamily="49"/>
              </a:rPr>
              <a:t>Grundschwingungsformen</a:t>
            </a:r>
          </a:p>
        </p:txBody>
      </p:sp>
      <p:sp>
        <p:nvSpPr>
          <p:cNvPr id="8" name="Rectangle 7">
            <a:extLst>
              <a:ext uri="{FF2B5EF4-FFF2-40B4-BE49-F238E27FC236}">
                <a16:creationId xmlns:a16="http://schemas.microsoft.com/office/drawing/2014/main" id="{3F45813C-E010-5D4C-A060-40B7A6AC9921}"/>
              </a:ext>
            </a:extLst>
          </p:cNvPr>
          <p:cNvSpPr/>
          <p:nvPr/>
        </p:nvSpPr>
        <p:spPr>
          <a:xfrm>
            <a:off x="6349050" y="3016325"/>
            <a:ext cx="1985455" cy="683322"/>
          </a:xfrm>
          <a:prstGeom prst="rect">
            <a:avLst/>
          </a:prstGeom>
          <a:noFill/>
          <a:ln cap="flat">
            <a:noFill/>
            <a:prstDash val="solid"/>
          </a:ln>
        </p:spPr>
        <p:txBody>
          <a:bodyPr vert="horz" wrap="square" lIns="61235" tIns="31842" rIns="61235" bIns="31842" anchor="t" anchorCtr="0" compatLnSpc="0">
            <a:spAutoFit/>
          </a:bodyPr>
          <a:lstStyle/>
          <a:p>
            <a:pPr hangingPunct="0">
              <a:tabLst>
                <a:tab pos="0" algn="l"/>
                <a:tab pos="304706" algn="l"/>
                <a:tab pos="610147" algn="l"/>
                <a:tab pos="915834" algn="l"/>
                <a:tab pos="1221520" algn="l"/>
                <a:tab pos="1527206" algn="l"/>
                <a:tab pos="1832893" algn="l"/>
                <a:tab pos="2138578" algn="l"/>
                <a:tab pos="2444264" algn="l"/>
                <a:tab pos="2749950" algn="l"/>
                <a:tab pos="3055636" algn="l"/>
                <a:tab pos="3361323" algn="l"/>
                <a:tab pos="3667009" algn="l"/>
                <a:tab pos="3972695" algn="l"/>
                <a:tab pos="4278381" algn="l"/>
                <a:tab pos="4584067" algn="l"/>
                <a:tab pos="4889752" algn="l"/>
                <a:tab pos="5195440" algn="l"/>
                <a:tab pos="5501126" algn="l"/>
                <a:tab pos="5806812" algn="l"/>
                <a:tab pos="6112498" algn="l"/>
              </a:tabLst>
            </a:pPr>
            <a:r>
              <a:rPr lang="en-US" sz="1400" dirty="0" err="1">
                <a:solidFill>
                  <a:srgbClr val="000000"/>
                </a:solidFill>
                <a:latin typeface="Arial" panose="020B0604020202020204" pitchFamily="34" charset="0"/>
                <a:ea typeface="ＭＳ Ｐゴシック" pitchFamily="34"/>
                <a:cs typeface="Arial" panose="020B0604020202020204" pitchFamily="34" charset="0"/>
              </a:rPr>
              <a:t>Sägezahn</a:t>
            </a:r>
            <a:r>
              <a:rPr lang="en-US" sz="1400" dirty="0">
                <a:solidFill>
                  <a:srgbClr val="000000"/>
                </a:solidFill>
                <a:latin typeface="Arial" panose="020B0604020202020204" pitchFamily="34" charset="0"/>
                <a:ea typeface="ＭＳ Ｐゴシック" pitchFamily="34"/>
                <a:cs typeface="Arial" panose="020B0604020202020204" pitchFamily="34" charset="0"/>
              </a:rPr>
              <a:t> (Sawtooth)</a:t>
            </a:r>
          </a:p>
          <a:p>
            <a:pPr algn="ctr"/>
            <a:r>
              <a:rPr lang="de-AT" sz="1400" dirty="0">
                <a:solidFill>
                  <a:srgbClr val="4C4C4C"/>
                </a:solidFill>
                <a:effectLst/>
                <a:latin typeface="Arial" panose="020B0604020202020204" pitchFamily="34" charset="0"/>
                <a:cs typeface="Arial" panose="020B0604020202020204" pitchFamily="34" charset="0"/>
              </a:rPr>
              <a:t>gerad- und ungeradzahlige OT</a:t>
            </a:r>
          </a:p>
        </p:txBody>
      </p:sp>
      <p:sp>
        <p:nvSpPr>
          <p:cNvPr id="9" name="Rectangle 8">
            <a:extLst>
              <a:ext uri="{FF2B5EF4-FFF2-40B4-BE49-F238E27FC236}">
                <a16:creationId xmlns:a16="http://schemas.microsoft.com/office/drawing/2014/main" id="{DFD185BF-5FA5-8A45-95B7-56BD84515995}"/>
              </a:ext>
            </a:extLst>
          </p:cNvPr>
          <p:cNvSpPr/>
          <p:nvPr/>
        </p:nvSpPr>
        <p:spPr>
          <a:xfrm>
            <a:off x="1453319" y="3029249"/>
            <a:ext cx="1480606" cy="477239"/>
          </a:xfrm>
          <a:prstGeom prst="rect">
            <a:avLst/>
          </a:prstGeom>
          <a:noFill/>
          <a:ln cap="flat">
            <a:noFill/>
            <a:prstDash val="solid"/>
          </a:ln>
        </p:spPr>
        <p:txBody>
          <a:bodyPr vert="horz" wrap="square" lIns="61235" tIns="31842" rIns="61235" bIns="31842" anchor="t" anchorCtr="0" compatLnSpc="0">
            <a:spAutoFit/>
          </a:bodyPr>
          <a:lstStyle/>
          <a:p>
            <a:pPr hangingPunct="0">
              <a:tabLst>
                <a:tab pos="0" algn="l"/>
                <a:tab pos="304706" algn="l"/>
                <a:tab pos="610147" algn="l"/>
                <a:tab pos="915834" algn="l"/>
                <a:tab pos="1221520" algn="l"/>
                <a:tab pos="1527206" algn="l"/>
                <a:tab pos="1832893" algn="l"/>
                <a:tab pos="2138578" algn="l"/>
                <a:tab pos="2444264" algn="l"/>
                <a:tab pos="2749950" algn="l"/>
                <a:tab pos="3055636" algn="l"/>
                <a:tab pos="3361323" algn="l"/>
                <a:tab pos="3667009" algn="l"/>
                <a:tab pos="3972695" algn="l"/>
                <a:tab pos="4278381" algn="l"/>
                <a:tab pos="4584067" algn="l"/>
                <a:tab pos="4889752" algn="l"/>
                <a:tab pos="5195440" algn="l"/>
                <a:tab pos="5501126" algn="l"/>
                <a:tab pos="5806812" algn="l"/>
                <a:tab pos="6112498" algn="l"/>
              </a:tabLst>
            </a:pPr>
            <a:r>
              <a:rPr lang="en-US" sz="1400" dirty="0">
                <a:solidFill>
                  <a:srgbClr val="000000"/>
                </a:solidFill>
                <a:latin typeface="Arial Regular"/>
                <a:ea typeface="ＭＳ Ｐゴシック" pitchFamily="34"/>
                <a:cs typeface="MS Gothic" pitchFamily="49"/>
              </a:rPr>
              <a:t>Sinus (Sine)</a:t>
            </a:r>
          </a:p>
          <a:p>
            <a:pPr hangingPunct="0">
              <a:tabLst>
                <a:tab pos="0" algn="l"/>
                <a:tab pos="304706" algn="l"/>
                <a:tab pos="610147" algn="l"/>
                <a:tab pos="915834" algn="l"/>
                <a:tab pos="1221520" algn="l"/>
                <a:tab pos="1527206" algn="l"/>
                <a:tab pos="1832893" algn="l"/>
                <a:tab pos="2138578" algn="l"/>
                <a:tab pos="2444264" algn="l"/>
                <a:tab pos="2749950" algn="l"/>
                <a:tab pos="3055636" algn="l"/>
                <a:tab pos="3361323" algn="l"/>
                <a:tab pos="3667009" algn="l"/>
                <a:tab pos="3972695" algn="l"/>
                <a:tab pos="4278381" algn="l"/>
                <a:tab pos="4584067" algn="l"/>
                <a:tab pos="4889752" algn="l"/>
                <a:tab pos="5195440" algn="l"/>
                <a:tab pos="5501126" algn="l"/>
                <a:tab pos="5806812" algn="l"/>
                <a:tab pos="6112498" algn="l"/>
              </a:tabLst>
            </a:pPr>
            <a:r>
              <a:rPr lang="en-US" sz="1400" dirty="0" err="1">
                <a:solidFill>
                  <a:srgbClr val="000000"/>
                </a:solidFill>
                <a:latin typeface="Arial Regular"/>
                <a:ea typeface="ＭＳ Ｐゴシック" pitchFamily="34"/>
                <a:cs typeface="MS Gothic" pitchFamily="49"/>
              </a:rPr>
              <a:t>keine</a:t>
            </a:r>
            <a:r>
              <a:rPr lang="en-US" sz="1400" dirty="0">
                <a:solidFill>
                  <a:srgbClr val="000000"/>
                </a:solidFill>
                <a:latin typeface="Arial Regular"/>
                <a:ea typeface="ＭＳ Ｐゴシック" pitchFamily="34"/>
                <a:cs typeface="MS Gothic" pitchFamily="49"/>
              </a:rPr>
              <a:t> </a:t>
            </a:r>
            <a:r>
              <a:rPr lang="en-US" sz="1400" dirty="0" err="1">
                <a:solidFill>
                  <a:srgbClr val="000000"/>
                </a:solidFill>
                <a:latin typeface="Arial Regular"/>
                <a:ea typeface="ＭＳ Ｐゴシック" pitchFamily="34"/>
                <a:cs typeface="MS Gothic" pitchFamily="49"/>
              </a:rPr>
              <a:t>Obertöne</a:t>
            </a:r>
            <a:endParaRPr lang="en-US" sz="1400" dirty="0">
              <a:solidFill>
                <a:srgbClr val="000000"/>
              </a:solidFill>
              <a:latin typeface="Arial Regular"/>
              <a:ea typeface="ＭＳ Ｐゴシック" pitchFamily="34"/>
              <a:cs typeface="MS Gothic" pitchFamily="49"/>
            </a:endParaRPr>
          </a:p>
        </p:txBody>
      </p:sp>
      <p:sp>
        <p:nvSpPr>
          <p:cNvPr id="10" name="Rectangle 9">
            <a:extLst>
              <a:ext uri="{FF2B5EF4-FFF2-40B4-BE49-F238E27FC236}">
                <a16:creationId xmlns:a16="http://schemas.microsoft.com/office/drawing/2014/main" id="{96A835D8-36B7-E445-B9B0-492529DAC977}"/>
              </a:ext>
            </a:extLst>
          </p:cNvPr>
          <p:cNvSpPr/>
          <p:nvPr/>
        </p:nvSpPr>
        <p:spPr>
          <a:xfrm>
            <a:off x="3835360" y="3099958"/>
            <a:ext cx="1675796" cy="477239"/>
          </a:xfrm>
          <a:prstGeom prst="rect">
            <a:avLst/>
          </a:prstGeom>
          <a:noFill/>
          <a:ln cap="flat">
            <a:noFill/>
            <a:prstDash val="solid"/>
          </a:ln>
        </p:spPr>
        <p:txBody>
          <a:bodyPr vert="horz" wrap="square" lIns="61235" tIns="31842" rIns="61235" bIns="31842" anchor="t" anchorCtr="0" compatLnSpc="0">
            <a:spAutoFit/>
          </a:bodyPr>
          <a:lstStyle/>
          <a:p>
            <a:pPr hangingPunct="0">
              <a:tabLst>
                <a:tab pos="0" algn="l"/>
                <a:tab pos="304706" algn="l"/>
                <a:tab pos="610147" algn="l"/>
                <a:tab pos="915834" algn="l"/>
                <a:tab pos="1221520" algn="l"/>
                <a:tab pos="1527206" algn="l"/>
                <a:tab pos="1832893" algn="l"/>
                <a:tab pos="2138578" algn="l"/>
                <a:tab pos="2444264" algn="l"/>
                <a:tab pos="2749950" algn="l"/>
                <a:tab pos="3055636" algn="l"/>
                <a:tab pos="3361323" algn="l"/>
                <a:tab pos="3667009" algn="l"/>
                <a:tab pos="3972695" algn="l"/>
                <a:tab pos="4278381" algn="l"/>
                <a:tab pos="4584067" algn="l"/>
                <a:tab pos="4889752" algn="l"/>
                <a:tab pos="5195440" algn="l"/>
                <a:tab pos="5501126" algn="l"/>
                <a:tab pos="5806812" algn="l"/>
                <a:tab pos="6112498" algn="l"/>
              </a:tabLst>
            </a:pPr>
            <a:r>
              <a:rPr lang="en-US" sz="1400" dirty="0" err="1">
                <a:solidFill>
                  <a:srgbClr val="000000"/>
                </a:solidFill>
                <a:latin typeface="Arial Regular"/>
                <a:ea typeface="ＭＳ Ｐゴシック" pitchFamily="34"/>
                <a:cs typeface="MS Gothic" pitchFamily="49"/>
              </a:rPr>
              <a:t>Dreieck</a:t>
            </a:r>
            <a:r>
              <a:rPr lang="en-US" sz="1400" dirty="0">
                <a:solidFill>
                  <a:srgbClr val="000000"/>
                </a:solidFill>
                <a:latin typeface="Arial Regular"/>
                <a:ea typeface="ＭＳ Ｐゴシック" pitchFamily="34"/>
                <a:cs typeface="MS Gothic" pitchFamily="49"/>
              </a:rPr>
              <a:t> (Triangle), </a:t>
            </a:r>
            <a:r>
              <a:rPr lang="en-US" sz="1400" dirty="0" err="1">
                <a:solidFill>
                  <a:srgbClr val="000000"/>
                </a:solidFill>
                <a:latin typeface="Arial Regular"/>
                <a:ea typeface="ＭＳ Ｐゴシック" pitchFamily="34"/>
                <a:cs typeface="MS Gothic" pitchFamily="49"/>
              </a:rPr>
              <a:t>ungeradzahlige</a:t>
            </a:r>
            <a:r>
              <a:rPr lang="en-US" sz="1400" dirty="0">
                <a:solidFill>
                  <a:srgbClr val="000000"/>
                </a:solidFill>
                <a:latin typeface="Arial Regular"/>
                <a:ea typeface="ＭＳ Ｐゴシック" pitchFamily="34"/>
                <a:cs typeface="MS Gothic" pitchFamily="49"/>
              </a:rPr>
              <a:t> OT</a:t>
            </a:r>
          </a:p>
        </p:txBody>
      </p:sp>
      <p:sp>
        <p:nvSpPr>
          <p:cNvPr id="11" name="Rectangle 10">
            <a:extLst>
              <a:ext uri="{FF2B5EF4-FFF2-40B4-BE49-F238E27FC236}">
                <a16:creationId xmlns:a16="http://schemas.microsoft.com/office/drawing/2014/main" id="{0FD916B1-CC60-6046-BEB4-FA319AF7749B}"/>
              </a:ext>
            </a:extLst>
          </p:cNvPr>
          <p:cNvSpPr/>
          <p:nvPr/>
        </p:nvSpPr>
        <p:spPr>
          <a:xfrm>
            <a:off x="2322696" y="5740021"/>
            <a:ext cx="1823536" cy="476983"/>
          </a:xfrm>
          <a:prstGeom prst="rect">
            <a:avLst/>
          </a:prstGeom>
          <a:noFill/>
          <a:ln cap="flat">
            <a:noFill/>
            <a:prstDash val="solid"/>
          </a:ln>
        </p:spPr>
        <p:txBody>
          <a:bodyPr vert="horz" wrap="square" lIns="61235" tIns="31842" rIns="61235" bIns="31842" anchor="t" anchorCtr="0" compatLnSpc="0">
            <a:spAutoFit/>
          </a:bodyPr>
          <a:lstStyle/>
          <a:p>
            <a:pPr hangingPunct="0">
              <a:tabLst>
                <a:tab pos="0" algn="l"/>
                <a:tab pos="304706" algn="l"/>
                <a:tab pos="610147" algn="l"/>
                <a:tab pos="915834" algn="l"/>
                <a:tab pos="1221520" algn="l"/>
                <a:tab pos="1527206" algn="l"/>
                <a:tab pos="1832893" algn="l"/>
                <a:tab pos="2138578" algn="l"/>
                <a:tab pos="2444264" algn="l"/>
                <a:tab pos="2749950" algn="l"/>
                <a:tab pos="3055636" algn="l"/>
                <a:tab pos="3361323" algn="l"/>
                <a:tab pos="3667009" algn="l"/>
                <a:tab pos="3972695" algn="l"/>
                <a:tab pos="4278381" algn="l"/>
                <a:tab pos="4584067" algn="l"/>
                <a:tab pos="4889752" algn="l"/>
                <a:tab pos="5195440" algn="l"/>
                <a:tab pos="5501126" algn="l"/>
                <a:tab pos="5806812" algn="l"/>
                <a:tab pos="6112498" algn="l"/>
              </a:tabLst>
            </a:pPr>
            <a:r>
              <a:rPr lang="en-US" sz="1400" dirty="0" err="1">
                <a:solidFill>
                  <a:srgbClr val="000000"/>
                </a:solidFill>
                <a:latin typeface="Arial" panose="020B0604020202020204" pitchFamily="34" charset="0"/>
                <a:ea typeface="ＭＳ Ｐゴシック" pitchFamily="34"/>
                <a:cs typeface="Arial" panose="020B0604020202020204" pitchFamily="34" charset="0"/>
              </a:rPr>
              <a:t>Rechteck</a:t>
            </a:r>
            <a:r>
              <a:rPr lang="en-US" sz="1400" dirty="0">
                <a:solidFill>
                  <a:srgbClr val="000000"/>
                </a:solidFill>
                <a:latin typeface="Arial" panose="020B0604020202020204" pitchFamily="34" charset="0"/>
                <a:ea typeface="ＭＳ Ｐゴシック" pitchFamily="34"/>
                <a:cs typeface="Arial" panose="020B0604020202020204" pitchFamily="34" charset="0"/>
              </a:rPr>
              <a:t> (Square)</a:t>
            </a:r>
            <a:br>
              <a:rPr lang="en-US" sz="1400" dirty="0">
                <a:solidFill>
                  <a:srgbClr val="000000"/>
                </a:solidFill>
                <a:latin typeface="Arial" panose="020B0604020202020204" pitchFamily="34" charset="0"/>
                <a:ea typeface="ＭＳ Ｐゴシック" pitchFamily="34"/>
                <a:cs typeface="Arial" panose="020B0604020202020204" pitchFamily="34" charset="0"/>
              </a:rPr>
            </a:br>
            <a:r>
              <a:rPr lang="de-AT" sz="1400" dirty="0">
                <a:solidFill>
                  <a:srgbClr val="4C4C4C"/>
                </a:solidFill>
                <a:effectLst/>
                <a:latin typeface="Arial" panose="020B0604020202020204" pitchFamily="34" charset="0"/>
                <a:cs typeface="Arial" panose="020B0604020202020204" pitchFamily="34" charset="0"/>
              </a:rPr>
              <a:t>ungeradzahlige OT</a:t>
            </a:r>
            <a:endParaRPr lang="en-US" sz="1400" dirty="0">
              <a:solidFill>
                <a:srgbClr val="000000"/>
              </a:solidFill>
              <a:latin typeface="Arial" panose="020B0604020202020204" pitchFamily="34" charset="0"/>
              <a:ea typeface="ＭＳ Ｐゴシック" pitchFamily="34"/>
              <a:cs typeface="Arial" panose="020B0604020202020204" pitchFamily="34" charset="0"/>
            </a:endParaRPr>
          </a:p>
        </p:txBody>
      </p:sp>
      <p:sp>
        <p:nvSpPr>
          <p:cNvPr id="12" name="Rectangle 11">
            <a:extLst>
              <a:ext uri="{FF2B5EF4-FFF2-40B4-BE49-F238E27FC236}">
                <a16:creationId xmlns:a16="http://schemas.microsoft.com/office/drawing/2014/main" id="{D86B6300-010B-5B41-B3BD-2A63FB42BBB7}"/>
              </a:ext>
            </a:extLst>
          </p:cNvPr>
          <p:cNvSpPr/>
          <p:nvPr/>
        </p:nvSpPr>
        <p:spPr>
          <a:xfrm>
            <a:off x="5373929" y="5687358"/>
            <a:ext cx="1823537" cy="270773"/>
          </a:xfrm>
          <a:prstGeom prst="rect">
            <a:avLst/>
          </a:prstGeom>
          <a:noFill/>
          <a:ln cap="flat">
            <a:noFill/>
            <a:prstDash val="solid"/>
          </a:ln>
        </p:spPr>
        <p:txBody>
          <a:bodyPr vert="horz" wrap="square" lIns="61235" tIns="31842" rIns="61235" bIns="31842" anchor="t" anchorCtr="0" compatLnSpc="0">
            <a:spAutoFit/>
          </a:bodyPr>
          <a:lstStyle/>
          <a:p>
            <a:pPr hangingPunct="0">
              <a:tabLst>
                <a:tab pos="0" algn="l"/>
                <a:tab pos="304706" algn="l"/>
                <a:tab pos="610147" algn="l"/>
                <a:tab pos="915834" algn="l"/>
                <a:tab pos="1221520" algn="l"/>
                <a:tab pos="1527206" algn="l"/>
                <a:tab pos="1832893" algn="l"/>
                <a:tab pos="2138578" algn="l"/>
                <a:tab pos="2444264" algn="l"/>
                <a:tab pos="2749950" algn="l"/>
                <a:tab pos="3055636" algn="l"/>
                <a:tab pos="3361323" algn="l"/>
                <a:tab pos="3667009" algn="l"/>
                <a:tab pos="3972695" algn="l"/>
                <a:tab pos="4278381" algn="l"/>
                <a:tab pos="4584067" algn="l"/>
                <a:tab pos="4889752" algn="l"/>
                <a:tab pos="5195440" algn="l"/>
                <a:tab pos="5501126" algn="l"/>
                <a:tab pos="5806812" algn="l"/>
                <a:tab pos="6112498" algn="l"/>
              </a:tabLst>
            </a:pPr>
            <a:r>
              <a:rPr lang="en-US" sz="1400" dirty="0" err="1">
                <a:solidFill>
                  <a:srgbClr val="000000"/>
                </a:solidFill>
                <a:latin typeface="Arial Regular"/>
                <a:ea typeface="ＭＳ Ｐゴシック" pitchFamily="34"/>
                <a:cs typeface="MS Gothic" pitchFamily="49"/>
              </a:rPr>
              <a:t>Puls</a:t>
            </a:r>
            <a:r>
              <a:rPr lang="en-US" sz="1400" dirty="0">
                <a:solidFill>
                  <a:srgbClr val="000000"/>
                </a:solidFill>
                <a:latin typeface="Arial Regular"/>
                <a:ea typeface="ＭＳ Ｐゴシック" pitchFamily="34"/>
                <a:cs typeface="MS Gothic" pitchFamily="49"/>
              </a:rPr>
              <a:t> (Pulse)</a:t>
            </a:r>
          </a:p>
        </p:txBody>
      </p:sp>
      <p:pic>
        <p:nvPicPr>
          <p:cNvPr id="13" name="Grafik 12">
            <a:extLst>
              <a:ext uri="{FF2B5EF4-FFF2-40B4-BE49-F238E27FC236}">
                <a16:creationId xmlns:a16="http://schemas.microsoft.com/office/drawing/2014/main" id="{FDBF3DDF-2E2B-154D-A513-9A6CB52131C0}"/>
              </a:ext>
            </a:extLst>
          </p:cNvPr>
          <p:cNvPicPr>
            <a:picLocks noChangeAspect="1"/>
          </p:cNvPicPr>
          <p:nvPr/>
        </p:nvPicPr>
        <p:blipFill>
          <a:blip r:embed="rId13"/>
          <a:stretch>
            <a:fillRect/>
          </a:stretch>
        </p:blipFill>
        <p:spPr>
          <a:xfrm>
            <a:off x="1302411" y="1631939"/>
            <a:ext cx="2184532" cy="1399466"/>
          </a:xfrm>
          <a:prstGeom prst="rect">
            <a:avLst/>
          </a:prstGeom>
        </p:spPr>
      </p:pic>
      <p:pic>
        <p:nvPicPr>
          <p:cNvPr id="14" name="Grafik 13">
            <a:extLst>
              <a:ext uri="{FF2B5EF4-FFF2-40B4-BE49-F238E27FC236}">
                <a16:creationId xmlns:a16="http://schemas.microsoft.com/office/drawing/2014/main" id="{99152D21-B47B-3E44-818E-08E3A82E7261}"/>
              </a:ext>
            </a:extLst>
          </p:cNvPr>
          <p:cNvPicPr>
            <a:picLocks noChangeAspect="1"/>
          </p:cNvPicPr>
          <p:nvPr/>
        </p:nvPicPr>
        <p:blipFill>
          <a:blip r:embed="rId14"/>
          <a:stretch>
            <a:fillRect/>
          </a:stretch>
        </p:blipFill>
        <p:spPr>
          <a:xfrm>
            <a:off x="6148193" y="1687024"/>
            <a:ext cx="2098547" cy="1344381"/>
          </a:xfrm>
          <a:prstGeom prst="rect">
            <a:avLst/>
          </a:prstGeom>
        </p:spPr>
      </p:pic>
      <p:pic>
        <p:nvPicPr>
          <p:cNvPr id="15" name="Grafik 14">
            <a:extLst>
              <a:ext uri="{FF2B5EF4-FFF2-40B4-BE49-F238E27FC236}">
                <a16:creationId xmlns:a16="http://schemas.microsoft.com/office/drawing/2014/main" id="{EB4872AA-7F48-7840-B0A9-9997CCE46E62}"/>
              </a:ext>
            </a:extLst>
          </p:cNvPr>
          <p:cNvPicPr>
            <a:picLocks noChangeAspect="1"/>
          </p:cNvPicPr>
          <p:nvPr/>
        </p:nvPicPr>
        <p:blipFill>
          <a:blip r:embed="rId15"/>
          <a:stretch>
            <a:fillRect/>
          </a:stretch>
        </p:blipFill>
        <p:spPr>
          <a:xfrm>
            <a:off x="3668765" y="1589790"/>
            <a:ext cx="2316117" cy="1483763"/>
          </a:xfrm>
          <a:prstGeom prst="rect">
            <a:avLst/>
          </a:prstGeom>
        </p:spPr>
      </p:pic>
      <p:pic>
        <p:nvPicPr>
          <p:cNvPr id="16" name="Grafik 15">
            <a:extLst>
              <a:ext uri="{FF2B5EF4-FFF2-40B4-BE49-F238E27FC236}">
                <a16:creationId xmlns:a16="http://schemas.microsoft.com/office/drawing/2014/main" id="{D2BEAA42-2379-794D-97D0-34148F6E2601}"/>
              </a:ext>
            </a:extLst>
          </p:cNvPr>
          <p:cNvPicPr>
            <a:picLocks noChangeAspect="1"/>
          </p:cNvPicPr>
          <p:nvPr/>
        </p:nvPicPr>
        <p:blipFill>
          <a:blip r:embed="rId16"/>
          <a:stretch>
            <a:fillRect/>
          </a:stretch>
        </p:blipFill>
        <p:spPr>
          <a:xfrm>
            <a:off x="2146236" y="4154412"/>
            <a:ext cx="2475096" cy="1585609"/>
          </a:xfrm>
          <a:prstGeom prst="rect">
            <a:avLst/>
          </a:prstGeom>
        </p:spPr>
      </p:pic>
      <p:pic>
        <p:nvPicPr>
          <p:cNvPr id="17" name="Grafik 16">
            <a:extLst>
              <a:ext uri="{FF2B5EF4-FFF2-40B4-BE49-F238E27FC236}">
                <a16:creationId xmlns:a16="http://schemas.microsoft.com/office/drawing/2014/main" id="{284833B1-29A3-BE4A-AC09-01E097C0907A}"/>
              </a:ext>
            </a:extLst>
          </p:cNvPr>
          <p:cNvPicPr>
            <a:picLocks noChangeAspect="1"/>
          </p:cNvPicPr>
          <p:nvPr/>
        </p:nvPicPr>
        <p:blipFill>
          <a:blip r:embed="rId17"/>
          <a:stretch>
            <a:fillRect/>
          </a:stretch>
        </p:blipFill>
        <p:spPr>
          <a:xfrm>
            <a:off x="5159693" y="4185285"/>
            <a:ext cx="2378715" cy="1523865"/>
          </a:xfrm>
          <a:prstGeom prst="rect">
            <a:avLst/>
          </a:prstGeom>
        </p:spPr>
      </p:pic>
      <p:pic>
        <p:nvPicPr>
          <p:cNvPr id="20" name="sine">
            <a:hlinkClick r:id="" action="ppaction://media"/>
            <a:extLst>
              <a:ext uri="{FF2B5EF4-FFF2-40B4-BE49-F238E27FC236}">
                <a16:creationId xmlns:a16="http://schemas.microsoft.com/office/drawing/2014/main" id="{ACB63109-2059-2F4B-8D2C-743DA463BE46}"/>
              </a:ext>
            </a:extLst>
          </p:cNvPr>
          <p:cNvPicPr>
            <a:picLocks noChangeAspect="1"/>
          </p:cNvPicPr>
          <p:nvPr>
            <a:audioFile r:link="rId2"/>
            <p:extLst>
              <p:ext uri="{DAA4B4D4-6D71-4841-9C94-3DE7FCFB9230}">
                <p14:media xmlns:p14="http://schemas.microsoft.com/office/powerpoint/2010/main" r:embed="rId1"/>
              </p:ext>
            </p:extLst>
          </p:nvPr>
        </p:nvPicPr>
        <p:blipFill>
          <a:blip r:embed="rId18"/>
          <a:stretch>
            <a:fillRect/>
          </a:stretch>
        </p:blipFill>
        <p:spPr>
          <a:xfrm>
            <a:off x="2046187" y="1241633"/>
            <a:ext cx="553018" cy="553018"/>
          </a:xfrm>
          <a:prstGeom prst="rect">
            <a:avLst/>
          </a:prstGeom>
        </p:spPr>
      </p:pic>
      <p:pic>
        <p:nvPicPr>
          <p:cNvPr id="21" name="triangle">
            <a:hlinkClick r:id="" action="ppaction://media"/>
            <a:extLst>
              <a:ext uri="{FF2B5EF4-FFF2-40B4-BE49-F238E27FC236}">
                <a16:creationId xmlns:a16="http://schemas.microsoft.com/office/drawing/2014/main" id="{7B6AB549-E8CB-3A44-B7D0-C5C4BEC23472}"/>
              </a:ext>
            </a:extLst>
          </p:cNvPr>
          <p:cNvPicPr>
            <a:picLocks noChangeAspect="1"/>
          </p:cNvPicPr>
          <p:nvPr>
            <a:audioFile r:link="rId4"/>
            <p:extLst>
              <p:ext uri="{DAA4B4D4-6D71-4841-9C94-3DE7FCFB9230}">
                <p14:media xmlns:p14="http://schemas.microsoft.com/office/powerpoint/2010/main" r:embed="rId3"/>
              </p:ext>
            </p:extLst>
          </p:nvPr>
        </p:nvPicPr>
        <p:blipFill>
          <a:blip r:embed="rId18"/>
          <a:stretch>
            <a:fillRect/>
          </a:stretch>
        </p:blipFill>
        <p:spPr>
          <a:xfrm>
            <a:off x="4550314" y="1195391"/>
            <a:ext cx="553018" cy="553018"/>
          </a:xfrm>
          <a:prstGeom prst="rect">
            <a:avLst/>
          </a:prstGeom>
        </p:spPr>
      </p:pic>
      <p:pic>
        <p:nvPicPr>
          <p:cNvPr id="22" name="saw">
            <a:hlinkClick r:id="" action="ppaction://media"/>
            <a:extLst>
              <a:ext uri="{FF2B5EF4-FFF2-40B4-BE49-F238E27FC236}">
                <a16:creationId xmlns:a16="http://schemas.microsoft.com/office/drawing/2014/main" id="{19D810EF-BDAC-284A-8D11-0E74666FF87A}"/>
              </a:ext>
            </a:extLst>
          </p:cNvPr>
          <p:cNvPicPr>
            <a:picLocks noChangeAspect="1"/>
          </p:cNvPicPr>
          <p:nvPr>
            <a:audioFile r:link="rId6"/>
            <p:extLst>
              <p:ext uri="{DAA4B4D4-6D71-4841-9C94-3DE7FCFB9230}">
                <p14:media xmlns:p14="http://schemas.microsoft.com/office/powerpoint/2010/main" r:embed="rId5"/>
              </p:ext>
            </p:extLst>
          </p:nvPr>
        </p:nvPicPr>
        <p:blipFill>
          <a:blip r:embed="rId18"/>
          <a:stretch>
            <a:fillRect/>
          </a:stretch>
        </p:blipFill>
        <p:spPr>
          <a:xfrm>
            <a:off x="6456168" y="1195391"/>
            <a:ext cx="553018" cy="553018"/>
          </a:xfrm>
          <a:prstGeom prst="rect">
            <a:avLst/>
          </a:prstGeom>
        </p:spPr>
      </p:pic>
      <p:pic>
        <p:nvPicPr>
          <p:cNvPr id="23" name="square">
            <a:hlinkClick r:id="" action="ppaction://media"/>
            <a:extLst>
              <a:ext uri="{FF2B5EF4-FFF2-40B4-BE49-F238E27FC236}">
                <a16:creationId xmlns:a16="http://schemas.microsoft.com/office/drawing/2014/main" id="{C4CD0205-6669-1248-A997-D5C00B5AC9B0}"/>
              </a:ext>
            </a:extLst>
          </p:cNvPr>
          <p:cNvPicPr>
            <a:picLocks noChangeAspect="1"/>
          </p:cNvPicPr>
          <p:nvPr>
            <a:audioFile r:link="rId8"/>
            <p:extLst>
              <p:ext uri="{DAA4B4D4-6D71-4841-9C94-3DE7FCFB9230}">
                <p14:media xmlns:p14="http://schemas.microsoft.com/office/powerpoint/2010/main" r:embed="rId7"/>
              </p:ext>
            </p:extLst>
          </p:nvPr>
        </p:nvPicPr>
        <p:blipFill>
          <a:blip r:embed="rId18"/>
          <a:stretch>
            <a:fillRect/>
          </a:stretch>
        </p:blipFill>
        <p:spPr>
          <a:xfrm>
            <a:off x="2933925" y="3775264"/>
            <a:ext cx="553018" cy="553018"/>
          </a:xfrm>
          <a:prstGeom prst="rect">
            <a:avLst/>
          </a:prstGeom>
        </p:spPr>
      </p:pic>
      <p:pic>
        <p:nvPicPr>
          <p:cNvPr id="24" name="pwm">
            <a:hlinkClick r:id="" action="ppaction://media"/>
            <a:extLst>
              <a:ext uri="{FF2B5EF4-FFF2-40B4-BE49-F238E27FC236}">
                <a16:creationId xmlns:a16="http://schemas.microsoft.com/office/drawing/2014/main" id="{CAE27C9F-106E-0447-B9E8-92936CC56943}"/>
              </a:ext>
            </a:extLst>
          </p:cNvPr>
          <p:cNvPicPr>
            <a:picLocks noChangeAspect="1"/>
          </p:cNvPicPr>
          <p:nvPr>
            <a:audioFile r:link="rId10"/>
            <p:extLst>
              <p:ext uri="{DAA4B4D4-6D71-4841-9C94-3DE7FCFB9230}">
                <p14:media xmlns:p14="http://schemas.microsoft.com/office/powerpoint/2010/main" r:embed="rId9"/>
              </p:ext>
            </p:extLst>
          </p:nvPr>
        </p:nvPicPr>
        <p:blipFill>
          <a:blip r:embed="rId18"/>
          <a:stretch>
            <a:fillRect/>
          </a:stretch>
        </p:blipFill>
        <p:spPr>
          <a:xfrm>
            <a:off x="5871684" y="3742283"/>
            <a:ext cx="553018" cy="553018"/>
          </a:xfrm>
          <a:prstGeom prst="rect">
            <a:avLst/>
          </a:prstGeom>
        </p:spPr>
      </p:pic>
      <p:sp>
        <p:nvSpPr>
          <p:cNvPr id="5" name="Textfeld 4">
            <a:extLst>
              <a:ext uri="{FF2B5EF4-FFF2-40B4-BE49-F238E27FC236}">
                <a16:creationId xmlns:a16="http://schemas.microsoft.com/office/drawing/2014/main" id="{FBE96F95-AA1E-B990-E5B0-E53B8E51512A}"/>
              </a:ext>
            </a:extLst>
          </p:cNvPr>
          <p:cNvSpPr txBox="1"/>
          <p:nvPr/>
        </p:nvSpPr>
        <p:spPr>
          <a:xfrm>
            <a:off x="5349897" y="6055628"/>
            <a:ext cx="2145139" cy="523220"/>
          </a:xfrm>
          <a:prstGeom prst="rect">
            <a:avLst/>
          </a:prstGeom>
          <a:noFill/>
        </p:spPr>
        <p:txBody>
          <a:bodyPr wrap="none" rtlCol="0">
            <a:spAutoFit/>
          </a:bodyPr>
          <a:lstStyle/>
          <a:p>
            <a:r>
              <a:rPr lang="en-US" sz="1400" dirty="0" err="1">
                <a:solidFill>
                  <a:srgbClr val="000000"/>
                </a:solidFill>
                <a:latin typeface="Arial Regular"/>
                <a:ea typeface="ＭＳ Ｐゴシック" pitchFamily="34"/>
                <a:cs typeface="MS Gothic" pitchFamily="49"/>
              </a:rPr>
              <a:t>Pulsweitenmodulation</a:t>
            </a:r>
            <a:endParaRPr lang="en-US" sz="1400" dirty="0">
              <a:solidFill>
                <a:srgbClr val="000000"/>
              </a:solidFill>
              <a:latin typeface="Arial Regular"/>
              <a:ea typeface="ＭＳ Ｐゴシック" pitchFamily="34"/>
              <a:cs typeface="MS Gothic" pitchFamily="49"/>
            </a:endParaRPr>
          </a:p>
          <a:p>
            <a:r>
              <a:rPr lang="en-US" sz="1400" dirty="0">
                <a:solidFill>
                  <a:srgbClr val="000000"/>
                </a:solidFill>
                <a:latin typeface="Arial Regular"/>
                <a:ea typeface="ＭＳ Ｐゴシック" pitchFamily="34"/>
                <a:cs typeface="MS Gothic" pitchFamily="49"/>
              </a:rPr>
              <a:t>(Pulse width modulation)</a:t>
            </a:r>
          </a:p>
        </p:txBody>
      </p:sp>
    </p:spTree>
    <p:extLst>
      <p:ext uri="{BB962C8B-B14F-4D97-AF65-F5344CB8AC3E}">
        <p14:creationId xmlns:p14="http://schemas.microsoft.com/office/powerpoint/2010/main" val="1349010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42"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2042" fill="hold"/>
                                        <p:tgtEl>
                                          <p:spTgt spid="21"/>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2042" fill="hold"/>
                                        <p:tgtEl>
                                          <p:spTgt spid="22"/>
                                        </p:tgtEl>
                                      </p:cBhvr>
                                    </p:cmd>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2042" fill="hold"/>
                                        <p:tgtEl>
                                          <p:spTgt spid="23"/>
                                        </p:tgtEl>
                                      </p:cBhvr>
                                    </p:cmd>
                                  </p:childTnLst>
                                </p:cTn>
                              </p:par>
                            </p:childTnLst>
                          </p:cTn>
                        </p:par>
                      </p:childTnLst>
                    </p:cTn>
                  </p:par>
                  <p:par>
                    <p:cTn id="19" fill="hold">
                      <p:stCondLst>
                        <p:cond delay="indefinite"/>
                      </p:stCondLst>
                      <p:childTnLst>
                        <p:par>
                          <p:cTn id="20" fill="hold">
                            <p:stCondLst>
                              <p:cond delay="0"/>
                            </p:stCondLst>
                            <p:childTnLst>
                              <p:par>
                                <p:cTn id="21" presetID="1" presetClass="mediacall" presetSubtype="0" fill="hold" nodeType="clickEffect">
                                  <p:stCondLst>
                                    <p:cond delay="0"/>
                                  </p:stCondLst>
                                  <p:childTnLst>
                                    <p:cmd type="call" cmd="playFrom(0.0)">
                                      <p:cBhvr>
                                        <p:cTn id="22" dur="12042"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23" fill="hold" display="0">
                  <p:stCondLst>
                    <p:cond delay="indefinite"/>
                  </p:stCondLst>
                  <p:endCondLst>
                    <p:cond evt="onStopAudio" delay="0">
                      <p:tgtEl>
                        <p:sldTgt/>
                      </p:tgtEl>
                    </p:cond>
                  </p:endCondLst>
                </p:cTn>
                <p:tgtEl>
                  <p:spTgt spid="20"/>
                </p:tgtEl>
              </p:cMediaNode>
            </p:audio>
            <p:audio>
              <p:cMediaNode vol="80000">
                <p:cTn id="24" fill="hold" display="0">
                  <p:stCondLst>
                    <p:cond delay="indefinite"/>
                  </p:stCondLst>
                  <p:endCondLst>
                    <p:cond evt="onStopAudio" delay="0">
                      <p:tgtEl>
                        <p:sldTgt/>
                      </p:tgtEl>
                    </p:cond>
                  </p:endCondLst>
                </p:cTn>
                <p:tgtEl>
                  <p:spTgt spid="21"/>
                </p:tgtEl>
              </p:cMediaNode>
            </p:audio>
            <p:audio>
              <p:cMediaNode vol="80000">
                <p:cTn id="25" fill="hold" display="0">
                  <p:stCondLst>
                    <p:cond delay="indefinite"/>
                  </p:stCondLst>
                  <p:endCondLst>
                    <p:cond evt="onStopAudio" delay="0">
                      <p:tgtEl>
                        <p:sldTgt/>
                      </p:tgtEl>
                    </p:cond>
                  </p:endCondLst>
                </p:cTn>
                <p:tgtEl>
                  <p:spTgt spid="22"/>
                </p:tgtEl>
              </p:cMediaNode>
            </p:audio>
            <p:audio>
              <p:cMediaNode vol="80000">
                <p:cTn id="26" fill="hold" display="0">
                  <p:stCondLst>
                    <p:cond delay="indefinite"/>
                  </p:stCondLst>
                  <p:endCondLst>
                    <p:cond evt="onStopAudio" delay="0">
                      <p:tgtEl>
                        <p:sldTgt/>
                      </p:tgtEl>
                    </p:cond>
                  </p:endCondLst>
                </p:cTn>
                <p:tgtEl>
                  <p:spTgt spid="23"/>
                </p:tgtEl>
              </p:cMediaNode>
            </p:audio>
            <p:audio>
              <p:cMediaNode vol="80000">
                <p:cTn id="27" fill="hold" display="0">
                  <p:stCondLst>
                    <p:cond delay="indefinite"/>
                  </p:stCondLst>
                  <p:endCondLst>
                    <p:cond evt="onStopAudio" delay="0">
                      <p:tgtEl>
                        <p:sldTgt/>
                      </p:tgtEl>
                    </p:cond>
                  </p:endCondLst>
                </p:cTn>
                <p:tgtEl>
                  <p:spTgt spid="2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BEFD1C-BE79-7245-BEF6-1B9277B3C722}"/>
              </a:ext>
            </a:extLst>
          </p:cNvPr>
          <p:cNvSpPr/>
          <p:nvPr/>
        </p:nvSpPr>
        <p:spPr>
          <a:xfrm>
            <a:off x="1696341" y="697901"/>
            <a:ext cx="3117819" cy="359130"/>
          </a:xfrm>
          <a:prstGeom prst="rect">
            <a:avLst/>
          </a:prstGeom>
          <a:noFill/>
          <a:ln cap="flat">
            <a:noFill/>
            <a:prstDash val="solid"/>
          </a:ln>
        </p:spPr>
        <p:txBody>
          <a:bodyPr vert="horz" wrap="none" lIns="61235" tIns="31842" rIns="61235" bIns="31842" anchor="t" anchorCtr="0" compatLnSpc="0">
            <a:spAutoFit/>
          </a:bodyPr>
          <a:lstStyle/>
          <a:p>
            <a:pPr hangingPunct="0">
              <a:tabLst>
                <a:tab pos="0" algn="l"/>
                <a:tab pos="304706" algn="l"/>
                <a:tab pos="610147" algn="l"/>
                <a:tab pos="915834" algn="l"/>
                <a:tab pos="1221520" algn="l"/>
                <a:tab pos="1527206" algn="l"/>
                <a:tab pos="1832893" algn="l"/>
                <a:tab pos="2138578" algn="l"/>
                <a:tab pos="2444264" algn="l"/>
                <a:tab pos="2749950" algn="l"/>
                <a:tab pos="3055636" algn="l"/>
                <a:tab pos="3361323" algn="l"/>
                <a:tab pos="3667009" algn="l"/>
                <a:tab pos="3972695" algn="l"/>
                <a:tab pos="4278381" algn="l"/>
                <a:tab pos="4584067" algn="l"/>
                <a:tab pos="4889752" algn="l"/>
                <a:tab pos="5195440" algn="l"/>
                <a:tab pos="5501126" algn="l"/>
                <a:tab pos="5806812" algn="l"/>
                <a:tab pos="6112498" algn="l"/>
              </a:tabLst>
            </a:pPr>
            <a:r>
              <a:rPr lang="de-DE" sz="2000" dirty="0">
                <a:solidFill>
                  <a:srgbClr val="000000"/>
                </a:solidFill>
                <a:latin typeface="Arial Regular"/>
                <a:ea typeface="ＭＳ Ｐゴシック" pitchFamily="34"/>
                <a:cs typeface="MS Gothic" pitchFamily="49"/>
              </a:rPr>
              <a:t>Grundschwingungsformen</a:t>
            </a:r>
          </a:p>
        </p:txBody>
      </p:sp>
      <p:sp>
        <p:nvSpPr>
          <p:cNvPr id="18" name="Rectangle 7">
            <a:extLst>
              <a:ext uri="{FF2B5EF4-FFF2-40B4-BE49-F238E27FC236}">
                <a16:creationId xmlns:a16="http://schemas.microsoft.com/office/drawing/2014/main" id="{7FD85FDE-858E-794D-A1F9-3839DB02DED4}"/>
              </a:ext>
            </a:extLst>
          </p:cNvPr>
          <p:cNvSpPr/>
          <p:nvPr/>
        </p:nvSpPr>
        <p:spPr>
          <a:xfrm>
            <a:off x="5080717" y="755032"/>
            <a:ext cx="933217" cy="244868"/>
          </a:xfrm>
          <a:prstGeom prst="rect">
            <a:avLst/>
          </a:prstGeom>
          <a:noFill/>
          <a:ln cap="flat">
            <a:noFill/>
            <a:prstDash val="solid"/>
          </a:ln>
        </p:spPr>
        <p:txBody>
          <a:bodyPr vert="horz" wrap="square" lIns="61235" tIns="31842" rIns="61235" bIns="31842" anchor="t" anchorCtr="0" compatLnSpc="0">
            <a:spAutoFit/>
          </a:bodyPr>
          <a:lstStyle/>
          <a:p>
            <a:pPr hangingPunct="0">
              <a:tabLst>
                <a:tab pos="0" algn="l"/>
                <a:tab pos="304706" algn="l"/>
                <a:tab pos="610147" algn="l"/>
                <a:tab pos="915834" algn="l"/>
                <a:tab pos="1221520" algn="l"/>
                <a:tab pos="1527206" algn="l"/>
                <a:tab pos="1832893" algn="l"/>
                <a:tab pos="2138578" algn="l"/>
                <a:tab pos="2444264" algn="l"/>
                <a:tab pos="2749950" algn="l"/>
                <a:tab pos="3055636" algn="l"/>
                <a:tab pos="3361323" algn="l"/>
                <a:tab pos="3667009" algn="l"/>
                <a:tab pos="3972695" algn="l"/>
                <a:tab pos="4278381" algn="l"/>
                <a:tab pos="4584067" algn="l"/>
                <a:tab pos="4889752" algn="l"/>
                <a:tab pos="5195440" algn="l"/>
                <a:tab pos="5501126" algn="l"/>
                <a:tab pos="5806812" algn="l"/>
                <a:tab pos="6112498" algn="l"/>
              </a:tabLst>
            </a:pPr>
            <a:r>
              <a:rPr lang="en-US" sz="1225" dirty="0" err="1">
                <a:solidFill>
                  <a:srgbClr val="000000"/>
                </a:solidFill>
                <a:latin typeface="Arial Regular"/>
                <a:ea typeface="ＭＳ Ｐゴシック" pitchFamily="34"/>
                <a:cs typeface="MS Gothic" pitchFamily="49"/>
              </a:rPr>
              <a:t>Rauschen</a:t>
            </a:r>
            <a:endParaRPr lang="en-US" sz="1225" dirty="0">
              <a:solidFill>
                <a:srgbClr val="000000"/>
              </a:solidFill>
              <a:latin typeface="Arial Regular"/>
              <a:ea typeface="ＭＳ Ｐゴシック" pitchFamily="34"/>
              <a:cs typeface="MS Gothic" pitchFamily="49"/>
            </a:endParaRPr>
          </a:p>
        </p:txBody>
      </p:sp>
      <p:pic>
        <p:nvPicPr>
          <p:cNvPr id="4" name="Grafik 3">
            <a:extLst>
              <a:ext uri="{FF2B5EF4-FFF2-40B4-BE49-F238E27FC236}">
                <a16:creationId xmlns:a16="http://schemas.microsoft.com/office/drawing/2014/main" id="{A5C0F2EE-AC1B-544F-BA25-BDA6B386E979}"/>
              </a:ext>
            </a:extLst>
          </p:cNvPr>
          <p:cNvPicPr>
            <a:picLocks noChangeAspect="1"/>
          </p:cNvPicPr>
          <p:nvPr/>
        </p:nvPicPr>
        <p:blipFill>
          <a:blip r:embed="rId9"/>
          <a:stretch>
            <a:fillRect/>
          </a:stretch>
        </p:blipFill>
        <p:spPr>
          <a:xfrm>
            <a:off x="693098" y="4677692"/>
            <a:ext cx="6618878" cy="1045085"/>
          </a:xfrm>
          <a:prstGeom prst="rect">
            <a:avLst/>
          </a:prstGeom>
        </p:spPr>
      </p:pic>
      <p:pic>
        <p:nvPicPr>
          <p:cNvPr id="6" name="Grafik 5">
            <a:extLst>
              <a:ext uri="{FF2B5EF4-FFF2-40B4-BE49-F238E27FC236}">
                <a16:creationId xmlns:a16="http://schemas.microsoft.com/office/drawing/2014/main" id="{DA6EF003-6692-6349-B7B7-9381BE9F7C84}"/>
              </a:ext>
            </a:extLst>
          </p:cNvPr>
          <p:cNvPicPr>
            <a:picLocks noChangeAspect="1"/>
          </p:cNvPicPr>
          <p:nvPr/>
        </p:nvPicPr>
        <p:blipFill>
          <a:blip r:embed="rId10"/>
          <a:stretch>
            <a:fillRect/>
          </a:stretch>
        </p:blipFill>
        <p:spPr>
          <a:xfrm>
            <a:off x="683568" y="3185863"/>
            <a:ext cx="6628408" cy="1058804"/>
          </a:xfrm>
          <a:prstGeom prst="rect">
            <a:avLst/>
          </a:prstGeom>
        </p:spPr>
      </p:pic>
      <p:pic>
        <p:nvPicPr>
          <p:cNvPr id="19" name="Grafik 18">
            <a:extLst>
              <a:ext uri="{FF2B5EF4-FFF2-40B4-BE49-F238E27FC236}">
                <a16:creationId xmlns:a16="http://schemas.microsoft.com/office/drawing/2014/main" id="{A7529B48-358A-B042-B52E-618A0AC8C825}"/>
              </a:ext>
            </a:extLst>
          </p:cNvPr>
          <p:cNvPicPr>
            <a:picLocks noChangeAspect="1"/>
          </p:cNvPicPr>
          <p:nvPr/>
        </p:nvPicPr>
        <p:blipFill>
          <a:blip r:embed="rId11"/>
          <a:stretch>
            <a:fillRect/>
          </a:stretch>
        </p:blipFill>
        <p:spPr>
          <a:xfrm>
            <a:off x="683568" y="1844824"/>
            <a:ext cx="6628408" cy="1071702"/>
          </a:xfrm>
          <a:prstGeom prst="rect">
            <a:avLst/>
          </a:prstGeom>
        </p:spPr>
      </p:pic>
      <p:pic>
        <p:nvPicPr>
          <p:cNvPr id="26" name="white">
            <a:hlinkClick r:id="" action="ppaction://media"/>
            <a:extLst>
              <a:ext uri="{FF2B5EF4-FFF2-40B4-BE49-F238E27FC236}">
                <a16:creationId xmlns:a16="http://schemas.microsoft.com/office/drawing/2014/main" id="{3FD7649E-D3B3-2C40-B9CD-2930CF472773}"/>
              </a:ext>
            </a:extLst>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7526918" y="2176582"/>
            <a:ext cx="553018" cy="553018"/>
          </a:xfrm>
          <a:prstGeom prst="rect">
            <a:avLst/>
          </a:prstGeom>
        </p:spPr>
      </p:pic>
      <p:pic>
        <p:nvPicPr>
          <p:cNvPr id="27" name="ppink">
            <a:hlinkClick r:id="" action="ppaction://media"/>
            <a:extLst>
              <a:ext uri="{FF2B5EF4-FFF2-40B4-BE49-F238E27FC236}">
                <a16:creationId xmlns:a16="http://schemas.microsoft.com/office/drawing/2014/main" id="{21FAD05E-384B-B947-942F-279B89CDC12C}"/>
              </a:ext>
            </a:extLst>
          </p:cNvPr>
          <p:cNvPicPr>
            <a:picLocks noChangeAspect="1"/>
          </p:cNvPicPr>
          <p:nvPr>
            <a:audioFile r:link="rId4"/>
            <p:extLst>
              <p:ext uri="{DAA4B4D4-6D71-4841-9C94-3DE7FCFB9230}">
                <p14:media xmlns:p14="http://schemas.microsoft.com/office/powerpoint/2010/main" r:embed="rId3"/>
              </p:ext>
            </p:extLst>
          </p:nvPr>
        </p:nvPicPr>
        <p:blipFill>
          <a:blip r:embed="rId12"/>
          <a:stretch>
            <a:fillRect/>
          </a:stretch>
        </p:blipFill>
        <p:spPr>
          <a:xfrm>
            <a:off x="7526918" y="3285459"/>
            <a:ext cx="553018" cy="553018"/>
          </a:xfrm>
          <a:prstGeom prst="rect">
            <a:avLst/>
          </a:prstGeom>
        </p:spPr>
      </p:pic>
      <p:pic>
        <p:nvPicPr>
          <p:cNvPr id="28" name="brownian">
            <a:hlinkClick r:id="" action="ppaction://media"/>
            <a:extLst>
              <a:ext uri="{FF2B5EF4-FFF2-40B4-BE49-F238E27FC236}">
                <a16:creationId xmlns:a16="http://schemas.microsoft.com/office/drawing/2014/main" id="{C83AE1C7-C774-1141-8723-6EB4D0730767}"/>
              </a:ext>
            </a:extLst>
          </p:cNvPr>
          <p:cNvPicPr>
            <a:picLocks noChangeAspect="1"/>
          </p:cNvPicPr>
          <p:nvPr>
            <a:audioFile r:link="rId6"/>
            <p:extLst>
              <p:ext uri="{DAA4B4D4-6D71-4841-9C94-3DE7FCFB9230}">
                <p14:media xmlns:p14="http://schemas.microsoft.com/office/powerpoint/2010/main" r:embed="rId5"/>
              </p:ext>
            </p:extLst>
          </p:nvPr>
        </p:nvPicPr>
        <p:blipFill>
          <a:blip r:embed="rId12"/>
          <a:stretch>
            <a:fillRect/>
          </a:stretch>
        </p:blipFill>
        <p:spPr>
          <a:xfrm>
            <a:off x="7526918" y="4853758"/>
            <a:ext cx="553018" cy="553018"/>
          </a:xfrm>
          <a:prstGeom prst="rect">
            <a:avLst/>
          </a:prstGeom>
        </p:spPr>
      </p:pic>
    </p:spTree>
    <p:extLst>
      <p:ext uri="{BB962C8B-B14F-4D97-AF65-F5344CB8AC3E}">
        <p14:creationId xmlns:p14="http://schemas.microsoft.com/office/powerpoint/2010/main" val="935954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000" fill="hold"/>
                                        <p:tgtEl>
                                          <p:spTgt spid="26"/>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5000" fill="hold"/>
                                        <p:tgtEl>
                                          <p:spTgt spid="27"/>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5000"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5" fill="hold" display="0">
                  <p:stCondLst>
                    <p:cond delay="indefinite"/>
                  </p:stCondLst>
                  <p:endCondLst>
                    <p:cond evt="onStopAudio" delay="0">
                      <p:tgtEl>
                        <p:sldTgt/>
                      </p:tgtEl>
                    </p:cond>
                  </p:endCondLst>
                </p:cTn>
                <p:tgtEl>
                  <p:spTgt spid="26"/>
                </p:tgtEl>
              </p:cMediaNode>
            </p:audio>
            <p:audio>
              <p:cMediaNode vol="80000">
                <p:cTn id="16" fill="hold" display="0">
                  <p:stCondLst>
                    <p:cond delay="indefinite"/>
                  </p:stCondLst>
                  <p:endCondLst>
                    <p:cond evt="onStopAudio" delay="0">
                      <p:tgtEl>
                        <p:sldTgt/>
                      </p:tgtEl>
                    </p:cond>
                  </p:endCondLst>
                </p:cTn>
                <p:tgtEl>
                  <p:spTgt spid="27"/>
                </p:tgtEl>
              </p:cMediaNode>
            </p:audio>
            <p:audio>
              <p:cMediaNode vol="80000">
                <p:cTn id="17" fill="hold" display="0">
                  <p:stCondLst>
                    <p:cond delay="indefinite"/>
                  </p:stCondLst>
                  <p:endCondLst>
                    <p:cond evt="onStopAudio" delay="0">
                      <p:tgtEl>
                        <p:sldTgt/>
                      </p:tgtEl>
                    </p:cond>
                  </p:endCondLst>
                </p:cTn>
                <p:tgtEl>
                  <p:spTgt spid="28"/>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5">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200161-0DF5-0E42-A1D7-97AD6BACED5F}"/>
              </a:ext>
            </a:extLst>
          </p:cNvPr>
          <p:cNvSpPr/>
          <p:nvPr/>
        </p:nvSpPr>
        <p:spPr>
          <a:xfrm>
            <a:off x="1116152" y="871599"/>
            <a:ext cx="3610109"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Addition von Schwingungen</a:t>
            </a:r>
          </a:p>
        </p:txBody>
      </p:sp>
      <p:pic>
        <p:nvPicPr>
          <p:cNvPr id="3" name="Picture 2">
            <a:extLst>
              <a:ext uri="{FF2B5EF4-FFF2-40B4-BE49-F238E27FC236}">
                <a16:creationId xmlns:a16="http://schemas.microsoft.com/office/drawing/2014/main" id="{87F3ADB4-6802-F24A-B5A5-CF69463D0919}"/>
              </a:ext>
            </a:extLst>
          </p:cNvPr>
          <p:cNvPicPr>
            <a:picLocks noChangeAspect="1"/>
          </p:cNvPicPr>
          <p:nvPr/>
        </p:nvPicPr>
        <p:blipFill>
          <a:blip r:embed="rId3"/>
          <a:srcRect/>
          <a:stretch>
            <a:fillRect/>
          </a:stretch>
        </p:blipFill>
        <p:spPr>
          <a:xfrm>
            <a:off x="908793" y="1977628"/>
            <a:ext cx="7476389" cy="4124015"/>
          </a:xfrm>
          <a:prstGeom prst="rect">
            <a:avLst/>
          </a:prstGeom>
          <a:noFill/>
          <a:ln cap="flat">
            <a:noFill/>
          </a:ln>
          <a:effectLst>
            <a:outerShdw dist="23040" dir="5400000" algn="tl">
              <a:srgbClr val="000000">
                <a:alpha val="35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200161-0DF5-0E42-A1D7-97AD6BACED5F}"/>
              </a:ext>
            </a:extLst>
          </p:cNvPr>
          <p:cNvSpPr/>
          <p:nvPr/>
        </p:nvSpPr>
        <p:spPr>
          <a:xfrm>
            <a:off x="1116152" y="871599"/>
            <a:ext cx="1934137"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Schwebungen</a:t>
            </a:r>
          </a:p>
        </p:txBody>
      </p:sp>
      <p:pic>
        <p:nvPicPr>
          <p:cNvPr id="7" name="Grafik 6">
            <a:extLst>
              <a:ext uri="{FF2B5EF4-FFF2-40B4-BE49-F238E27FC236}">
                <a16:creationId xmlns:a16="http://schemas.microsoft.com/office/drawing/2014/main" id="{98BC1169-92C7-144E-9756-606D5F5305FC}"/>
              </a:ext>
            </a:extLst>
          </p:cNvPr>
          <p:cNvPicPr>
            <a:picLocks noChangeAspect="1"/>
          </p:cNvPicPr>
          <p:nvPr/>
        </p:nvPicPr>
        <p:blipFill>
          <a:blip r:embed="rId9"/>
          <a:stretch>
            <a:fillRect/>
          </a:stretch>
        </p:blipFill>
        <p:spPr>
          <a:xfrm>
            <a:off x="899998" y="1548603"/>
            <a:ext cx="5364088" cy="1785997"/>
          </a:xfrm>
          <a:prstGeom prst="rect">
            <a:avLst/>
          </a:prstGeom>
        </p:spPr>
      </p:pic>
      <p:pic>
        <p:nvPicPr>
          <p:cNvPr id="9" name="Grafik 8">
            <a:extLst>
              <a:ext uri="{FF2B5EF4-FFF2-40B4-BE49-F238E27FC236}">
                <a16:creationId xmlns:a16="http://schemas.microsoft.com/office/drawing/2014/main" id="{319630A0-5574-314C-8529-78DEF1F2EBFE}"/>
              </a:ext>
            </a:extLst>
          </p:cNvPr>
          <p:cNvPicPr>
            <a:picLocks noChangeAspect="1"/>
          </p:cNvPicPr>
          <p:nvPr/>
        </p:nvPicPr>
        <p:blipFill>
          <a:blip r:embed="rId10"/>
          <a:stretch>
            <a:fillRect/>
          </a:stretch>
        </p:blipFill>
        <p:spPr>
          <a:xfrm>
            <a:off x="899592" y="3645024"/>
            <a:ext cx="3928890" cy="2464172"/>
          </a:xfrm>
          <a:prstGeom prst="rect">
            <a:avLst/>
          </a:prstGeom>
        </p:spPr>
      </p:pic>
      <p:pic>
        <p:nvPicPr>
          <p:cNvPr id="10" name="500hz">
            <a:hlinkClick r:id="" action="ppaction://media"/>
            <a:extLst>
              <a:ext uri="{FF2B5EF4-FFF2-40B4-BE49-F238E27FC236}">
                <a16:creationId xmlns:a16="http://schemas.microsoft.com/office/drawing/2014/main" id="{5281134B-06E2-4A42-B604-3A01ED2A29DE}"/>
              </a:ext>
            </a:extLst>
          </p:cNvPr>
          <p:cNvPicPr>
            <a:picLocks noChangeAspect="1"/>
          </p:cNvPicPr>
          <p:nvPr>
            <a:audioFile r:link="rId2"/>
            <p:extLst>
              <p:ext uri="{DAA4B4D4-6D71-4841-9C94-3DE7FCFB9230}">
                <p14:media xmlns:p14="http://schemas.microsoft.com/office/powerpoint/2010/main" r:embed="rId1"/>
              </p:ext>
            </p:extLst>
          </p:nvPr>
        </p:nvPicPr>
        <p:blipFill>
          <a:blip r:embed="rId11"/>
          <a:stretch>
            <a:fillRect/>
          </a:stretch>
        </p:blipFill>
        <p:spPr>
          <a:xfrm>
            <a:off x="7020272" y="1643003"/>
            <a:ext cx="812800" cy="812800"/>
          </a:xfrm>
          <a:prstGeom prst="rect">
            <a:avLst/>
          </a:prstGeom>
        </p:spPr>
      </p:pic>
      <p:pic>
        <p:nvPicPr>
          <p:cNvPr id="11" name="530hz">
            <a:hlinkClick r:id="" action="ppaction://media"/>
            <a:extLst>
              <a:ext uri="{FF2B5EF4-FFF2-40B4-BE49-F238E27FC236}">
                <a16:creationId xmlns:a16="http://schemas.microsoft.com/office/drawing/2014/main" id="{5A29EDF3-4636-4844-968D-9E379085FE17}"/>
              </a:ext>
            </a:extLst>
          </p:cNvPr>
          <p:cNvPicPr>
            <a:picLocks noChangeAspect="1"/>
          </p:cNvPicPr>
          <p:nvPr>
            <a:audioFile r:link="rId4"/>
            <p:extLst>
              <p:ext uri="{DAA4B4D4-6D71-4841-9C94-3DE7FCFB9230}">
                <p14:media xmlns:p14="http://schemas.microsoft.com/office/powerpoint/2010/main" r:embed="rId3"/>
              </p:ext>
            </p:extLst>
          </p:nvPr>
        </p:nvPicPr>
        <p:blipFill>
          <a:blip r:embed="rId11"/>
          <a:stretch>
            <a:fillRect/>
          </a:stretch>
        </p:blipFill>
        <p:spPr>
          <a:xfrm>
            <a:off x="6959153" y="3297808"/>
            <a:ext cx="812800" cy="812800"/>
          </a:xfrm>
          <a:prstGeom prst="rect">
            <a:avLst/>
          </a:prstGeom>
        </p:spPr>
      </p:pic>
      <p:pic>
        <p:nvPicPr>
          <p:cNvPr id="12" name="schwebung_500hz_530hz">
            <a:hlinkClick r:id="" action="ppaction://media"/>
            <a:extLst>
              <a:ext uri="{FF2B5EF4-FFF2-40B4-BE49-F238E27FC236}">
                <a16:creationId xmlns:a16="http://schemas.microsoft.com/office/drawing/2014/main" id="{7C0D4C3C-AE81-B446-9AF3-D11C168E4E34}"/>
              </a:ext>
            </a:extLst>
          </p:cNvPr>
          <p:cNvPicPr>
            <a:picLocks noChangeAspect="1"/>
          </p:cNvPicPr>
          <p:nvPr>
            <a:audioFile r:link="rId6"/>
            <p:extLst>
              <p:ext uri="{DAA4B4D4-6D71-4841-9C94-3DE7FCFB9230}">
                <p14:media xmlns:p14="http://schemas.microsoft.com/office/powerpoint/2010/main" r:embed="rId5"/>
              </p:ext>
            </p:extLst>
          </p:nvPr>
        </p:nvPicPr>
        <p:blipFill>
          <a:blip r:embed="rId11"/>
          <a:stretch>
            <a:fillRect/>
          </a:stretch>
        </p:blipFill>
        <p:spPr>
          <a:xfrm>
            <a:off x="6959153" y="4821216"/>
            <a:ext cx="812800" cy="812800"/>
          </a:xfrm>
          <a:prstGeom prst="rect">
            <a:avLst/>
          </a:prstGeom>
        </p:spPr>
      </p:pic>
      <p:sp>
        <p:nvSpPr>
          <p:cNvPr id="13" name="Textfeld 12">
            <a:extLst>
              <a:ext uri="{FF2B5EF4-FFF2-40B4-BE49-F238E27FC236}">
                <a16:creationId xmlns:a16="http://schemas.microsoft.com/office/drawing/2014/main" id="{AC05CB3E-DC1D-5A49-9F39-0FDC34EDC88B}"/>
              </a:ext>
            </a:extLst>
          </p:cNvPr>
          <p:cNvSpPr txBox="1"/>
          <p:nvPr/>
        </p:nvSpPr>
        <p:spPr>
          <a:xfrm>
            <a:off x="7088958" y="2501657"/>
            <a:ext cx="814647" cy="343620"/>
          </a:xfrm>
          <a:prstGeom prst="rect">
            <a:avLst/>
          </a:prstGeom>
          <a:noFill/>
        </p:spPr>
        <p:txBody>
          <a:bodyPr wrap="none" rtlCol="0">
            <a:spAutoFit/>
          </a:bodyPr>
          <a:lstStyle/>
          <a:p>
            <a:r>
              <a:rPr lang="de-DE" dirty="0">
                <a:latin typeface="Arial Regular"/>
              </a:rPr>
              <a:t>500 </a:t>
            </a:r>
            <a:r>
              <a:rPr lang="de-DE" dirty="0" err="1">
                <a:latin typeface="Arial Regular"/>
              </a:rPr>
              <a:t>hz</a:t>
            </a:r>
            <a:endParaRPr lang="de-DE" dirty="0">
              <a:latin typeface="Arial Regular"/>
            </a:endParaRPr>
          </a:p>
        </p:txBody>
      </p:sp>
      <p:sp>
        <p:nvSpPr>
          <p:cNvPr id="14" name="Textfeld 13">
            <a:extLst>
              <a:ext uri="{FF2B5EF4-FFF2-40B4-BE49-F238E27FC236}">
                <a16:creationId xmlns:a16="http://schemas.microsoft.com/office/drawing/2014/main" id="{3DCCAE9F-3764-7F42-B99A-109ADD136D89}"/>
              </a:ext>
            </a:extLst>
          </p:cNvPr>
          <p:cNvSpPr txBox="1"/>
          <p:nvPr/>
        </p:nvSpPr>
        <p:spPr>
          <a:xfrm>
            <a:off x="7031361" y="4216461"/>
            <a:ext cx="814647" cy="343620"/>
          </a:xfrm>
          <a:prstGeom prst="rect">
            <a:avLst/>
          </a:prstGeom>
          <a:noFill/>
        </p:spPr>
        <p:txBody>
          <a:bodyPr wrap="none" rtlCol="0">
            <a:spAutoFit/>
          </a:bodyPr>
          <a:lstStyle/>
          <a:p>
            <a:r>
              <a:rPr lang="de-DE" dirty="0">
                <a:latin typeface="Arial Regular"/>
              </a:rPr>
              <a:t>530 </a:t>
            </a:r>
            <a:r>
              <a:rPr lang="de-DE" dirty="0" err="1">
                <a:latin typeface="Arial Regular"/>
              </a:rPr>
              <a:t>hz</a:t>
            </a:r>
            <a:endParaRPr lang="de-DE" dirty="0">
              <a:latin typeface="Arial Regular"/>
            </a:endParaRPr>
          </a:p>
        </p:txBody>
      </p:sp>
      <p:sp>
        <p:nvSpPr>
          <p:cNvPr id="15" name="Textfeld 14">
            <a:extLst>
              <a:ext uri="{FF2B5EF4-FFF2-40B4-BE49-F238E27FC236}">
                <a16:creationId xmlns:a16="http://schemas.microsoft.com/office/drawing/2014/main" id="{A77E4713-F489-2645-8A92-4746EE73BB85}"/>
              </a:ext>
            </a:extLst>
          </p:cNvPr>
          <p:cNvSpPr txBox="1"/>
          <p:nvPr/>
        </p:nvSpPr>
        <p:spPr>
          <a:xfrm>
            <a:off x="6588224" y="5811743"/>
            <a:ext cx="2031325" cy="594906"/>
          </a:xfrm>
          <a:prstGeom prst="rect">
            <a:avLst/>
          </a:prstGeom>
          <a:noFill/>
        </p:spPr>
        <p:txBody>
          <a:bodyPr wrap="none" rtlCol="0">
            <a:spAutoFit/>
          </a:bodyPr>
          <a:lstStyle/>
          <a:p>
            <a:r>
              <a:rPr lang="de-DE" dirty="0">
                <a:latin typeface="Arial Regular"/>
              </a:rPr>
              <a:t>500 + 530 </a:t>
            </a:r>
            <a:r>
              <a:rPr lang="de-DE" dirty="0" err="1">
                <a:latin typeface="Arial Regular"/>
              </a:rPr>
              <a:t>hz</a:t>
            </a:r>
            <a:endParaRPr lang="de-DE" dirty="0">
              <a:latin typeface="Arial Regular"/>
            </a:endParaRPr>
          </a:p>
          <a:p>
            <a:r>
              <a:rPr lang="de-DE" dirty="0">
                <a:latin typeface="Arial Regular"/>
              </a:rPr>
              <a:t>Schwebung = 30 </a:t>
            </a:r>
            <a:r>
              <a:rPr lang="de-DE" dirty="0" err="1">
                <a:latin typeface="Arial Regular"/>
              </a:rPr>
              <a:t>hz</a:t>
            </a:r>
            <a:endParaRPr lang="de-DE" dirty="0">
              <a:latin typeface="Arial Regular"/>
            </a:endParaRPr>
          </a:p>
        </p:txBody>
      </p:sp>
      <p:sp>
        <p:nvSpPr>
          <p:cNvPr id="3" name="Textfeld 2">
            <a:extLst>
              <a:ext uri="{FF2B5EF4-FFF2-40B4-BE49-F238E27FC236}">
                <a16:creationId xmlns:a16="http://schemas.microsoft.com/office/drawing/2014/main" id="{EE516A6D-A0AD-E294-9E5B-B6D92BCB18A7}"/>
              </a:ext>
            </a:extLst>
          </p:cNvPr>
          <p:cNvSpPr txBox="1"/>
          <p:nvPr/>
        </p:nvSpPr>
        <p:spPr>
          <a:xfrm>
            <a:off x="3203848" y="934634"/>
            <a:ext cx="1894301" cy="343620"/>
          </a:xfrm>
          <a:prstGeom prst="rect">
            <a:avLst/>
          </a:prstGeom>
          <a:noFill/>
        </p:spPr>
        <p:txBody>
          <a:bodyPr wrap="none" rtlCol="0">
            <a:spAutoFit/>
          </a:bodyPr>
          <a:lstStyle/>
          <a:p>
            <a:r>
              <a:rPr lang="en-GB" dirty="0"/>
              <a:t>Reaper: 01-Beatings</a:t>
            </a:r>
          </a:p>
        </p:txBody>
      </p:sp>
    </p:spTree>
    <p:extLst>
      <p:ext uri="{BB962C8B-B14F-4D97-AF65-F5344CB8AC3E}">
        <p14:creationId xmlns:p14="http://schemas.microsoft.com/office/powerpoint/2010/main" val="2202913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31" fill="hold"/>
                                        <p:tgtEl>
                                          <p:spTgt spid="1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31" fill="hold"/>
                                        <p:tgtEl>
                                          <p:spTgt spid="11"/>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003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5" fill="hold" display="0">
                  <p:stCondLst>
                    <p:cond delay="indefinite"/>
                  </p:stCondLst>
                  <p:endCondLst>
                    <p:cond evt="onStopAudio" delay="0">
                      <p:tgtEl>
                        <p:sldTgt/>
                      </p:tgtEl>
                    </p:cond>
                  </p:endCondLst>
                </p:cTn>
                <p:tgtEl>
                  <p:spTgt spid="10"/>
                </p:tgtEl>
              </p:cMediaNode>
            </p:audio>
            <p:audio>
              <p:cMediaNode vol="80000">
                <p:cTn id="16" fill="hold" display="0">
                  <p:stCondLst>
                    <p:cond delay="indefinite"/>
                  </p:stCondLst>
                  <p:endCondLst>
                    <p:cond evt="onStopAudio" delay="0">
                      <p:tgtEl>
                        <p:sldTgt/>
                      </p:tgtEl>
                    </p:cond>
                  </p:endCondLst>
                </p:cTn>
                <p:tgtEl>
                  <p:spTgt spid="11"/>
                </p:tgtEl>
              </p:cMediaNode>
            </p:audio>
            <p:audio>
              <p:cMediaNode vol="80000">
                <p:cTn id="17" fill="hold" display="0">
                  <p:stCondLst>
                    <p:cond delay="indefinite"/>
                  </p:stCondLst>
                  <p:endCondLst>
                    <p:cond evt="onStopAudio" delay="0">
                      <p:tgtEl>
                        <p:sldTgt/>
                      </p:tgtEl>
                    </p:cond>
                  </p:endCondLst>
                </p:cTn>
                <p:tgtEl>
                  <p:spTgt spid="12"/>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6">
    <p:bg>
      <p:bgPr>
        <a:solidFill>
          <a:srgbClr val="FFFFFF"/>
        </a:solidFill>
        <a:effectLst/>
      </p:bgPr>
    </p:bg>
    <p:spTree>
      <p:nvGrpSpPr>
        <p:cNvPr id="1" name=""/>
        <p:cNvGrpSpPr/>
        <p:nvPr/>
      </p:nvGrpSpPr>
      <p:grpSpPr>
        <a:xfrm>
          <a:off x="0" y="0"/>
          <a:ext cx="0" cy="0"/>
          <a:chOff x="0" y="0"/>
          <a:chExt cx="0" cy="0"/>
        </a:xfrm>
      </p:grpSpPr>
      <p:graphicFrame>
        <p:nvGraphicFramePr>
          <p:cNvPr id="2" name="Tabelle 1">
            <a:extLst>
              <a:ext uri="{FF2B5EF4-FFF2-40B4-BE49-F238E27FC236}">
                <a16:creationId xmlns:a16="http://schemas.microsoft.com/office/drawing/2014/main" id="{31E22370-74AB-D74B-8A76-186ED404E87B}"/>
              </a:ext>
            </a:extLst>
          </p:cNvPr>
          <p:cNvGraphicFramePr>
            <a:graphicFrameLocks noGrp="1"/>
          </p:cNvGraphicFramePr>
          <p:nvPr>
            <p:extLst>
              <p:ext uri="{D42A27DB-BD31-4B8C-83A1-F6EECF244321}">
                <p14:modId xmlns:p14="http://schemas.microsoft.com/office/powerpoint/2010/main" val="44100250"/>
              </p:ext>
            </p:extLst>
          </p:nvPr>
        </p:nvGraphicFramePr>
        <p:xfrm>
          <a:off x="1523361" y="1397020"/>
          <a:ext cx="6097037" cy="4952799"/>
        </p:xfrm>
        <a:graphic>
          <a:graphicData uri="http://schemas.openxmlformats.org/drawingml/2006/table">
            <a:tbl>
              <a:tblPr/>
              <a:tblGrid>
                <a:gridCol w="3049988">
                  <a:extLst>
                    <a:ext uri="{9D8B030D-6E8A-4147-A177-3AD203B41FA5}">
                      <a16:colId xmlns:a16="http://schemas.microsoft.com/office/drawing/2014/main" val="1404143416"/>
                    </a:ext>
                  </a:extLst>
                </a:gridCol>
                <a:gridCol w="3047049">
                  <a:extLst>
                    <a:ext uri="{9D8B030D-6E8A-4147-A177-3AD203B41FA5}">
                      <a16:colId xmlns:a16="http://schemas.microsoft.com/office/drawing/2014/main" val="4097565597"/>
                    </a:ext>
                  </a:extLst>
                </a:gridCol>
              </a:tblGrid>
              <a:tr h="908792">
                <a:tc>
                  <a:txBody>
                    <a:bodyPr/>
                    <a:lstStyle/>
                    <a:p>
                      <a:pPr marL="0" marR="0" lvl="0" indent="0" algn="ctr" rtl="0" hangingPunct="1">
                        <a:lnSpc>
                          <a:spcPct val="93000"/>
                        </a:lnSpc>
                        <a:spcBef>
                          <a:spcPts val="0"/>
                        </a:spcBef>
                        <a:spcAft>
                          <a:spcPts val="0"/>
                        </a:spcAft>
                        <a:buNone/>
                        <a:tabLst>
                          <a:tab pos="0" algn="l"/>
                          <a:tab pos="447840" algn="l"/>
                          <a:tab pos="896759" algn="l"/>
                          <a:tab pos="1346040" algn="l"/>
                          <a:tab pos="1795320" algn="l"/>
                          <a:tab pos="2244600" algn="l"/>
                          <a:tab pos="2693880" algn="l"/>
                          <a:tab pos="3143159" algn="l"/>
                          <a:tab pos="3592440" algn="l"/>
                          <a:tab pos="4041719" algn="l"/>
                          <a:tab pos="4491000" algn="l"/>
                          <a:tab pos="4940280" algn="l"/>
                          <a:tab pos="5389560" algn="l"/>
                          <a:tab pos="5838840" algn="l"/>
                          <a:tab pos="6288120" algn="l"/>
                          <a:tab pos="6737400" algn="l"/>
                          <a:tab pos="7186679" algn="l"/>
                          <a:tab pos="7635960" algn="l"/>
                          <a:tab pos="8085240" algn="l"/>
                          <a:tab pos="8534520" algn="l"/>
                          <a:tab pos="8983800" algn="l"/>
                        </a:tabLst>
                      </a:pPr>
                      <a:r>
                        <a:rPr lang="en-US" sz="1600" b="0" i="0" u="none" strike="noStrike" kern="1200" cap="none" baseline="0" dirty="0">
                          <a:ln>
                            <a:noFill/>
                          </a:ln>
                          <a:solidFill>
                            <a:srgbClr val="000000"/>
                          </a:solidFill>
                          <a:latin typeface="Arial Regular"/>
                          <a:ea typeface="ＭＳ Ｐゴシック" pitchFamily="2"/>
                          <a:cs typeface="Arial Unicode MS" pitchFamily="2"/>
                        </a:rPr>
                        <a:t>Analog</a:t>
                      </a:r>
                    </a:p>
                    <a:p>
                      <a:pPr marL="0" marR="0" lvl="0" indent="0" algn="ctr" rtl="0" hangingPunct="1">
                        <a:lnSpc>
                          <a:spcPct val="93000"/>
                        </a:lnSpc>
                        <a:spcBef>
                          <a:spcPts val="0"/>
                        </a:spcBef>
                        <a:spcAft>
                          <a:spcPts val="0"/>
                        </a:spcAft>
                        <a:buNone/>
                        <a:tabLst>
                          <a:tab pos="0" algn="l"/>
                          <a:tab pos="447840" algn="l"/>
                          <a:tab pos="896759" algn="l"/>
                          <a:tab pos="1346040" algn="l"/>
                          <a:tab pos="1795320" algn="l"/>
                          <a:tab pos="2244600" algn="l"/>
                          <a:tab pos="2693880" algn="l"/>
                          <a:tab pos="3143159" algn="l"/>
                          <a:tab pos="3592440" algn="l"/>
                          <a:tab pos="4041719" algn="l"/>
                          <a:tab pos="4491000" algn="l"/>
                          <a:tab pos="4940280" algn="l"/>
                          <a:tab pos="5389560" algn="l"/>
                          <a:tab pos="5838840" algn="l"/>
                          <a:tab pos="6288120" algn="l"/>
                          <a:tab pos="6737400" algn="l"/>
                          <a:tab pos="7186679" algn="l"/>
                          <a:tab pos="7635960" algn="l"/>
                          <a:tab pos="8085240" algn="l"/>
                          <a:tab pos="8534520" algn="l"/>
                          <a:tab pos="8983800" algn="l"/>
                        </a:tabLst>
                      </a:pPr>
                      <a:br>
                        <a:rPr lang="en-US" sz="1600" b="0" i="0" u="none" strike="noStrike" kern="1200" cap="none" baseline="0" dirty="0">
                          <a:ln>
                            <a:noFill/>
                          </a:ln>
                          <a:solidFill>
                            <a:srgbClr val="000000"/>
                          </a:solidFill>
                          <a:latin typeface="Arial Regular"/>
                          <a:ea typeface="ＭＳ Ｐゴシック" pitchFamily="2"/>
                          <a:cs typeface="Arial Unicode MS" pitchFamily="2"/>
                        </a:rPr>
                      </a:br>
                      <a:endParaRPr lang="en-US" sz="1600" b="0" i="0" u="none" strike="noStrike" kern="1200" cap="none" baseline="0" dirty="0">
                        <a:ln>
                          <a:noFill/>
                        </a:ln>
                        <a:solidFill>
                          <a:srgbClr val="000000"/>
                        </a:solidFill>
                        <a:latin typeface="Arial Regular"/>
                        <a:ea typeface="ＭＳ Ｐゴシック" pitchFamily="2"/>
                        <a:cs typeface="Arial Unicode MS" pitchFamily="2"/>
                      </a:endParaRPr>
                    </a:p>
                  </a:txBody>
                  <a:tcPr marL="82944" marR="82944" marT="41472" marB="41472"/>
                </a:tc>
                <a:tc>
                  <a:txBody>
                    <a:bodyPr/>
                    <a:lstStyle/>
                    <a:p>
                      <a:pPr marL="0" marR="0" lvl="0" indent="0" algn="ctr" rtl="0" hangingPunct="1">
                        <a:lnSpc>
                          <a:spcPct val="93000"/>
                        </a:lnSpc>
                        <a:spcBef>
                          <a:spcPts val="0"/>
                        </a:spcBef>
                        <a:spcAft>
                          <a:spcPts val="0"/>
                        </a:spcAft>
                        <a:buNone/>
                        <a:tabLst>
                          <a:tab pos="0" algn="l"/>
                          <a:tab pos="447840" algn="l"/>
                          <a:tab pos="896759" algn="l"/>
                          <a:tab pos="1346040" algn="l"/>
                          <a:tab pos="1795320" algn="l"/>
                          <a:tab pos="2244600" algn="l"/>
                          <a:tab pos="2693880" algn="l"/>
                          <a:tab pos="3143159" algn="l"/>
                          <a:tab pos="3592440" algn="l"/>
                          <a:tab pos="4041719" algn="l"/>
                          <a:tab pos="4491000" algn="l"/>
                          <a:tab pos="4940280" algn="l"/>
                          <a:tab pos="5389560" algn="l"/>
                          <a:tab pos="5838840" algn="l"/>
                          <a:tab pos="6288120" algn="l"/>
                          <a:tab pos="6737400" algn="l"/>
                          <a:tab pos="7186679" algn="l"/>
                          <a:tab pos="7635960" algn="l"/>
                          <a:tab pos="8085240" algn="l"/>
                          <a:tab pos="8534520" algn="l"/>
                          <a:tab pos="8983800" algn="l"/>
                        </a:tabLst>
                      </a:pPr>
                      <a:r>
                        <a:rPr lang="en-US" sz="1600" b="0" i="0" u="none" strike="noStrike" kern="1200" cap="none" baseline="0" dirty="0">
                          <a:ln>
                            <a:noFill/>
                          </a:ln>
                          <a:solidFill>
                            <a:srgbClr val="000000"/>
                          </a:solidFill>
                          <a:latin typeface="Arial Regular"/>
                          <a:ea typeface="ＭＳ Ｐゴシック" pitchFamily="2"/>
                          <a:cs typeface="Arial Unicode MS" pitchFamily="2"/>
                        </a:rPr>
                        <a:t>Digital</a:t>
                      </a:r>
                    </a:p>
                  </a:txBody>
                  <a:tcPr marL="82944" marR="82944" marT="41472" marB="41472"/>
                </a:tc>
                <a:extLst>
                  <a:ext uri="{0D108BD9-81ED-4DB2-BD59-A6C34878D82A}">
                    <a16:rowId xmlns:a16="http://schemas.microsoft.com/office/drawing/2014/main" val="372753853"/>
                  </a:ext>
                </a:extLst>
              </a:tr>
              <a:tr h="659633">
                <a:tc>
                  <a:txBody>
                    <a:bodyPr/>
                    <a:lstStyle/>
                    <a:p>
                      <a:pPr marL="0" marR="0" lvl="0" indent="0" algn="l" rtl="0" hangingPunct="1">
                        <a:lnSpc>
                          <a:spcPct val="93000"/>
                        </a:lnSpc>
                        <a:spcBef>
                          <a:spcPts val="0"/>
                        </a:spcBef>
                        <a:spcAft>
                          <a:spcPts val="0"/>
                        </a:spcAft>
                        <a:buNone/>
                        <a:tabLst>
                          <a:tab pos="0" algn="l"/>
                          <a:tab pos="447840" algn="l"/>
                          <a:tab pos="896759" algn="l"/>
                          <a:tab pos="1346040" algn="l"/>
                          <a:tab pos="1795320" algn="l"/>
                          <a:tab pos="2244600" algn="l"/>
                          <a:tab pos="2693880" algn="l"/>
                          <a:tab pos="3143159" algn="l"/>
                          <a:tab pos="3592440" algn="l"/>
                          <a:tab pos="4041719" algn="l"/>
                          <a:tab pos="4491000" algn="l"/>
                          <a:tab pos="4940280" algn="l"/>
                          <a:tab pos="5389560" algn="l"/>
                          <a:tab pos="5838840" algn="l"/>
                          <a:tab pos="6288120" algn="l"/>
                          <a:tab pos="6737400" algn="l"/>
                          <a:tab pos="7186679" algn="l"/>
                          <a:tab pos="7635960" algn="l"/>
                          <a:tab pos="8085240" algn="l"/>
                          <a:tab pos="8534520" algn="l"/>
                          <a:tab pos="8983800" algn="l"/>
                        </a:tabLst>
                      </a:pPr>
                      <a:r>
                        <a:rPr lang="en-US" sz="1600" b="0" i="0" u="none" strike="noStrike" kern="1200" cap="none" baseline="0" dirty="0" err="1">
                          <a:ln>
                            <a:noFill/>
                          </a:ln>
                          <a:solidFill>
                            <a:srgbClr val="000000"/>
                          </a:solidFill>
                          <a:latin typeface="Arial Regular"/>
                          <a:ea typeface="ＭＳ Ｐゴシック" pitchFamily="2"/>
                          <a:cs typeface="Arial Unicode MS" pitchFamily="2"/>
                        </a:rPr>
                        <a:t>Signale</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sind</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werte</a:t>
                      </a:r>
                      <a:r>
                        <a:rPr lang="en-US" sz="1600" b="0" i="0" u="none" strike="noStrike" kern="1200" cap="none" baseline="0" dirty="0">
                          <a:ln>
                            <a:noFill/>
                          </a:ln>
                          <a:solidFill>
                            <a:srgbClr val="000000"/>
                          </a:solidFill>
                          <a:latin typeface="Arial Regular"/>
                          <a:ea typeface="ＭＳ Ｐゴシック" pitchFamily="2"/>
                          <a:cs typeface="Arial Unicode MS" pitchFamily="2"/>
                        </a:rPr>
                        <a:t>- und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zeitkontinuierlich</a:t>
                      </a:r>
                      <a:endParaRPr lang="en-US" sz="1600" b="0" i="0" u="none" strike="noStrike" kern="1200" cap="none" baseline="0" dirty="0">
                        <a:ln>
                          <a:noFill/>
                        </a:ln>
                        <a:solidFill>
                          <a:srgbClr val="000000"/>
                        </a:solidFill>
                        <a:latin typeface="Arial Regular"/>
                        <a:ea typeface="ＭＳ Ｐゴシック" pitchFamily="2"/>
                        <a:cs typeface="Arial Unicode MS" pitchFamily="2"/>
                      </a:endParaRPr>
                    </a:p>
                  </a:txBody>
                  <a:tcPr marL="82944" marR="82944" marT="41472" marB="41472"/>
                </a:tc>
                <a:tc>
                  <a:txBody>
                    <a:bodyPr/>
                    <a:lstStyle/>
                    <a:p>
                      <a:pPr marL="0" marR="0" lvl="0" indent="0" algn="l" rtl="0" hangingPunct="1">
                        <a:lnSpc>
                          <a:spcPct val="93000"/>
                        </a:lnSpc>
                        <a:spcBef>
                          <a:spcPts val="0"/>
                        </a:spcBef>
                        <a:spcAft>
                          <a:spcPts val="0"/>
                        </a:spcAft>
                        <a:buNone/>
                        <a:tabLst>
                          <a:tab pos="0" algn="l"/>
                          <a:tab pos="447840" algn="l"/>
                          <a:tab pos="896759" algn="l"/>
                          <a:tab pos="1346040" algn="l"/>
                          <a:tab pos="1795320" algn="l"/>
                          <a:tab pos="2244600" algn="l"/>
                          <a:tab pos="2693880" algn="l"/>
                          <a:tab pos="3143159" algn="l"/>
                          <a:tab pos="3592440" algn="l"/>
                          <a:tab pos="4041719" algn="l"/>
                          <a:tab pos="4491000" algn="l"/>
                          <a:tab pos="4940280" algn="l"/>
                          <a:tab pos="5389560" algn="l"/>
                          <a:tab pos="5838840" algn="l"/>
                          <a:tab pos="6288120" algn="l"/>
                          <a:tab pos="6737400" algn="l"/>
                          <a:tab pos="7186679" algn="l"/>
                          <a:tab pos="7635960" algn="l"/>
                          <a:tab pos="8085240" algn="l"/>
                          <a:tab pos="8534520" algn="l"/>
                          <a:tab pos="8983800" algn="l"/>
                        </a:tabLst>
                      </a:pPr>
                      <a:r>
                        <a:rPr lang="en-US" sz="1600" b="0" i="0" u="none" strike="noStrike" kern="1200" cap="none" baseline="0" dirty="0" err="1">
                          <a:ln>
                            <a:noFill/>
                          </a:ln>
                          <a:solidFill>
                            <a:srgbClr val="000000"/>
                          </a:solidFill>
                          <a:latin typeface="Arial Regular"/>
                          <a:ea typeface="ＭＳ Ｐゴシック" pitchFamily="2"/>
                          <a:cs typeface="Arial Unicode MS" pitchFamily="2"/>
                        </a:rPr>
                        <a:t>Signale</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sind</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werte</a:t>
                      </a:r>
                      <a:r>
                        <a:rPr lang="en-US" sz="1600" b="0" i="0" u="none" strike="noStrike" kern="1200" cap="none" baseline="0" dirty="0">
                          <a:ln>
                            <a:noFill/>
                          </a:ln>
                          <a:solidFill>
                            <a:srgbClr val="000000"/>
                          </a:solidFill>
                          <a:latin typeface="Arial Regular"/>
                          <a:ea typeface="ＭＳ Ｐゴシック" pitchFamily="2"/>
                          <a:cs typeface="Arial Unicode MS" pitchFamily="2"/>
                        </a:rPr>
                        <a:t>- und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zeitdiskret</a:t>
                      </a:r>
                      <a:endParaRPr lang="en-US" sz="1600" b="0" i="0" u="none" strike="noStrike" kern="1200" cap="none" baseline="0" dirty="0">
                        <a:ln>
                          <a:noFill/>
                        </a:ln>
                        <a:solidFill>
                          <a:srgbClr val="000000"/>
                        </a:solidFill>
                        <a:latin typeface="Arial Regular"/>
                        <a:ea typeface="ＭＳ Ｐゴシック" pitchFamily="2"/>
                        <a:cs typeface="Arial Unicode MS" pitchFamily="2"/>
                      </a:endParaRPr>
                    </a:p>
                  </a:txBody>
                  <a:tcPr marL="82944" marR="82944" marT="41472" marB="41472"/>
                </a:tc>
                <a:extLst>
                  <a:ext uri="{0D108BD9-81ED-4DB2-BD59-A6C34878D82A}">
                    <a16:rowId xmlns:a16="http://schemas.microsoft.com/office/drawing/2014/main" val="1364848547"/>
                  </a:ext>
                </a:extLst>
              </a:tr>
              <a:tr h="659633">
                <a:tc>
                  <a:txBody>
                    <a:bodyPr/>
                    <a:lstStyle/>
                    <a:p>
                      <a:pPr marL="0" marR="0" lvl="0" indent="0" algn="l" rtl="0" hangingPunct="1">
                        <a:lnSpc>
                          <a:spcPct val="93000"/>
                        </a:lnSpc>
                        <a:spcBef>
                          <a:spcPts val="0"/>
                        </a:spcBef>
                        <a:spcAft>
                          <a:spcPts val="0"/>
                        </a:spcAft>
                        <a:buNone/>
                        <a:tabLst>
                          <a:tab pos="0" algn="l"/>
                          <a:tab pos="447840" algn="l"/>
                          <a:tab pos="896759" algn="l"/>
                          <a:tab pos="1346040" algn="l"/>
                          <a:tab pos="1795320" algn="l"/>
                          <a:tab pos="2244600" algn="l"/>
                          <a:tab pos="2693880" algn="l"/>
                          <a:tab pos="3143159" algn="l"/>
                          <a:tab pos="3592440" algn="l"/>
                          <a:tab pos="4041719" algn="l"/>
                          <a:tab pos="4491000" algn="l"/>
                          <a:tab pos="4940280" algn="l"/>
                          <a:tab pos="5389560" algn="l"/>
                          <a:tab pos="5838840" algn="l"/>
                          <a:tab pos="6288120" algn="l"/>
                          <a:tab pos="6737400" algn="l"/>
                          <a:tab pos="7186679" algn="l"/>
                          <a:tab pos="7635960" algn="l"/>
                          <a:tab pos="8085240" algn="l"/>
                          <a:tab pos="8534520" algn="l"/>
                          <a:tab pos="8983800" algn="l"/>
                        </a:tabLst>
                      </a:pPr>
                      <a:r>
                        <a:rPr lang="en-US" sz="1600" b="0" i="0" u="none" strike="noStrike" kern="1200" cap="none" baseline="0" dirty="0" err="1">
                          <a:ln>
                            <a:noFill/>
                          </a:ln>
                          <a:solidFill>
                            <a:srgbClr val="000000"/>
                          </a:solidFill>
                          <a:latin typeface="Arial Regular"/>
                          <a:ea typeface="ＭＳ Ｐゴシック" pitchFamily="2"/>
                          <a:cs typeface="Arial Unicode MS" pitchFamily="2"/>
                        </a:rPr>
                        <a:t>Qualität</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verschlechtert</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sich</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bei</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Kopiervorgängen</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zunehmend</a:t>
                      </a:r>
                      <a:endParaRPr lang="en-US" sz="1600" b="0" i="0" u="none" strike="noStrike" kern="1200" cap="none" baseline="0" dirty="0">
                        <a:ln>
                          <a:noFill/>
                        </a:ln>
                        <a:solidFill>
                          <a:srgbClr val="000000"/>
                        </a:solidFill>
                        <a:latin typeface="Arial Regular"/>
                        <a:ea typeface="ＭＳ Ｐゴシック" pitchFamily="2"/>
                        <a:cs typeface="Arial Unicode MS" pitchFamily="2"/>
                      </a:endParaRPr>
                    </a:p>
                  </a:txBody>
                  <a:tcPr marL="82944" marR="82944" marT="41472" marB="41472"/>
                </a:tc>
                <a:tc>
                  <a:txBody>
                    <a:bodyPr/>
                    <a:lstStyle/>
                    <a:p>
                      <a:pPr marL="0" marR="0" lvl="0" indent="0" algn="l" rtl="0" hangingPunct="1">
                        <a:lnSpc>
                          <a:spcPct val="93000"/>
                        </a:lnSpc>
                        <a:spcBef>
                          <a:spcPts val="0"/>
                        </a:spcBef>
                        <a:spcAft>
                          <a:spcPts val="0"/>
                        </a:spcAft>
                        <a:buNone/>
                        <a:tabLst>
                          <a:tab pos="0" algn="l"/>
                          <a:tab pos="447840" algn="l"/>
                          <a:tab pos="896759" algn="l"/>
                          <a:tab pos="1346040" algn="l"/>
                          <a:tab pos="1795320" algn="l"/>
                          <a:tab pos="2244600" algn="l"/>
                          <a:tab pos="2693880" algn="l"/>
                          <a:tab pos="3143159" algn="l"/>
                          <a:tab pos="3592440" algn="l"/>
                          <a:tab pos="4041719" algn="l"/>
                          <a:tab pos="4491000" algn="l"/>
                          <a:tab pos="4940280" algn="l"/>
                          <a:tab pos="5389560" algn="l"/>
                          <a:tab pos="5838840" algn="l"/>
                          <a:tab pos="6288120" algn="l"/>
                          <a:tab pos="6737400" algn="l"/>
                          <a:tab pos="7186679" algn="l"/>
                          <a:tab pos="7635960" algn="l"/>
                          <a:tab pos="8085240" algn="l"/>
                          <a:tab pos="8534520" algn="l"/>
                          <a:tab pos="8983800" algn="l"/>
                        </a:tabLst>
                      </a:pPr>
                      <a:r>
                        <a:rPr lang="en-US" sz="1600" b="0" i="0" u="none" strike="noStrike" kern="1200" cap="none" baseline="0" dirty="0" err="1">
                          <a:ln>
                            <a:noFill/>
                          </a:ln>
                          <a:solidFill>
                            <a:srgbClr val="000000"/>
                          </a:solidFill>
                          <a:latin typeface="Arial Regular"/>
                          <a:ea typeface="ＭＳ Ｐゴシック" pitchFamily="2"/>
                          <a:cs typeface="Arial Unicode MS" pitchFamily="2"/>
                        </a:rPr>
                        <a:t>Qualität</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bleibt</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bei</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Kopiervorgängen</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konstant</a:t>
                      </a:r>
                      <a:endParaRPr lang="en-US" sz="1600" b="0" i="0" u="none" strike="noStrike" kern="1200" cap="none" baseline="0" dirty="0">
                        <a:ln>
                          <a:noFill/>
                        </a:ln>
                        <a:solidFill>
                          <a:srgbClr val="000000"/>
                        </a:solidFill>
                        <a:latin typeface="Arial Regular"/>
                        <a:ea typeface="ＭＳ Ｐゴシック" pitchFamily="2"/>
                        <a:cs typeface="Arial Unicode MS" pitchFamily="2"/>
                      </a:endParaRPr>
                    </a:p>
                  </a:txBody>
                  <a:tcPr marL="82944" marR="82944" marT="41472" marB="41472"/>
                </a:tc>
                <a:extLst>
                  <a:ext uri="{0D108BD9-81ED-4DB2-BD59-A6C34878D82A}">
                    <a16:rowId xmlns:a16="http://schemas.microsoft.com/office/drawing/2014/main" val="1860447522"/>
                  </a:ext>
                </a:extLst>
              </a:tr>
              <a:tr h="410474">
                <a:tc>
                  <a:txBody>
                    <a:bodyPr/>
                    <a:lstStyle/>
                    <a:p>
                      <a:pPr marL="0" marR="0" lvl="0" indent="0" algn="l" rtl="0" hangingPunct="1">
                        <a:lnSpc>
                          <a:spcPct val="93000"/>
                        </a:lnSpc>
                        <a:spcBef>
                          <a:spcPts val="0"/>
                        </a:spcBef>
                        <a:spcAft>
                          <a:spcPts val="0"/>
                        </a:spcAft>
                        <a:buNone/>
                        <a:tabLst>
                          <a:tab pos="0" algn="l"/>
                          <a:tab pos="447840" algn="l"/>
                          <a:tab pos="896759" algn="l"/>
                          <a:tab pos="1346040" algn="l"/>
                          <a:tab pos="1795320" algn="l"/>
                          <a:tab pos="2244600" algn="l"/>
                          <a:tab pos="2693880" algn="l"/>
                          <a:tab pos="3143159" algn="l"/>
                          <a:tab pos="3592440" algn="l"/>
                          <a:tab pos="4041719" algn="l"/>
                          <a:tab pos="4491000" algn="l"/>
                          <a:tab pos="4940280" algn="l"/>
                          <a:tab pos="5389560" algn="l"/>
                          <a:tab pos="5838840" algn="l"/>
                          <a:tab pos="6288120" algn="l"/>
                          <a:tab pos="6737400" algn="l"/>
                          <a:tab pos="7186679" algn="l"/>
                          <a:tab pos="7635960" algn="l"/>
                          <a:tab pos="8085240" algn="l"/>
                          <a:tab pos="8534520" algn="l"/>
                          <a:tab pos="8983800" algn="l"/>
                        </a:tabLst>
                      </a:pPr>
                      <a:r>
                        <a:rPr lang="en-US" sz="1600" b="0" i="0" u="none" strike="noStrike" kern="1200" cap="none" baseline="0" dirty="0" err="1">
                          <a:ln>
                            <a:noFill/>
                          </a:ln>
                          <a:solidFill>
                            <a:srgbClr val="000000"/>
                          </a:solidFill>
                          <a:latin typeface="Arial Regular"/>
                          <a:ea typeface="ＭＳ Ｐゴシック" pitchFamily="2"/>
                          <a:cs typeface="Arial Unicode MS" pitchFamily="2"/>
                        </a:rPr>
                        <a:t>Teures</a:t>
                      </a:r>
                      <a:r>
                        <a:rPr lang="en-US" sz="1600" b="0" i="0" u="none" strike="noStrike" kern="1200" cap="none" baseline="0" dirty="0">
                          <a:ln>
                            <a:noFill/>
                          </a:ln>
                          <a:solidFill>
                            <a:srgbClr val="000000"/>
                          </a:solidFill>
                          <a:latin typeface="Arial Regular"/>
                          <a:ea typeface="ＭＳ Ｐゴシック" pitchFamily="2"/>
                          <a:cs typeface="Arial Unicode MS" pitchFamily="2"/>
                        </a:rPr>
                        <a:t> Medium</a:t>
                      </a:r>
                    </a:p>
                  </a:txBody>
                  <a:tcPr marL="82944" marR="82944" marT="41472" marB="41472"/>
                </a:tc>
                <a:tc>
                  <a:txBody>
                    <a:bodyPr/>
                    <a:lstStyle/>
                    <a:p>
                      <a:pPr marL="0" marR="0" lvl="0" indent="0" algn="l" rtl="0" hangingPunct="1">
                        <a:lnSpc>
                          <a:spcPct val="93000"/>
                        </a:lnSpc>
                        <a:spcBef>
                          <a:spcPts val="0"/>
                        </a:spcBef>
                        <a:spcAft>
                          <a:spcPts val="0"/>
                        </a:spcAft>
                        <a:buNone/>
                        <a:tabLst>
                          <a:tab pos="0" algn="l"/>
                          <a:tab pos="447840" algn="l"/>
                          <a:tab pos="896759" algn="l"/>
                          <a:tab pos="1346040" algn="l"/>
                          <a:tab pos="1795320" algn="l"/>
                          <a:tab pos="2244600" algn="l"/>
                          <a:tab pos="2693880" algn="l"/>
                          <a:tab pos="3143159" algn="l"/>
                          <a:tab pos="3592440" algn="l"/>
                          <a:tab pos="4041719" algn="l"/>
                          <a:tab pos="4491000" algn="l"/>
                          <a:tab pos="4940280" algn="l"/>
                          <a:tab pos="5389560" algn="l"/>
                          <a:tab pos="5838840" algn="l"/>
                          <a:tab pos="6288120" algn="l"/>
                          <a:tab pos="6737400" algn="l"/>
                          <a:tab pos="7186679" algn="l"/>
                          <a:tab pos="7635960" algn="l"/>
                          <a:tab pos="8085240" algn="l"/>
                          <a:tab pos="8534520" algn="l"/>
                          <a:tab pos="8983800" algn="l"/>
                        </a:tabLst>
                      </a:pPr>
                      <a:r>
                        <a:rPr lang="en-US" sz="1600" b="0" i="0" u="none" strike="noStrike" kern="1200" cap="none" baseline="0" dirty="0" err="1">
                          <a:ln>
                            <a:noFill/>
                          </a:ln>
                          <a:solidFill>
                            <a:srgbClr val="000000"/>
                          </a:solidFill>
                          <a:latin typeface="Arial Regular"/>
                          <a:ea typeface="ＭＳ Ｐゴシック" pitchFamily="2"/>
                          <a:cs typeface="Arial Unicode MS" pitchFamily="2"/>
                        </a:rPr>
                        <a:t>Preiswertes</a:t>
                      </a:r>
                      <a:r>
                        <a:rPr lang="en-US" sz="1600" b="0" i="0" u="none" strike="noStrike" kern="1200" cap="none" baseline="0" dirty="0">
                          <a:ln>
                            <a:noFill/>
                          </a:ln>
                          <a:solidFill>
                            <a:srgbClr val="000000"/>
                          </a:solidFill>
                          <a:latin typeface="Arial Regular"/>
                          <a:ea typeface="ＭＳ Ｐゴシック" pitchFamily="2"/>
                          <a:cs typeface="Arial Unicode MS" pitchFamily="2"/>
                        </a:rPr>
                        <a:t> Medium</a:t>
                      </a:r>
                    </a:p>
                  </a:txBody>
                  <a:tcPr marL="82944" marR="82944" marT="41472" marB="41472"/>
                </a:tc>
                <a:extLst>
                  <a:ext uri="{0D108BD9-81ED-4DB2-BD59-A6C34878D82A}">
                    <a16:rowId xmlns:a16="http://schemas.microsoft.com/office/drawing/2014/main" val="1153408584"/>
                  </a:ext>
                </a:extLst>
              </a:tr>
              <a:tr h="908792">
                <a:tc>
                  <a:txBody>
                    <a:bodyPr/>
                    <a:lstStyle/>
                    <a:p>
                      <a:pPr marL="0" marR="0" lvl="0" indent="0" algn="l" rtl="0" hangingPunct="1">
                        <a:lnSpc>
                          <a:spcPct val="93000"/>
                        </a:lnSpc>
                        <a:spcBef>
                          <a:spcPts val="0"/>
                        </a:spcBef>
                        <a:spcAft>
                          <a:spcPts val="0"/>
                        </a:spcAft>
                        <a:buNone/>
                        <a:tabLst>
                          <a:tab pos="0" algn="l"/>
                          <a:tab pos="447840" algn="l"/>
                          <a:tab pos="896759" algn="l"/>
                          <a:tab pos="1346040" algn="l"/>
                          <a:tab pos="1795320" algn="l"/>
                          <a:tab pos="2244600" algn="l"/>
                          <a:tab pos="2693880" algn="l"/>
                          <a:tab pos="3143159" algn="l"/>
                          <a:tab pos="3592440" algn="l"/>
                          <a:tab pos="4041719" algn="l"/>
                          <a:tab pos="4491000" algn="l"/>
                          <a:tab pos="4940280" algn="l"/>
                          <a:tab pos="5389560" algn="l"/>
                          <a:tab pos="5838840" algn="l"/>
                          <a:tab pos="6288120" algn="l"/>
                          <a:tab pos="6737400" algn="l"/>
                          <a:tab pos="7186679" algn="l"/>
                          <a:tab pos="7635960" algn="l"/>
                          <a:tab pos="8085240" algn="l"/>
                          <a:tab pos="8534520" algn="l"/>
                          <a:tab pos="8983800" algn="l"/>
                        </a:tabLst>
                      </a:pPr>
                      <a:r>
                        <a:rPr lang="en-US" sz="1600" b="0" i="0" u="none" strike="noStrike" kern="1200" cap="none" baseline="0" dirty="0" err="1">
                          <a:ln>
                            <a:noFill/>
                          </a:ln>
                          <a:solidFill>
                            <a:srgbClr val="000000"/>
                          </a:solidFill>
                          <a:latin typeface="Arial Regular"/>
                          <a:ea typeface="ＭＳ Ｐゴシック" pitchFamily="2"/>
                          <a:cs typeface="Arial Unicode MS" pitchFamily="2"/>
                        </a:rPr>
                        <a:t>Widerstand</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abhängig</a:t>
                      </a:r>
                      <a:r>
                        <a:rPr lang="en-US" sz="1600" b="0" i="0" u="none" strike="noStrike" kern="1200" cap="none" baseline="0" dirty="0">
                          <a:ln>
                            <a:noFill/>
                          </a:ln>
                          <a:solidFill>
                            <a:srgbClr val="000000"/>
                          </a:solidFill>
                          <a:latin typeface="Arial Regular"/>
                          <a:ea typeface="ＭＳ Ｐゴシック" pitchFamily="2"/>
                          <a:cs typeface="Arial Unicode MS" pitchFamily="2"/>
                        </a:rPr>
                        <a:t> von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Frequenz</a:t>
                      </a:r>
                      <a:r>
                        <a:rPr lang="en-US" sz="1600" b="0" i="0" u="none" strike="noStrike" kern="1200" cap="none" baseline="0" dirty="0">
                          <a:ln>
                            <a:noFill/>
                          </a:ln>
                          <a:solidFill>
                            <a:srgbClr val="000000"/>
                          </a:solidFill>
                          <a:latin typeface="Arial Regular"/>
                          <a:ea typeface="ＭＳ Ｐゴシック" pitchFamily="2"/>
                          <a:cs typeface="Arial Unicode MS" pitchFamily="2"/>
                        </a:rPr>
                        <a:t>, Zeit, Strom,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Spannung</a:t>
                      </a:r>
                      <a:endParaRPr lang="en-US" sz="1600" b="0" i="0" u="none" strike="noStrike" kern="1200" cap="none" baseline="0" dirty="0">
                        <a:ln>
                          <a:noFill/>
                        </a:ln>
                        <a:solidFill>
                          <a:srgbClr val="000000"/>
                        </a:solidFill>
                        <a:latin typeface="Arial Regular"/>
                        <a:ea typeface="ＭＳ Ｐゴシック" pitchFamily="2"/>
                        <a:cs typeface="Arial Unicode MS" pitchFamily="2"/>
                      </a:endParaRPr>
                    </a:p>
                  </a:txBody>
                  <a:tcPr marL="82944" marR="82944" marT="41472" marB="41472"/>
                </a:tc>
                <a:tc>
                  <a:txBody>
                    <a:bodyPr/>
                    <a:lstStyle/>
                    <a:p>
                      <a:pPr marL="0" marR="0" lvl="0" indent="0" algn="l" rtl="0" hangingPunct="1">
                        <a:lnSpc>
                          <a:spcPct val="93000"/>
                        </a:lnSpc>
                        <a:spcBef>
                          <a:spcPts val="0"/>
                        </a:spcBef>
                        <a:spcAft>
                          <a:spcPts val="0"/>
                        </a:spcAft>
                        <a:buNone/>
                        <a:tabLst>
                          <a:tab pos="0" algn="l"/>
                          <a:tab pos="447840" algn="l"/>
                          <a:tab pos="896759" algn="l"/>
                          <a:tab pos="1346040" algn="l"/>
                          <a:tab pos="1795320" algn="l"/>
                          <a:tab pos="2244600" algn="l"/>
                          <a:tab pos="2693880" algn="l"/>
                          <a:tab pos="3143159" algn="l"/>
                          <a:tab pos="3592440" algn="l"/>
                          <a:tab pos="4041719" algn="l"/>
                          <a:tab pos="4491000" algn="l"/>
                          <a:tab pos="4940280" algn="l"/>
                          <a:tab pos="5389560" algn="l"/>
                          <a:tab pos="5838840" algn="l"/>
                          <a:tab pos="6288120" algn="l"/>
                          <a:tab pos="6737400" algn="l"/>
                          <a:tab pos="7186679" algn="l"/>
                          <a:tab pos="7635960" algn="l"/>
                          <a:tab pos="8085240" algn="l"/>
                          <a:tab pos="8534520" algn="l"/>
                          <a:tab pos="8983800" algn="l"/>
                        </a:tabLst>
                      </a:pPr>
                      <a:r>
                        <a:rPr lang="en-US" sz="1600" b="0" i="0" u="none" strike="noStrike" kern="1200" cap="none" baseline="0" dirty="0" err="1">
                          <a:ln>
                            <a:noFill/>
                          </a:ln>
                          <a:solidFill>
                            <a:srgbClr val="000000"/>
                          </a:solidFill>
                          <a:latin typeface="Arial Regular"/>
                          <a:ea typeface="ＭＳ Ｐゴシック" pitchFamily="2"/>
                          <a:cs typeface="Arial Unicode MS" pitchFamily="2"/>
                        </a:rPr>
                        <a:t>Weitgehend</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unabhängig</a:t>
                      </a:r>
                      <a:r>
                        <a:rPr lang="en-US" sz="1600" b="0" i="0" u="none" strike="noStrike" kern="1200" cap="none" baseline="0" dirty="0">
                          <a:ln>
                            <a:noFill/>
                          </a:ln>
                          <a:solidFill>
                            <a:srgbClr val="000000"/>
                          </a:solidFill>
                          <a:latin typeface="Arial Regular"/>
                          <a:ea typeface="ＭＳ Ｐゴシック" pitchFamily="2"/>
                          <a:cs typeface="Arial Unicode MS" pitchFamily="2"/>
                        </a:rPr>
                        <a:t> von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äußeren</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Faktoren</a:t>
                      </a:r>
                      <a:r>
                        <a:rPr lang="en-US" sz="1600" b="0" i="0" u="none" strike="noStrike" kern="1200" cap="none" baseline="0" dirty="0">
                          <a:ln>
                            <a:noFill/>
                          </a:ln>
                          <a:solidFill>
                            <a:srgbClr val="000000"/>
                          </a:solidFill>
                          <a:latin typeface="Arial Regular"/>
                          <a:ea typeface="ＭＳ Ｐゴシック" pitchFamily="2"/>
                          <a:cs typeface="Arial Unicode MS" pitchFamily="2"/>
                        </a:rPr>
                        <a:t>, da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keine</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speziellen</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Bauteile</a:t>
                      </a:r>
                      <a:endParaRPr lang="en-US" sz="1600" b="0" i="0" u="none" strike="noStrike" kern="1200" cap="none" baseline="0" dirty="0">
                        <a:ln>
                          <a:noFill/>
                        </a:ln>
                        <a:solidFill>
                          <a:srgbClr val="000000"/>
                        </a:solidFill>
                        <a:latin typeface="Arial Regular"/>
                        <a:ea typeface="ＭＳ Ｐゴシック" pitchFamily="2"/>
                        <a:cs typeface="Arial Unicode MS" pitchFamily="2"/>
                      </a:endParaRPr>
                    </a:p>
                  </a:txBody>
                  <a:tcPr marL="82944" marR="82944" marT="41472" marB="41472"/>
                </a:tc>
                <a:extLst>
                  <a:ext uri="{0D108BD9-81ED-4DB2-BD59-A6C34878D82A}">
                    <a16:rowId xmlns:a16="http://schemas.microsoft.com/office/drawing/2014/main" val="928788842"/>
                  </a:ext>
                </a:extLst>
              </a:tr>
              <a:tr h="1405475">
                <a:tc>
                  <a:txBody>
                    <a:bodyPr/>
                    <a:lstStyle/>
                    <a:p>
                      <a:pPr marL="0" marR="0" lvl="0" indent="0" algn="l" rtl="0" hangingPunct="1">
                        <a:lnSpc>
                          <a:spcPct val="93000"/>
                        </a:lnSpc>
                        <a:spcBef>
                          <a:spcPts val="0"/>
                        </a:spcBef>
                        <a:spcAft>
                          <a:spcPts val="0"/>
                        </a:spcAft>
                        <a:buNone/>
                        <a:tabLst>
                          <a:tab pos="0" algn="l"/>
                          <a:tab pos="447840" algn="l"/>
                          <a:tab pos="896759" algn="l"/>
                          <a:tab pos="1346040" algn="l"/>
                          <a:tab pos="1795320" algn="l"/>
                          <a:tab pos="2244600" algn="l"/>
                          <a:tab pos="2693880" algn="l"/>
                          <a:tab pos="3143159" algn="l"/>
                          <a:tab pos="3592440" algn="l"/>
                          <a:tab pos="4041719" algn="l"/>
                          <a:tab pos="4491000" algn="l"/>
                          <a:tab pos="4940280" algn="l"/>
                          <a:tab pos="5389560" algn="l"/>
                          <a:tab pos="5838840" algn="l"/>
                          <a:tab pos="6288120" algn="l"/>
                          <a:tab pos="6737400" algn="l"/>
                          <a:tab pos="7186679" algn="l"/>
                          <a:tab pos="7635960" algn="l"/>
                          <a:tab pos="8085240" algn="l"/>
                          <a:tab pos="8534520" algn="l"/>
                          <a:tab pos="8983800" algn="l"/>
                        </a:tabLst>
                      </a:pPr>
                      <a:r>
                        <a:rPr lang="en-US" sz="1600" b="0" i="0" u="none" strike="noStrike" kern="1200" cap="none" baseline="0" dirty="0" err="1">
                          <a:ln>
                            <a:noFill/>
                          </a:ln>
                          <a:solidFill>
                            <a:srgbClr val="000000"/>
                          </a:solidFill>
                          <a:latin typeface="Arial Regular"/>
                          <a:ea typeface="ＭＳ Ｐゴシック" pitchFamily="2"/>
                          <a:cs typeface="Arial Unicode MS" pitchFamily="2"/>
                        </a:rPr>
                        <a:t>Magnetspeicher</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Fehler</a:t>
                      </a:r>
                      <a:r>
                        <a:rPr lang="en-US" sz="1600" b="0" i="0" u="none" strike="noStrike" kern="1200" cap="none" baseline="0" dirty="0">
                          <a:ln>
                            <a:noFill/>
                          </a:ln>
                          <a:solidFill>
                            <a:srgbClr val="000000"/>
                          </a:solidFill>
                          <a:latin typeface="Arial Regular"/>
                          <a:ea typeface="ＭＳ Ｐゴシック" pitchFamily="2"/>
                          <a:cs typeface="Arial Unicode MS" pitchFamily="2"/>
                        </a:rPr>
                        <a:t> und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Verunreinigungen</a:t>
                      </a:r>
                      <a:r>
                        <a:rPr lang="en-US" sz="1600" b="0" i="0" u="none" strike="noStrike" kern="1200" cap="none" baseline="0" dirty="0">
                          <a:ln>
                            <a:noFill/>
                          </a:ln>
                          <a:solidFill>
                            <a:srgbClr val="000000"/>
                          </a:solidFill>
                          <a:latin typeface="Arial Regular"/>
                          <a:ea typeface="ＭＳ Ｐゴシック" pitchFamily="2"/>
                          <a:cs typeface="Arial Unicode MS" pitchFamily="2"/>
                        </a:rPr>
                        <a:t> des Materials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führen</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nicht</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zu</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Informations-verlusten</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lediglich</a:t>
                      </a:r>
                      <a:r>
                        <a:rPr lang="en-US" sz="1600" b="0" i="0" u="none" strike="noStrike" kern="1200" cap="none" baseline="0" dirty="0">
                          <a:ln>
                            <a:noFill/>
                          </a:ln>
                          <a:solidFill>
                            <a:srgbClr val="000000"/>
                          </a:solidFill>
                          <a:latin typeface="Arial Regular"/>
                          <a:ea typeface="ＭＳ Ｐゴシック" pitchFamily="2"/>
                          <a:cs typeface="Arial Unicode MS" pitchFamily="2"/>
                        </a:rPr>
                        <a:t> die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Qualität</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wird</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beeinträchtigt</a:t>
                      </a:r>
                      <a:r>
                        <a:rPr lang="en-US" sz="1600" b="0" i="0" u="none" strike="noStrike" kern="1200" cap="none" baseline="0" dirty="0">
                          <a:ln>
                            <a:noFill/>
                          </a:ln>
                          <a:solidFill>
                            <a:srgbClr val="000000"/>
                          </a:solidFill>
                          <a:latin typeface="Arial Regular"/>
                          <a:ea typeface="ＭＳ Ｐゴシック" pitchFamily="2"/>
                          <a:cs typeface="Arial Unicode MS" pitchFamily="2"/>
                        </a:rPr>
                        <a:t>.</a:t>
                      </a:r>
                    </a:p>
                  </a:txBody>
                  <a:tcPr marL="82944" marR="82944" marT="41472" marB="41472"/>
                </a:tc>
                <a:tc>
                  <a:txBody>
                    <a:bodyPr/>
                    <a:lstStyle/>
                    <a:p>
                      <a:pPr marL="0" marR="0" lvl="0" indent="0" algn="l" rtl="0" hangingPunct="1">
                        <a:lnSpc>
                          <a:spcPct val="93000"/>
                        </a:lnSpc>
                        <a:spcBef>
                          <a:spcPts val="0"/>
                        </a:spcBef>
                        <a:spcAft>
                          <a:spcPts val="0"/>
                        </a:spcAft>
                        <a:buNone/>
                        <a:tabLst>
                          <a:tab pos="0" algn="l"/>
                          <a:tab pos="447840" algn="l"/>
                          <a:tab pos="896759" algn="l"/>
                          <a:tab pos="1346040" algn="l"/>
                          <a:tab pos="1795320" algn="l"/>
                          <a:tab pos="2244600" algn="l"/>
                          <a:tab pos="2693880" algn="l"/>
                          <a:tab pos="3143159" algn="l"/>
                          <a:tab pos="3592440" algn="l"/>
                          <a:tab pos="4041719" algn="l"/>
                          <a:tab pos="4491000" algn="l"/>
                          <a:tab pos="4940280" algn="l"/>
                          <a:tab pos="5389560" algn="l"/>
                          <a:tab pos="5838840" algn="l"/>
                          <a:tab pos="6288120" algn="l"/>
                          <a:tab pos="6737400" algn="l"/>
                          <a:tab pos="7186679" algn="l"/>
                          <a:tab pos="7635960" algn="l"/>
                          <a:tab pos="8085240" algn="l"/>
                          <a:tab pos="8534520" algn="l"/>
                          <a:tab pos="8983800" algn="l"/>
                        </a:tabLst>
                      </a:pPr>
                      <a:r>
                        <a:rPr lang="en-US" sz="1600" b="0" i="0" u="none" strike="noStrike" kern="1200" cap="none" baseline="0" dirty="0" err="1">
                          <a:ln>
                            <a:noFill/>
                          </a:ln>
                          <a:solidFill>
                            <a:srgbClr val="000000"/>
                          </a:solidFill>
                          <a:latin typeface="Arial Regular"/>
                          <a:ea typeface="ＭＳ Ｐゴシック" pitchFamily="2"/>
                          <a:cs typeface="Arial Unicode MS" pitchFamily="2"/>
                        </a:rPr>
                        <a:t>Binäre</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Speicherung</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Fehler</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aus</a:t>
                      </a:r>
                      <a:r>
                        <a:rPr lang="en-US" sz="1600" b="0" i="0" u="none" strike="noStrike" kern="1200" cap="none" baseline="0" dirty="0">
                          <a:ln>
                            <a:noFill/>
                          </a:ln>
                          <a:solidFill>
                            <a:srgbClr val="000000"/>
                          </a:solidFill>
                          <a:latin typeface="Arial Regular"/>
                          <a:ea typeface="ＭＳ Ｐゴシック" pitchFamily="2"/>
                          <a:cs typeface="Arial Unicode MS" pitchFamily="2"/>
                        </a:rPr>
                        <a:t> 0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wird</a:t>
                      </a:r>
                      <a:r>
                        <a:rPr lang="en-US" sz="1600" b="0" i="0" u="none" strike="noStrike" kern="1200" cap="none" baseline="0" dirty="0">
                          <a:ln>
                            <a:noFill/>
                          </a:ln>
                          <a:solidFill>
                            <a:srgbClr val="000000"/>
                          </a:solidFill>
                          <a:latin typeface="Arial Regular"/>
                          <a:ea typeface="ＭＳ Ｐゴシック" pitchFamily="2"/>
                          <a:cs typeface="Arial Unicode MS" pitchFamily="2"/>
                        </a:rPr>
                        <a:t> 1)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können</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zu</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Informationsverlusten</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bis</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hin</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zum</a:t>
                      </a:r>
                      <a:r>
                        <a:rPr lang="en-US" sz="1600" b="0" i="0" u="none" strike="noStrike" kern="1200" cap="none" baseline="0" dirty="0">
                          <a:ln>
                            <a:noFill/>
                          </a:ln>
                          <a:solidFill>
                            <a:srgbClr val="000000"/>
                          </a:solidFill>
                          <a:latin typeface="Arial Regular"/>
                          <a:ea typeface="ＭＳ Ｐゴシック" pitchFamily="2"/>
                          <a:cs typeface="Arial Unicode MS" pitchFamily="2"/>
                        </a:rPr>
                        <a:t>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Totalverlust</a:t>
                      </a:r>
                      <a:r>
                        <a:rPr lang="en-US" sz="1600" b="0" i="0" u="none" strike="noStrike" kern="1200" cap="none" baseline="0" dirty="0">
                          <a:ln>
                            <a:noFill/>
                          </a:ln>
                          <a:solidFill>
                            <a:srgbClr val="000000"/>
                          </a:solidFill>
                          <a:latin typeface="Arial Regular"/>
                          <a:ea typeface="ＭＳ Ｐゴシック" pitchFamily="2"/>
                          <a:cs typeface="Arial Unicode MS" pitchFamily="2"/>
                        </a:rPr>
                        <a:t> der Information </a:t>
                      </a:r>
                      <a:r>
                        <a:rPr lang="en-US" sz="1600" b="0" i="0" u="none" strike="noStrike" kern="1200" cap="none" baseline="0" dirty="0" err="1">
                          <a:ln>
                            <a:noFill/>
                          </a:ln>
                          <a:solidFill>
                            <a:srgbClr val="000000"/>
                          </a:solidFill>
                          <a:latin typeface="Arial Regular"/>
                          <a:ea typeface="ＭＳ Ｐゴシック" pitchFamily="2"/>
                          <a:cs typeface="Arial Unicode MS" pitchFamily="2"/>
                        </a:rPr>
                        <a:t>führen</a:t>
                      </a:r>
                      <a:r>
                        <a:rPr lang="en-US" sz="1600" b="0" i="0" u="none" strike="noStrike" kern="1200" cap="none" baseline="0" dirty="0">
                          <a:ln>
                            <a:noFill/>
                          </a:ln>
                          <a:solidFill>
                            <a:srgbClr val="000000"/>
                          </a:solidFill>
                          <a:latin typeface="Arial Regular"/>
                          <a:ea typeface="ＭＳ Ｐゴシック" pitchFamily="2"/>
                          <a:cs typeface="Arial Unicode MS" pitchFamily="2"/>
                        </a:rPr>
                        <a:t>.</a:t>
                      </a:r>
                    </a:p>
                  </a:txBody>
                  <a:tcPr marL="82944" marR="82944" marT="41472" marB="41472"/>
                </a:tc>
                <a:extLst>
                  <a:ext uri="{0D108BD9-81ED-4DB2-BD59-A6C34878D82A}">
                    <a16:rowId xmlns:a16="http://schemas.microsoft.com/office/drawing/2014/main" val="2529835666"/>
                  </a:ext>
                </a:extLst>
              </a:tr>
            </a:tbl>
          </a:graphicData>
        </a:graphic>
      </p:graphicFrame>
      <p:sp>
        <p:nvSpPr>
          <p:cNvPr id="3" name="Rectangle 46">
            <a:extLst>
              <a:ext uri="{FF2B5EF4-FFF2-40B4-BE49-F238E27FC236}">
                <a16:creationId xmlns:a16="http://schemas.microsoft.com/office/drawing/2014/main" id="{A871DEDD-2FAF-6043-886A-A76349FB1C24}"/>
              </a:ext>
            </a:extLst>
          </p:cNvPr>
          <p:cNvSpPr/>
          <p:nvPr/>
        </p:nvSpPr>
        <p:spPr>
          <a:xfrm>
            <a:off x="1530873" y="664239"/>
            <a:ext cx="3206088"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en-US" sz="2177" dirty="0">
                <a:solidFill>
                  <a:srgbClr val="000000"/>
                </a:solidFill>
                <a:latin typeface="Arial Regular"/>
                <a:ea typeface="ＭＳ Ｐゴシック" pitchFamily="34"/>
                <a:cs typeface="MS Gothic" pitchFamily="49"/>
              </a:rPr>
              <a:t>Analog vs. </a:t>
            </a:r>
            <a:r>
              <a:rPr lang="en-US" sz="2177" dirty="0" err="1">
                <a:solidFill>
                  <a:srgbClr val="000000"/>
                </a:solidFill>
                <a:latin typeface="Arial Regular"/>
                <a:ea typeface="ＭＳ Ｐゴシック" pitchFamily="34"/>
                <a:cs typeface="MS Gothic" pitchFamily="49"/>
              </a:rPr>
              <a:t>Digitaltechnik</a:t>
            </a:r>
            <a:endParaRPr lang="en-US" sz="2177" dirty="0">
              <a:solidFill>
                <a:srgbClr val="000000"/>
              </a:solidFill>
              <a:latin typeface="Arial Regular"/>
              <a:ea typeface="ＭＳ Ｐゴシック" pitchFamily="34"/>
              <a:cs typeface="MS Gothic" pitchFamily="49"/>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7">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A6929A-F725-2F41-9F9D-452B640F1B54}"/>
              </a:ext>
            </a:extLst>
          </p:cNvPr>
          <p:cNvSpPr/>
          <p:nvPr/>
        </p:nvSpPr>
        <p:spPr>
          <a:xfrm>
            <a:off x="1530873" y="664239"/>
            <a:ext cx="3221989"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en-US" sz="2177" dirty="0">
                <a:solidFill>
                  <a:srgbClr val="000000"/>
                </a:solidFill>
                <a:latin typeface="Arial Regular"/>
                <a:ea typeface="ＭＳ Ｐゴシック" pitchFamily="34"/>
                <a:cs typeface="MS Gothic" pitchFamily="49"/>
              </a:rPr>
              <a:t>Analog – Digital - Analog</a:t>
            </a:r>
          </a:p>
        </p:txBody>
      </p:sp>
      <p:pic>
        <p:nvPicPr>
          <p:cNvPr id="3" name="Picture 2">
            <a:extLst>
              <a:ext uri="{FF2B5EF4-FFF2-40B4-BE49-F238E27FC236}">
                <a16:creationId xmlns:a16="http://schemas.microsoft.com/office/drawing/2014/main" id="{AA7636AD-7EB2-F048-9BCC-7B71346E88DB}"/>
              </a:ext>
            </a:extLst>
          </p:cNvPr>
          <p:cNvPicPr>
            <a:picLocks noChangeAspect="1"/>
          </p:cNvPicPr>
          <p:nvPr/>
        </p:nvPicPr>
        <p:blipFill>
          <a:blip r:embed="rId3"/>
          <a:srcRect/>
          <a:stretch>
            <a:fillRect/>
          </a:stretch>
        </p:blipFill>
        <p:spPr>
          <a:xfrm>
            <a:off x="1187624" y="1556792"/>
            <a:ext cx="6243985" cy="2062171"/>
          </a:xfrm>
          <a:prstGeom prst="rect">
            <a:avLst/>
          </a:prstGeom>
          <a:noFill/>
          <a:ln cap="flat">
            <a:noFill/>
          </a:ln>
          <a:effectLst>
            <a:outerShdw dist="23040" dir="5400000" algn="tl">
              <a:srgbClr val="000000">
                <a:alpha val="35000"/>
              </a:srgbClr>
            </a:outerShdw>
          </a:effectLst>
        </p:spPr>
      </p:pic>
      <p:pic>
        <p:nvPicPr>
          <p:cNvPr id="4" name="Grafik 3">
            <a:extLst>
              <a:ext uri="{FF2B5EF4-FFF2-40B4-BE49-F238E27FC236}">
                <a16:creationId xmlns:a16="http://schemas.microsoft.com/office/drawing/2014/main" id="{7F0CADBC-3976-6BF1-5B3E-3EA3A8F0DD0B}"/>
              </a:ext>
            </a:extLst>
          </p:cNvPr>
          <p:cNvPicPr>
            <a:picLocks noChangeAspect="1"/>
          </p:cNvPicPr>
          <p:nvPr/>
        </p:nvPicPr>
        <p:blipFill>
          <a:blip r:embed="rId4"/>
          <a:stretch>
            <a:fillRect/>
          </a:stretch>
        </p:blipFill>
        <p:spPr>
          <a:xfrm>
            <a:off x="2078484" y="3958211"/>
            <a:ext cx="4462264" cy="22621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DAB40D4-4C2C-164C-AEBB-458405081E15}"/>
              </a:ext>
            </a:extLst>
          </p:cNvPr>
          <p:cNvSpPr/>
          <p:nvPr/>
        </p:nvSpPr>
        <p:spPr>
          <a:xfrm>
            <a:off x="1530873" y="664239"/>
            <a:ext cx="1794227"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Lautsprecher</a:t>
            </a:r>
          </a:p>
        </p:txBody>
      </p:sp>
      <p:pic>
        <p:nvPicPr>
          <p:cNvPr id="5" name="Grafik 4">
            <a:extLst>
              <a:ext uri="{FF2B5EF4-FFF2-40B4-BE49-F238E27FC236}">
                <a16:creationId xmlns:a16="http://schemas.microsoft.com/office/drawing/2014/main" id="{D391D7A1-B2B9-7849-B600-4CF6C3A93D58}"/>
              </a:ext>
            </a:extLst>
          </p:cNvPr>
          <p:cNvPicPr>
            <a:picLocks noChangeAspect="1"/>
          </p:cNvPicPr>
          <p:nvPr/>
        </p:nvPicPr>
        <p:blipFill>
          <a:blip r:embed="rId3"/>
          <a:stretch>
            <a:fillRect/>
          </a:stretch>
        </p:blipFill>
        <p:spPr>
          <a:xfrm>
            <a:off x="881844" y="1556792"/>
            <a:ext cx="7380312" cy="4251060"/>
          </a:xfrm>
          <a:prstGeom prst="rect">
            <a:avLst/>
          </a:prstGeom>
        </p:spPr>
      </p:pic>
    </p:spTree>
    <p:extLst>
      <p:ext uri="{BB962C8B-B14F-4D97-AF65-F5344CB8AC3E}">
        <p14:creationId xmlns:p14="http://schemas.microsoft.com/office/powerpoint/2010/main" val="3231740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8">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705703F-1589-E74D-BCA4-449D0ECF9908}"/>
              </a:ext>
            </a:extLst>
          </p:cNvPr>
          <p:cNvSpPr/>
          <p:nvPr/>
        </p:nvSpPr>
        <p:spPr>
          <a:xfrm>
            <a:off x="1530873" y="664239"/>
            <a:ext cx="1437014"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en-US" sz="2177" dirty="0">
                <a:solidFill>
                  <a:srgbClr val="000000"/>
                </a:solidFill>
                <a:latin typeface="Arial Regular"/>
                <a:ea typeface="ＭＳ Ｐゴシック" pitchFamily="34"/>
                <a:cs typeface="MS Gothic" pitchFamily="49"/>
              </a:rPr>
              <a:t>Bit - Bytes</a:t>
            </a:r>
          </a:p>
        </p:txBody>
      </p:sp>
      <p:pic>
        <p:nvPicPr>
          <p:cNvPr id="3" name="Picture 2">
            <a:extLst>
              <a:ext uri="{FF2B5EF4-FFF2-40B4-BE49-F238E27FC236}">
                <a16:creationId xmlns:a16="http://schemas.microsoft.com/office/drawing/2014/main" id="{7C586ADE-23FA-D74A-8227-55CE1501C563}"/>
              </a:ext>
            </a:extLst>
          </p:cNvPr>
          <p:cNvPicPr>
            <a:picLocks noChangeAspect="1"/>
          </p:cNvPicPr>
          <p:nvPr/>
        </p:nvPicPr>
        <p:blipFill>
          <a:blip r:embed="rId3"/>
          <a:srcRect/>
          <a:stretch>
            <a:fillRect/>
          </a:stretch>
        </p:blipFill>
        <p:spPr>
          <a:xfrm>
            <a:off x="1251671" y="1279462"/>
            <a:ext cx="6912109" cy="3455891"/>
          </a:xfrm>
          <a:prstGeom prst="rect">
            <a:avLst/>
          </a:prstGeom>
          <a:noFill/>
          <a:ln cap="flat">
            <a:noFill/>
          </a:ln>
          <a:effectLst>
            <a:outerShdw dist="23040" dir="5400000" algn="tl">
              <a:srgbClr val="000000">
                <a:alpha val="35000"/>
              </a:srgbClr>
            </a:outerShdw>
          </a:effectLst>
        </p:spPr>
      </p:pic>
      <p:sp>
        <p:nvSpPr>
          <p:cNvPr id="4" name="Rectangle 3">
            <a:extLst>
              <a:ext uri="{FF2B5EF4-FFF2-40B4-BE49-F238E27FC236}">
                <a16:creationId xmlns:a16="http://schemas.microsoft.com/office/drawing/2014/main" id="{39C983DB-B1BD-6E47-9F9B-E39AC23CD621}"/>
              </a:ext>
            </a:extLst>
          </p:cNvPr>
          <p:cNvSpPr/>
          <p:nvPr/>
        </p:nvSpPr>
        <p:spPr>
          <a:xfrm>
            <a:off x="3381112" y="3044471"/>
            <a:ext cx="2455369" cy="299574"/>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en-US" sz="1451" dirty="0">
                <a:solidFill>
                  <a:srgbClr val="000000"/>
                </a:solidFill>
                <a:latin typeface="Arial Regular"/>
                <a:ea typeface="ＭＳ Ｐゴシック" pitchFamily="34"/>
                <a:cs typeface="MS Gothic" pitchFamily="49"/>
              </a:rPr>
              <a:t>256 </a:t>
            </a:r>
            <a:r>
              <a:rPr lang="en-US" sz="1451" dirty="0" err="1">
                <a:solidFill>
                  <a:srgbClr val="000000"/>
                </a:solidFill>
                <a:latin typeface="Arial Regular"/>
                <a:ea typeface="ＭＳ Ｐゴシック" pitchFamily="34"/>
                <a:cs typeface="MS Gothic" pitchFamily="49"/>
              </a:rPr>
              <a:t>Zustände</a:t>
            </a:r>
            <a:r>
              <a:rPr lang="en-US" sz="1451" dirty="0">
                <a:solidFill>
                  <a:srgbClr val="000000"/>
                </a:solidFill>
                <a:latin typeface="Arial Regular"/>
                <a:ea typeface="ＭＳ Ｐゴシック" pitchFamily="34"/>
                <a:cs typeface="MS Gothic" pitchFamily="49"/>
              </a:rPr>
              <a:t> (2^8): 0 - 255</a:t>
            </a:r>
          </a:p>
        </p:txBody>
      </p:sp>
      <p:sp>
        <p:nvSpPr>
          <p:cNvPr id="5" name="Rectangle 4">
            <a:extLst>
              <a:ext uri="{FF2B5EF4-FFF2-40B4-BE49-F238E27FC236}">
                <a16:creationId xmlns:a16="http://schemas.microsoft.com/office/drawing/2014/main" id="{CD48A10B-696C-3643-B89C-5BAAE0B39306}"/>
              </a:ext>
            </a:extLst>
          </p:cNvPr>
          <p:cNvSpPr/>
          <p:nvPr/>
        </p:nvSpPr>
        <p:spPr>
          <a:xfrm>
            <a:off x="3265512" y="4898628"/>
            <a:ext cx="2971473" cy="299574"/>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en-US" sz="1451" dirty="0">
                <a:solidFill>
                  <a:srgbClr val="000000"/>
                </a:solidFill>
                <a:latin typeface="Arial Regular"/>
                <a:ea typeface="ＭＳ Ｐゴシック" pitchFamily="34"/>
                <a:cs typeface="MS Gothic" pitchFamily="49"/>
              </a:rPr>
              <a:t>65536 </a:t>
            </a:r>
            <a:r>
              <a:rPr lang="en-US" sz="1451" dirty="0" err="1">
                <a:solidFill>
                  <a:srgbClr val="000000"/>
                </a:solidFill>
                <a:latin typeface="Arial Regular"/>
                <a:ea typeface="ＭＳ Ｐゴシック" pitchFamily="34"/>
                <a:cs typeface="MS Gothic" pitchFamily="49"/>
              </a:rPr>
              <a:t>Zustände</a:t>
            </a:r>
            <a:r>
              <a:rPr lang="en-US" sz="1451" dirty="0">
                <a:solidFill>
                  <a:srgbClr val="000000"/>
                </a:solidFill>
                <a:latin typeface="Arial Regular"/>
                <a:ea typeface="ＭＳ Ｐゴシック" pitchFamily="34"/>
                <a:cs typeface="MS Gothic" pitchFamily="49"/>
              </a:rPr>
              <a:t> (2^16): 0 - 65535</a:t>
            </a:r>
          </a:p>
        </p:txBody>
      </p:sp>
      <p:sp>
        <p:nvSpPr>
          <p:cNvPr id="6" name="Textfeld 5">
            <a:extLst>
              <a:ext uri="{FF2B5EF4-FFF2-40B4-BE49-F238E27FC236}">
                <a16:creationId xmlns:a16="http://schemas.microsoft.com/office/drawing/2014/main" id="{E47164CF-603B-FAE6-0C36-83E9CF658C80}"/>
              </a:ext>
            </a:extLst>
          </p:cNvPr>
          <p:cNvSpPr txBox="1"/>
          <p:nvPr/>
        </p:nvSpPr>
        <p:spPr>
          <a:xfrm>
            <a:off x="1251671" y="5517232"/>
            <a:ext cx="7115890" cy="594906"/>
          </a:xfrm>
          <a:prstGeom prst="rect">
            <a:avLst/>
          </a:prstGeom>
          <a:noFill/>
        </p:spPr>
        <p:txBody>
          <a:bodyPr wrap="square" rtlCol="0">
            <a:spAutoFit/>
          </a:bodyPr>
          <a:lstStyle/>
          <a:p>
            <a:r>
              <a:rPr lang="de-AT"/>
              <a:t>24 Bit haben exakt 16.777.216 verschiedene Zustände.Das entspricht über 16 Millionen Lautstärken- oder Amplitudenstufen (etwa 144 dB Dynamikumfang).</a:t>
            </a:r>
            <a:endParaRPr lang="de-D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10">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E69774-B811-264B-A833-FE513DCCE4B7}"/>
              </a:ext>
            </a:extLst>
          </p:cNvPr>
          <p:cNvSpPr/>
          <p:nvPr/>
        </p:nvSpPr>
        <p:spPr>
          <a:xfrm>
            <a:off x="1530873" y="664239"/>
            <a:ext cx="2900619"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Effekt der Wort-Größe</a:t>
            </a:r>
          </a:p>
        </p:txBody>
      </p:sp>
      <p:pic>
        <p:nvPicPr>
          <p:cNvPr id="3" name="Picture 2">
            <a:extLst>
              <a:ext uri="{FF2B5EF4-FFF2-40B4-BE49-F238E27FC236}">
                <a16:creationId xmlns:a16="http://schemas.microsoft.com/office/drawing/2014/main" id="{B6C05BCD-D007-174C-A4E2-D330A0827AF2}"/>
              </a:ext>
            </a:extLst>
          </p:cNvPr>
          <p:cNvPicPr>
            <a:picLocks noChangeAspect="1"/>
          </p:cNvPicPr>
          <p:nvPr/>
        </p:nvPicPr>
        <p:blipFill>
          <a:blip r:embed="rId3"/>
          <a:srcRect/>
          <a:stretch>
            <a:fillRect/>
          </a:stretch>
        </p:blipFill>
        <p:spPr>
          <a:xfrm>
            <a:off x="1599775" y="1424450"/>
            <a:ext cx="5541246" cy="2787767"/>
          </a:xfrm>
          <a:prstGeom prst="rect">
            <a:avLst/>
          </a:prstGeom>
          <a:noFill/>
          <a:ln cap="flat">
            <a:noFill/>
          </a:ln>
          <a:effectLst>
            <a:outerShdw dist="23040" dir="5400000" algn="tl">
              <a:srgbClr val="000000">
                <a:alpha val="35000"/>
              </a:srgbClr>
            </a:outerShdw>
          </a:effectLst>
        </p:spPr>
      </p:pic>
      <p:sp>
        <p:nvSpPr>
          <p:cNvPr id="4" name="Rectangle 3">
            <a:extLst>
              <a:ext uri="{FF2B5EF4-FFF2-40B4-BE49-F238E27FC236}">
                <a16:creationId xmlns:a16="http://schemas.microsoft.com/office/drawing/2014/main" id="{9FAF7AD0-49D2-7546-B4A6-CCC158563AB2}"/>
              </a:ext>
            </a:extLst>
          </p:cNvPr>
          <p:cNvSpPr/>
          <p:nvPr/>
        </p:nvSpPr>
        <p:spPr>
          <a:xfrm>
            <a:off x="1763688" y="4565773"/>
            <a:ext cx="6358931" cy="1797484"/>
          </a:xfrm>
          <a:prstGeom prst="rect">
            <a:avLst/>
          </a:prstGeom>
          <a:noFill/>
          <a:ln cap="flat">
            <a:noFill/>
            <a:prstDash val="solid"/>
          </a:ln>
        </p:spPr>
        <p:txBody>
          <a:bodyPr vert="horz" wrap="square" lIns="81638" tIns="42452" rIns="81638" bIns="42452" anchor="t" anchorCtr="0" compatLnSpc="0">
            <a:spAutoFit/>
          </a:bodyPr>
          <a:lstStyle/>
          <a:p>
            <a:pPr marL="285750" indent="-285750" hangingPunct="0">
              <a:buFont typeface="Arial" panose="020B0604020202020204" pitchFamily="34" charset="0"/>
              <a:buChar char="•"/>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en-US" sz="1451" dirty="0">
                <a:solidFill>
                  <a:srgbClr val="000000"/>
                </a:solidFill>
                <a:latin typeface="Arial Regular"/>
                <a:ea typeface="ＭＳ Ｐゴシック" pitchFamily="34"/>
                <a:cs typeface="MS Gothic" pitchFamily="49"/>
              </a:rPr>
              <a:t>1 Bit </a:t>
            </a:r>
            <a:r>
              <a:rPr lang="en-US" sz="1451" dirty="0" err="1">
                <a:solidFill>
                  <a:srgbClr val="000000"/>
                </a:solidFill>
                <a:latin typeface="Arial Regular"/>
                <a:ea typeface="ＭＳ Ｐゴシック" pitchFamily="34"/>
                <a:cs typeface="MS Gothic" pitchFamily="49"/>
              </a:rPr>
              <a:t>Wortlänge</a:t>
            </a:r>
            <a:r>
              <a:rPr lang="en-US" sz="1451" dirty="0">
                <a:solidFill>
                  <a:srgbClr val="000000"/>
                </a:solidFill>
                <a:latin typeface="Arial Regular"/>
                <a:ea typeface="ＭＳ Ｐゴシック" pitchFamily="34"/>
                <a:cs typeface="MS Gothic" pitchFamily="49"/>
              </a:rPr>
              <a:t> = </a:t>
            </a:r>
            <a:r>
              <a:rPr lang="en-US" sz="1451" dirty="0" err="1">
                <a:solidFill>
                  <a:srgbClr val="000000"/>
                </a:solidFill>
                <a:latin typeface="Arial Regular"/>
                <a:ea typeface="ＭＳ Ｐゴシック" pitchFamily="34"/>
                <a:cs typeface="MS Gothic" pitchFamily="49"/>
              </a:rPr>
              <a:t>Verdopplung</a:t>
            </a:r>
            <a:r>
              <a:rPr lang="en-US" sz="1451" dirty="0">
                <a:solidFill>
                  <a:srgbClr val="000000"/>
                </a:solidFill>
                <a:latin typeface="Arial Regular"/>
                <a:ea typeface="ＭＳ Ｐゴシック" pitchFamily="34"/>
                <a:cs typeface="MS Gothic" pitchFamily="49"/>
              </a:rPr>
              <a:t> des </a:t>
            </a:r>
            <a:r>
              <a:rPr lang="en-US" sz="1451" dirty="0" err="1">
                <a:solidFill>
                  <a:srgbClr val="000000"/>
                </a:solidFill>
                <a:latin typeface="Arial Regular"/>
                <a:ea typeface="ＭＳ Ｐゴシック" pitchFamily="34"/>
                <a:cs typeface="MS Gothic" pitchFamily="49"/>
              </a:rPr>
              <a:t>Dynamik-Wertebereichs</a:t>
            </a:r>
            <a:r>
              <a:rPr lang="en-US" sz="1451" dirty="0">
                <a:solidFill>
                  <a:srgbClr val="000000"/>
                </a:solidFill>
                <a:latin typeface="Arial Regular"/>
                <a:ea typeface="ＭＳ Ｐゴシック" pitchFamily="34"/>
                <a:cs typeface="MS Gothic" pitchFamily="49"/>
              </a:rPr>
              <a:t> = </a:t>
            </a:r>
            <a:r>
              <a:rPr lang="en-US" sz="1451">
                <a:solidFill>
                  <a:srgbClr val="000000"/>
                </a:solidFill>
                <a:latin typeface="Arial Regular"/>
                <a:ea typeface="ＭＳ Ｐゴシック" pitchFamily="34"/>
                <a:cs typeface="MS Gothic" pitchFamily="49"/>
              </a:rPr>
              <a:t>6 dB</a:t>
            </a:r>
            <a:br>
              <a:rPr lang="en-US" sz="1451">
                <a:solidFill>
                  <a:srgbClr val="000000"/>
                </a:solidFill>
                <a:latin typeface="Arial Regular"/>
                <a:ea typeface="ＭＳ Ｐゴシック" pitchFamily="34"/>
                <a:cs typeface="MS Gothic" pitchFamily="49"/>
              </a:rPr>
            </a:br>
            <a:r>
              <a:rPr lang="en-US" sz="1451">
                <a:solidFill>
                  <a:srgbClr val="000000"/>
                </a:solidFill>
                <a:latin typeface="Arial Regular"/>
                <a:ea typeface="ＭＳ Ｐゴシック" pitchFamily="34"/>
                <a:cs typeface="MS Gothic" pitchFamily="49"/>
              </a:rPr>
              <a:t>(</a:t>
            </a:r>
            <a:r>
              <a:rPr lang="en-US" sz="1451" dirty="0">
                <a:solidFill>
                  <a:srgbClr val="000000"/>
                </a:solidFill>
                <a:latin typeface="Arial Regular"/>
                <a:ea typeface="ＭＳ Ｐゴシック" pitchFamily="34"/>
                <a:cs typeface="MS Gothic" pitchFamily="49"/>
              </a:rPr>
              <a:t>10 dB </a:t>
            </a:r>
            <a:r>
              <a:rPr lang="en-US" sz="1451" dirty="0" err="1">
                <a:solidFill>
                  <a:srgbClr val="000000"/>
                </a:solidFill>
                <a:latin typeface="Arial Regular"/>
                <a:ea typeface="ＭＳ Ｐゴシック" pitchFamily="34"/>
                <a:cs typeface="MS Gothic" pitchFamily="49"/>
              </a:rPr>
              <a:t>entsprechend</a:t>
            </a:r>
            <a:r>
              <a:rPr lang="en-US" sz="1451" dirty="0">
                <a:solidFill>
                  <a:srgbClr val="000000"/>
                </a:solidFill>
                <a:latin typeface="Arial Regular"/>
                <a:ea typeface="ＭＳ Ｐゴシック" pitchFamily="34"/>
                <a:cs typeface="MS Gothic" pitchFamily="49"/>
              </a:rPr>
              <a:t> der </a:t>
            </a:r>
            <a:r>
              <a:rPr lang="en-US" sz="1451" dirty="0" err="1">
                <a:solidFill>
                  <a:srgbClr val="000000"/>
                </a:solidFill>
                <a:latin typeface="Arial Regular"/>
                <a:ea typeface="ＭＳ Ｐゴシック" pitchFamily="34"/>
                <a:cs typeface="MS Gothic" pitchFamily="49"/>
              </a:rPr>
              <a:t>wahrgenommenen</a:t>
            </a:r>
            <a:r>
              <a:rPr lang="en-US" sz="1451" dirty="0">
                <a:solidFill>
                  <a:srgbClr val="000000"/>
                </a:solidFill>
                <a:latin typeface="Arial Regular"/>
                <a:ea typeface="ＭＳ Ｐゴシック" pitchFamily="34"/>
                <a:cs typeface="MS Gothic" pitchFamily="49"/>
              </a:rPr>
              <a:t> </a:t>
            </a:r>
            <a:r>
              <a:rPr lang="en-US" sz="1451" err="1">
                <a:solidFill>
                  <a:srgbClr val="000000"/>
                </a:solidFill>
                <a:latin typeface="Arial Regular"/>
                <a:ea typeface="ＭＳ Ｐゴシック" pitchFamily="34"/>
                <a:cs typeface="MS Gothic" pitchFamily="49"/>
              </a:rPr>
              <a:t>Lautstärkeverdopplung</a:t>
            </a:r>
            <a:r>
              <a:rPr lang="en-US" sz="1451">
                <a:solidFill>
                  <a:srgbClr val="000000"/>
                </a:solidFill>
                <a:latin typeface="Arial Regular"/>
                <a:ea typeface="ＭＳ Ｐゴシック" pitchFamily="34"/>
                <a:cs typeface="MS Gothic" pitchFamily="49"/>
              </a:rPr>
              <a:t>)</a:t>
            </a:r>
            <a:br>
              <a:rPr lang="en-US" sz="1451">
                <a:solidFill>
                  <a:srgbClr val="000000"/>
                </a:solidFill>
                <a:latin typeface="Arial Regular"/>
                <a:ea typeface="ＭＳ Ｐゴシック" pitchFamily="34"/>
                <a:cs typeface="MS Gothic" pitchFamily="49"/>
              </a:rPr>
            </a:br>
            <a:endParaRPr lang="en-US" sz="1451" dirty="0">
              <a:solidFill>
                <a:srgbClr val="000000"/>
              </a:solidFill>
              <a:latin typeface="Arial Regular"/>
              <a:ea typeface="ＭＳ Ｐゴシック" pitchFamily="34"/>
              <a:cs typeface="MS Gothic" pitchFamily="49"/>
            </a:endParaRPr>
          </a:p>
          <a:p>
            <a:pPr marL="285750" indent="-285750" hangingPunct="0">
              <a:buFont typeface="Arial" panose="020B0604020202020204" pitchFamily="34" charset="0"/>
              <a:buChar char="•"/>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en-US" sz="1451" dirty="0">
                <a:solidFill>
                  <a:srgbClr val="000000"/>
                </a:solidFill>
                <a:latin typeface="Arial Regular"/>
                <a:ea typeface="ＭＳ Ｐゴシック" pitchFamily="34"/>
                <a:cs typeface="MS Gothic" pitchFamily="49"/>
              </a:rPr>
              <a:t>8 Bit </a:t>
            </a:r>
            <a:r>
              <a:rPr lang="en-US" sz="1451" dirty="0" err="1">
                <a:solidFill>
                  <a:srgbClr val="000000"/>
                </a:solidFill>
                <a:latin typeface="Arial Regular"/>
                <a:ea typeface="ＭＳ Ｐゴシック" pitchFamily="34"/>
                <a:cs typeface="MS Gothic" pitchFamily="49"/>
              </a:rPr>
              <a:t>Wortlänge</a:t>
            </a:r>
            <a:r>
              <a:rPr lang="en-US" sz="1451" dirty="0">
                <a:solidFill>
                  <a:srgbClr val="000000"/>
                </a:solidFill>
                <a:latin typeface="Arial Regular"/>
                <a:ea typeface="ＭＳ Ｐゴシック" pitchFamily="34"/>
                <a:cs typeface="MS Gothic" pitchFamily="49"/>
              </a:rPr>
              <a:t> = 48 dB (</a:t>
            </a:r>
            <a:r>
              <a:rPr lang="en-US" sz="1451" dirty="0" err="1">
                <a:solidFill>
                  <a:srgbClr val="000000"/>
                </a:solidFill>
                <a:latin typeface="Arial Regular"/>
                <a:ea typeface="ＭＳ Ｐゴシック" pitchFamily="34"/>
                <a:cs typeface="MS Gothic" pitchFamily="49"/>
              </a:rPr>
              <a:t>z.B</a:t>
            </a:r>
            <a:r>
              <a:rPr lang="en-US" sz="1451" dirty="0">
                <a:solidFill>
                  <a:srgbClr val="000000"/>
                </a:solidFill>
                <a:latin typeface="Arial Regular"/>
                <a:ea typeface="ＭＳ Ｐゴシック" pitchFamily="34"/>
                <a:cs typeface="MS Gothic" pitchFamily="49"/>
              </a:rPr>
              <a:t>. 00000000 = –48 </a:t>
            </a:r>
            <a:r>
              <a:rPr lang="en-US" sz="1451">
                <a:solidFill>
                  <a:srgbClr val="000000"/>
                </a:solidFill>
                <a:latin typeface="Arial Regular"/>
                <a:ea typeface="ＭＳ Ｐゴシック" pitchFamily="34"/>
                <a:cs typeface="MS Gothic" pitchFamily="49"/>
              </a:rPr>
              <a:t>dB)</a:t>
            </a:r>
            <a:br>
              <a:rPr lang="en-US" sz="1451">
                <a:solidFill>
                  <a:srgbClr val="000000"/>
                </a:solidFill>
                <a:latin typeface="Arial Regular"/>
                <a:ea typeface="ＭＳ Ｐゴシック" pitchFamily="34"/>
                <a:cs typeface="MS Gothic" pitchFamily="49"/>
              </a:rPr>
            </a:br>
            <a:endParaRPr lang="en-US" sz="1451" dirty="0">
              <a:solidFill>
                <a:srgbClr val="000000"/>
              </a:solidFill>
              <a:latin typeface="Arial Regular"/>
              <a:ea typeface="ＭＳ Ｐゴシック" pitchFamily="34"/>
              <a:cs typeface="MS Gothic" pitchFamily="49"/>
            </a:endParaRPr>
          </a:p>
          <a:p>
            <a:pPr marL="285750" indent="-285750" hangingPunct="0">
              <a:buFont typeface="Arial" panose="020B0604020202020204" pitchFamily="34" charset="0"/>
              <a:buChar char="•"/>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en-US" sz="1451" dirty="0">
                <a:solidFill>
                  <a:srgbClr val="000000"/>
                </a:solidFill>
                <a:latin typeface="Arial Regular"/>
                <a:ea typeface="ＭＳ Ｐゴシック" pitchFamily="34"/>
                <a:cs typeface="MS Gothic" pitchFamily="49"/>
              </a:rPr>
              <a:t>16 Bit </a:t>
            </a:r>
            <a:r>
              <a:rPr lang="en-US" sz="1451" dirty="0" err="1">
                <a:solidFill>
                  <a:srgbClr val="000000"/>
                </a:solidFill>
                <a:latin typeface="Arial Regular"/>
                <a:ea typeface="ＭＳ Ｐゴシック" pitchFamily="34"/>
                <a:cs typeface="MS Gothic" pitchFamily="49"/>
              </a:rPr>
              <a:t>Wortlänge</a:t>
            </a:r>
            <a:r>
              <a:rPr lang="en-US" sz="1451" dirty="0">
                <a:solidFill>
                  <a:srgbClr val="000000"/>
                </a:solidFill>
                <a:latin typeface="Arial Regular"/>
                <a:ea typeface="ＭＳ Ｐゴシック" pitchFamily="34"/>
                <a:cs typeface="MS Gothic" pitchFamily="49"/>
              </a:rPr>
              <a:t> = </a:t>
            </a:r>
            <a:r>
              <a:rPr lang="en-US" sz="1451">
                <a:solidFill>
                  <a:srgbClr val="000000"/>
                </a:solidFill>
                <a:latin typeface="Arial Regular"/>
                <a:ea typeface="ＭＳ Ｐゴシック" pitchFamily="34"/>
                <a:cs typeface="MS Gothic" pitchFamily="49"/>
              </a:rPr>
              <a:t>96 dB</a:t>
            </a:r>
            <a:br>
              <a:rPr lang="en-US" sz="1451">
                <a:solidFill>
                  <a:srgbClr val="000000"/>
                </a:solidFill>
                <a:latin typeface="Arial Regular"/>
                <a:ea typeface="ＭＳ Ｐゴシック" pitchFamily="34"/>
                <a:cs typeface="MS Gothic" pitchFamily="49"/>
              </a:rPr>
            </a:br>
            <a:endParaRPr lang="en-US" sz="1451" dirty="0">
              <a:solidFill>
                <a:srgbClr val="000000"/>
              </a:solidFill>
              <a:latin typeface="Arial Regular"/>
              <a:ea typeface="ＭＳ Ｐゴシック" pitchFamily="34"/>
              <a:cs typeface="MS Gothic" pitchFamily="49"/>
            </a:endParaRPr>
          </a:p>
          <a:p>
            <a:pPr marL="285750" indent="-285750" hangingPunct="0">
              <a:buFont typeface="Arial" panose="020B0604020202020204" pitchFamily="34" charset="0"/>
              <a:buChar char="•"/>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en-US" sz="1451" dirty="0">
                <a:solidFill>
                  <a:srgbClr val="000000"/>
                </a:solidFill>
                <a:latin typeface="Arial Regular"/>
                <a:ea typeface="ＭＳ Ｐゴシック" pitchFamily="34"/>
                <a:cs typeface="MS Gothic" pitchFamily="49"/>
              </a:rPr>
              <a:t>24 Bit </a:t>
            </a:r>
            <a:r>
              <a:rPr lang="en-US" sz="1451" dirty="0" err="1">
                <a:solidFill>
                  <a:srgbClr val="000000"/>
                </a:solidFill>
                <a:latin typeface="Arial Regular"/>
                <a:ea typeface="ＭＳ Ｐゴシック" pitchFamily="34"/>
                <a:cs typeface="MS Gothic" pitchFamily="49"/>
              </a:rPr>
              <a:t>Wortlänge</a:t>
            </a:r>
            <a:r>
              <a:rPr lang="en-US" sz="1451" dirty="0">
                <a:solidFill>
                  <a:srgbClr val="000000"/>
                </a:solidFill>
                <a:latin typeface="Arial Regular"/>
                <a:ea typeface="ＭＳ Ｐゴシック" pitchFamily="34"/>
                <a:cs typeface="MS Gothic" pitchFamily="49"/>
              </a:rPr>
              <a:t> = 144 dB</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11">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913AB9-DE38-4C4D-A5B5-880DD861E83D}"/>
              </a:ext>
            </a:extLst>
          </p:cNvPr>
          <p:cNvSpPr/>
          <p:nvPr/>
        </p:nvSpPr>
        <p:spPr>
          <a:xfrm>
            <a:off x="1530873" y="664239"/>
            <a:ext cx="1856231"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Speicherplatz</a:t>
            </a:r>
          </a:p>
        </p:txBody>
      </p:sp>
      <p:pic>
        <p:nvPicPr>
          <p:cNvPr id="3" name="Bild 1" descr="Sampling2.gif">
            <a:extLst>
              <a:ext uri="{FF2B5EF4-FFF2-40B4-BE49-F238E27FC236}">
                <a16:creationId xmlns:a16="http://schemas.microsoft.com/office/drawing/2014/main" id="{1474E2BB-7620-7544-A1AC-413ACC2AF5D4}"/>
              </a:ext>
            </a:extLst>
          </p:cNvPr>
          <p:cNvPicPr>
            <a:picLocks noChangeAspect="1"/>
          </p:cNvPicPr>
          <p:nvPr/>
        </p:nvPicPr>
        <p:blipFill>
          <a:blip r:embed="rId3"/>
          <a:srcRect/>
          <a:stretch>
            <a:fillRect/>
          </a:stretch>
        </p:blipFill>
        <p:spPr>
          <a:xfrm>
            <a:off x="1828686" y="1469188"/>
            <a:ext cx="4507059" cy="2839689"/>
          </a:xfrm>
          <a:prstGeom prst="rect">
            <a:avLst/>
          </a:prstGeom>
          <a:noFill/>
          <a:ln cap="flat">
            <a:noFill/>
          </a:ln>
          <a:effectLst>
            <a:outerShdw dist="23040" dir="5400000" algn="tl">
              <a:srgbClr val="000000">
                <a:alpha val="35000"/>
              </a:srgbClr>
            </a:outerShdw>
          </a:effectLst>
        </p:spPr>
      </p:pic>
      <p:sp>
        <p:nvSpPr>
          <p:cNvPr id="4" name="Rechteck 2">
            <a:extLst>
              <a:ext uri="{FF2B5EF4-FFF2-40B4-BE49-F238E27FC236}">
                <a16:creationId xmlns:a16="http://schemas.microsoft.com/office/drawing/2014/main" id="{673CD9EA-2597-9F4C-A243-85C46E7AED14}"/>
              </a:ext>
            </a:extLst>
          </p:cNvPr>
          <p:cNvSpPr/>
          <p:nvPr/>
        </p:nvSpPr>
        <p:spPr>
          <a:xfrm>
            <a:off x="326877" y="4539095"/>
            <a:ext cx="8294400" cy="1848661"/>
          </a:xfrm>
          <a:prstGeom prst="rect">
            <a:avLst/>
          </a:prstGeom>
          <a:noFill/>
          <a:ln cap="flat">
            <a:noFill/>
            <a:prstDash val="solid"/>
          </a:ln>
        </p:spPr>
        <p:txBody>
          <a:bodyPr vert="horz" wrap="square" lIns="82944" tIns="41472" rIns="82944" bIns="41472" anchor="t" anchorCtr="1" compatLnSpc="0">
            <a:spAutoFit/>
          </a:bodyPr>
          <a:lstStyle/>
          <a:p>
            <a:pPr algn="ctr" hangingPunct="0"/>
            <a:r>
              <a:rPr lang="de-DE" sz="2177" dirty="0">
                <a:solidFill>
                  <a:srgbClr val="000000"/>
                </a:solidFill>
                <a:latin typeface="Arial Regular"/>
                <a:ea typeface="ＭＳ Ｐゴシック" pitchFamily="34"/>
                <a:cs typeface="MS Gothic" pitchFamily="2"/>
              </a:rPr>
              <a:t>Speicherbedarf = </a:t>
            </a:r>
            <a:r>
              <a:rPr lang="de-DE" sz="2177" dirty="0" err="1">
                <a:solidFill>
                  <a:srgbClr val="000000"/>
                </a:solidFill>
                <a:latin typeface="Arial Regular"/>
                <a:ea typeface="ＭＳ Ｐゴシック" pitchFamily="34"/>
                <a:cs typeface="MS Gothic" pitchFamily="2"/>
              </a:rPr>
              <a:t>Samplingrate</a:t>
            </a:r>
            <a:r>
              <a:rPr lang="de-DE" sz="2177" dirty="0">
                <a:solidFill>
                  <a:srgbClr val="000000"/>
                </a:solidFill>
                <a:latin typeface="Arial Regular"/>
                <a:ea typeface="ＭＳ Ｐゴシック" pitchFamily="34"/>
                <a:cs typeface="MS Gothic" pitchFamily="2"/>
              </a:rPr>
              <a:t> x </a:t>
            </a:r>
            <a:r>
              <a:rPr lang="de-DE" sz="2177" dirty="0" err="1">
                <a:solidFill>
                  <a:srgbClr val="000000"/>
                </a:solidFill>
                <a:latin typeface="Arial Regular"/>
                <a:ea typeface="ＭＳ Ｐゴシック" pitchFamily="34"/>
                <a:cs typeface="MS Gothic" pitchFamily="2"/>
              </a:rPr>
              <a:t>Samplingtiefe</a:t>
            </a:r>
            <a:r>
              <a:rPr lang="de-DE" sz="2177" dirty="0">
                <a:solidFill>
                  <a:srgbClr val="000000"/>
                </a:solidFill>
                <a:latin typeface="Arial Regular"/>
                <a:ea typeface="ＭＳ Ｐゴシック" pitchFamily="34"/>
                <a:cs typeface="MS Gothic" pitchFamily="2"/>
              </a:rPr>
              <a:t>:</a:t>
            </a:r>
          </a:p>
          <a:p>
            <a:pPr algn="ctr" hangingPunct="0"/>
            <a:endParaRPr lang="de-DE" sz="2177" dirty="0">
              <a:solidFill>
                <a:srgbClr val="000000"/>
              </a:solidFill>
              <a:latin typeface="Arial Regular"/>
              <a:ea typeface="ＭＳ Ｐゴシック" pitchFamily="34"/>
              <a:cs typeface="MS Gothic" pitchFamily="2"/>
            </a:endParaRPr>
          </a:p>
          <a:p>
            <a:pPr algn="ctr" hangingPunct="0"/>
            <a:r>
              <a:rPr lang="de-DE" sz="1814" dirty="0">
                <a:solidFill>
                  <a:srgbClr val="000000"/>
                </a:solidFill>
                <a:latin typeface="Arial Regular"/>
                <a:ea typeface="ＭＳ Ｐゴシック" pitchFamily="34"/>
                <a:cs typeface="MS Gothic" pitchFamily="2"/>
              </a:rPr>
              <a:t>44100 (1/s) x 16 Bit x 60 s (pro Minute) x 2 (bei Stereo) = 84672000 Bit = </a:t>
            </a:r>
            <a:r>
              <a:rPr lang="de-DE" sz="1814">
                <a:solidFill>
                  <a:srgbClr val="000000"/>
                </a:solidFill>
                <a:latin typeface="Arial Regular"/>
                <a:ea typeface="ＭＳ Ｐゴシック" pitchFamily="34"/>
                <a:cs typeface="MS Gothic" pitchFamily="2"/>
              </a:rPr>
              <a:t>( / 8</a:t>
            </a:r>
            <a:r>
              <a:rPr lang="de-DE" sz="1814" dirty="0">
                <a:solidFill>
                  <a:srgbClr val="000000"/>
                </a:solidFill>
                <a:latin typeface="Arial Regular"/>
                <a:ea typeface="ＭＳ Ｐゴシック" pitchFamily="34"/>
                <a:cs typeface="MS Gothic" pitchFamily="2"/>
              </a:rPr>
              <a:t>) 10584000 Byte = </a:t>
            </a:r>
            <a:r>
              <a:rPr lang="de-DE" sz="1814">
                <a:solidFill>
                  <a:srgbClr val="000000"/>
                </a:solidFill>
                <a:latin typeface="Arial Regular"/>
                <a:ea typeface="ＭＳ Ｐゴシック" pitchFamily="34"/>
                <a:cs typeface="MS Gothic" pitchFamily="2"/>
              </a:rPr>
              <a:t>( / 1028</a:t>
            </a:r>
            <a:r>
              <a:rPr lang="de-DE" sz="1814" dirty="0">
                <a:solidFill>
                  <a:srgbClr val="000000"/>
                </a:solidFill>
                <a:latin typeface="Arial Regular"/>
                <a:ea typeface="ＭＳ Ｐゴシック" pitchFamily="34"/>
                <a:cs typeface="MS Gothic" pitchFamily="2"/>
              </a:rPr>
              <a:t>) 10296 kB = </a:t>
            </a:r>
            <a:r>
              <a:rPr lang="de-DE" sz="1814">
                <a:solidFill>
                  <a:srgbClr val="000000"/>
                </a:solidFill>
                <a:latin typeface="Arial Regular"/>
                <a:ea typeface="ＭＳ Ｐゴシック" pitchFamily="34"/>
                <a:cs typeface="MS Gothic" pitchFamily="2"/>
              </a:rPr>
              <a:t>( / 1028</a:t>
            </a:r>
            <a:r>
              <a:rPr lang="de-DE" sz="1814" dirty="0">
                <a:solidFill>
                  <a:srgbClr val="000000"/>
                </a:solidFill>
                <a:latin typeface="Arial Regular"/>
                <a:ea typeface="ＭＳ Ｐゴシック" pitchFamily="34"/>
                <a:cs typeface="MS Gothic" pitchFamily="2"/>
              </a:rPr>
              <a:t>) ca. 10 MB pro Minute </a:t>
            </a:r>
            <a:br>
              <a:rPr lang="de-DE" sz="1814" dirty="0">
                <a:solidFill>
                  <a:srgbClr val="000000"/>
                </a:solidFill>
                <a:latin typeface="Arial Regular"/>
                <a:ea typeface="ＭＳ Ｐゴシック" pitchFamily="34"/>
                <a:cs typeface="MS Gothic" pitchFamily="2"/>
              </a:rPr>
            </a:br>
            <a:endParaRPr lang="de-DE" sz="1814" dirty="0">
              <a:solidFill>
                <a:srgbClr val="000000"/>
              </a:solidFill>
              <a:latin typeface="Arial Regular"/>
              <a:ea typeface="ＭＳ Ｐゴシック" pitchFamily="34"/>
              <a:cs typeface="MS Gothic" pitchFamily="2"/>
            </a:endParaRPr>
          </a:p>
          <a:p>
            <a:pPr algn="ctr" hangingPunct="0"/>
            <a:r>
              <a:rPr lang="de-DE" sz="2177" dirty="0">
                <a:solidFill>
                  <a:srgbClr val="000000"/>
                </a:solidFill>
                <a:latin typeface="Arial Regular"/>
                <a:ea typeface="ＭＳ Ｐゴシック" pitchFamily="34"/>
                <a:cs typeface="MS Gothic" pitchFamily="2"/>
              </a:rPr>
              <a:t>(96 kHz / 24 Bit ca. 33 MB pro Minute)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13">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F9F0E01-AF3B-5C49-9597-8D82BD66F154}"/>
              </a:ext>
            </a:extLst>
          </p:cNvPr>
          <p:cNvSpPr/>
          <p:nvPr/>
        </p:nvSpPr>
        <p:spPr>
          <a:xfrm>
            <a:off x="1530873" y="664239"/>
            <a:ext cx="1328587"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Sampling</a:t>
            </a:r>
          </a:p>
        </p:txBody>
      </p:sp>
      <p:pic>
        <p:nvPicPr>
          <p:cNvPr id="3" name="Picture 2">
            <a:extLst>
              <a:ext uri="{FF2B5EF4-FFF2-40B4-BE49-F238E27FC236}">
                <a16:creationId xmlns:a16="http://schemas.microsoft.com/office/drawing/2014/main" id="{F784D490-E6FC-F849-8A10-FB4E91253D0A}"/>
              </a:ext>
            </a:extLst>
          </p:cNvPr>
          <p:cNvPicPr>
            <a:picLocks noChangeAspect="1"/>
          </p:cNvPicPr>
          <p:nvPr/>
        </p:nvPicPr>
        <p:blipFill>
          <a:blip r:embed="rId3"/>
          <a:srcRect/>
          <a:stretch>
            <a:fillRect/>
          </a:stretch>
        </p:blipFill>
        <p:spPr>
          <a:xfrm>
            <a:off x="849687" y="1469188"/>
            <a:ext cx="3735419" cy="1935469"/>
          </a:xfrm>
          <a:prstGeom prst="rect">
            <a:avLst/>
          </a:prstGeom>
          <a:noFill/>
          <a:ln cap="flat">
            <a:noFill/>
          </a:ln>
          <a:effectLst>
            <a:outerShdw dist="23040" dir="5400000" algn="tl">
              <a:srgbClr val="000000">
                <a:alpha val="35000"/>
              </a:srgbClr>
            </a:outerShdw>
          </a:effectLst>
        </p:spPr>
      </p:pic>
      <p:pic>
        <p:nvPicPr>
          <p:cNvPr id="4" name="Picture 3">
            <a:extLst>
              <a:ext uri="{FF2B5EF4-FFF2-40B4-BE49-F238E27FC236}">
                <a16:creationId xmlns:a16="http://schemas.microsoft.com/office/drawing/2014/main" id="{0C881B17-7075-DE49-AB8D-13A1A16686C7}"/>
              </a:ext>
            </a:extLst>
          </p:cNvPr>
          <p:cNvPicPr>
            <a:picLocks noChangeAspect="1"/>
          </p:cNvPicPr>
          <p:nvPr/>
        </p:nvPicPr>
        <p:blipFill>
          <a:blip r:embed="rId4"/>
          <a:srcRect/>
          <a:stretch>
            <a:fillRect/>
          </a:stretch>
        </p:blipFill>
        <p:spPr>
          <a:xfrm>
            <a:off x="4441097" y="1469188"/>
            <a:ext cx="3663250" cy="1936775"/>
          </a:xfrm>
          <a:prstGeom prst="rect">
            <a:avLst/>
          </a:prstGeom>
          <a:noFill/>
          <a:ln cap="flat">
            <a:noFill/>
          </a:ln>
          <a:effectLst>
            <a:outerShdw dist="23040" dir="5400000" algn="tl">
              <a:srgbClr val="000000">
                <a:alpha val="35000"/>
              </a:srgbClr>
            </a:outerShdw>
          </a:effectLst>
        </p:spPr>
      </p:pic>
      <p:pic>
        <p:nvPicPr>
          <p:cNvPr id="5" name="Bild 1" descr="sampling1.gif">
            <a:extLst>
              <a:ext uri="{FF2B5EF4-FFF2-40B4-BE49-F238E27FC236}">
                <a16:creationId xmlns:a16="http://schemas.microsoft.com/office/drawing/2014/main" id="{457615D2-E752-424A-9D26-5F2EAFC18FB2}"/>
              </a:ext>
            </a:extLst>
          </p:cNvPr>
          <p:cNvPicPr>
            <a:picLocks noChangeAspect="1"/>
          </p:cNvPicPr>
          <p:nvPr/>
        </p:nvPicPr>
        <p:blipFill>
          <a:blip r:embed="rId5"/>
          <a:srcRect/>
          <a:stretch>
            <a:fillRect/>
          </a:stretch>
        </p:blipFill>
        <p:spPr>
          <a:xfrm>
            <a:off x="2481136" y="3756026"/>
            <a:ext cx="4115525" cy="2715926"/>
          </a:xfrm>
          <a:prstGeom prst="rect">
            <a:avLst/>
          </a:prstGeom>
          <a:noFill/>
          <a:ln cap="flat">
            <a:noFill/>
          </a:ln>
          <a:effectLst>
            <a:outerShdw dist="23040" dir="5400000" algn="tl">
              <a:srgbClr val="000000">
                <a:alpha val="35000"/>
              </a:srgbClr>
            </a:outerShdw>
          </a:effectLst>
        </p:spPr>
      </p:pic>
      <p:sp>
        <p:nvSpPr>
          <p:cNvPr id="6" name="Textfeld 5">
            <a:extLst>
              <a:ext uri="{FF2B5EF4-FFF2-40B4-BE49-F238E27FC236}">
                <a16:creationId xmlns:a16="http://schemas.microsoft.com/office/drawing/2014/main" id="{4ADE4E1A-2730-9320-6349-044C9B1AAAF7}"/>
              </a:ext>
            </a:extLst>
          </p:cNvPr>
          <p:cNvSpPr txBox="1"/>
          <p:nvPr/>
        </p:nvSpPr>
        <p:spPr>
          <a:xfrm>
            <a:off x="3275856" y="708963"/>
            <a:ext cx="1864165" cy="343620"/>
          </a:xfrm>
          <a:prstGeom prst="rect">
            <a:avLst/>
          </a:prstGeom>
          <a:noFill/>
        </p:spPr>
        <p:txBody>
          <a:bodyPr wrap="none" rtlCol="0">
            <a:spAutoFit/>
          </a:bodyPr>
          <a:lstStyle/>
          <a:p>
            <a:r>
              <a:rPr lang="en-GB" dirty="0"/>
              <a:t>Reaper: 02-Formats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14">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21791CD-BBEF-1E4A-A6EE-E1E287F5B985}"/>
              </a:ext>
            </a:extLst>
          </p:cNvPr>
          <p:cNvSpPr/>
          <p:nvPr/>
        </p:nvSpPr>
        <p:spPr>
          <a:xfrm>
            <a:off x="1530873" y="664239"/>
            <a:ext cx="5497036"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Effekt geringer </a:t>
            </a:r>
            <a:r>
              <a:rPr lang="de-DE" sz="2177" dirty="0" err="1">
                <a:solidFill>
                  <a:srgbClr val="000000"/>
                </a:solidFill>
                <a:latin typeface="Arial Regular"/>
                <a:ea typeface="ＭＳ Ｐゴシック" pitchFamily="34"/>
                <a:cs typeface="MS Gothic" pitchFamily="49"/>
              </a:rPr>
              <a:t>Samplingrate</a:t>
            </a:r>
            <a:r>
              <a:rPr lang="de-DE" sz="2177" dirty="0">
                <a:solidFill>
                  <a:srgbClr val="000000"/>
                </a:solidFill>
                <a:latin typeface="Arial Regular"/>
                <a:ea typeface="ＭＳ Ｐゴシック" pitchFamily="34"/>
                <a:cs typeface="MS Gothic" pitchFamily="49"/>
              </a:rPr>
              <a:t> (Bit-</a:t>
            </a:r>
            <a:r>
              <a:rPr lang="de-DE" sz="2177" dirty="0" err="1">
                <a:solidFill>
                  <a:srgbClr val="000000"/>
                </a:solidFill>
                <a:latin typeface="Arial Regular"/>
                <a:ea typeface="ＭＳ Ｐゴシック" pitchFamily="34"/>
                <a:cs typeface="MS Gothic" pitchFamily="49"/>
              </a:rPr>
              <a:t>Crushing</a:t>
            </a:r>
            <a:r>
              <a:rPr lang="de-DE" sz="2177" dirty="0">
                <a:solidFill>
                  <a:srgbClr val="000000"/>
                </a:solidFill>
                <a:latin typeface="Arial Regular"/>
                <a:ea typeface="ＭＳ Ｐゴシック" pitchFamily="34"/>
                <a:cs typeface="MS Gothic" pitchFamily="49"/>
              </a:rPr>
              <a:t>)</a:t>
            </a:r>
          </a:p>
        </p:txBody>
      </p:sp>
      <p:pic>
        <p:nvPicPr>
          <p:cNvPr id="3" name="Picture 2">
            <a:extLst>
              <a:ext uri="{FF2B5EF4-FFF2-40B4-BE49-F238E27FC236}">
                <a16:creationId xmlns:a16="http://schemas.microsoft.com/office/drawing/2014/main" id="{BDD48E3A-5551-EA4A-BDE9-49A95E61267D}"/>
              </a:ext>
            </a:extLst>
          </p:cNvPr>
          <p:cNvPicPr>
            <a:picLocks noChangeAspect="1"/>
          </p:cNvPicPr>
          <p:nvPr/>
        </p:nvPicPr>
        <p:blipFill>
          <a:blip r:embed="rId3"/>
          <a:srcRect/>
          <a:stretch>
            <a:fillRect/>
          </a:stretch>
        </p:blipFill>
        <p:spPr>
          <a:xfrm>
            <a:off x="1599775" y="1493679"/>
            <a:ext cx="4282719" cy="2211731"/>
          </a:xfrm>
          <a:prstGeom prst="rect">
            <a:avLst/>
          </a:prstGeom>
          <a:noFill/>
          <a:ln cap="flat">
            <a:noFill/>
          </a:ln>
          <a:effectLst>
            <a:outerShdw dist="23040" dir="5400000" algn="tl">
              <a:srgbClr val="000000">
                <a:alpha val="35000"/>
              </a:srgbClr>
            </a:outerShdw>
          </a:effectLst>
        </p:spPr>
      </p:pic>
      <p:pic>
        <p:nvPicPr>
          <p:cNvPr id="4" name="Picture 3">
            <a:extLst>
              <a:ext uri="{FF2B5EF4-FFF2-40B4-BE49-F238E27FC236}">
                <a16:creationId xmlns:a16="http://schemas.microsoft.com/office/drawing/2014/main" id="{6E964E3C-1338-AF4A-A7EA-57F12202AC24}"/>
              </a:ext>
            </a:extLst>
          </p:cNvPr>
          <p:cNvPicPr>
            <a:picLocks noChangeAspect="1"/>
          </p:cNvPicPr>
          <p:nvPr/>
        </p:nvPicPr>
        <p:blipFill>
          <a:blip r:embed="rId4"/>
          <a:srcRect/>
          <a:stretch>
            <a:fillRect/>
          </a:stretch>
        </p:blipFill>
        <p:spPr>
          <a:xfrm>
            <a:off x="1599774" y="4189359"/>
            <a:ext cx="4317007" cy="2211731"/>
          </a:xfrm>
          <a:prstGeom prst="rect">
            <a:avLst/>
          </a:prstGeom>
          <a:noFill/>
          <a:ln cap="flat">
            <a:noFill/>
          </a:ln>
          <a:effectLst>
            <a:outerShdw dist="23040" dir="5400000" algn="tl">
              <a:srgbClr val="000000">
                <a:alpha val="35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15">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DAB40D4-4C2C-164C-AEBB-458405081E15}"/>
              </a:ext>
            </a:extLst>
          </p:cNvPr>
          <p:cNvSpPr/>
          <p:nvPr/>
        </p:nvSpPr>
        <p:spPr>
          <a:xfrm>
            <a:off x="1495242" y="836712"/>
            <a:ext cx="3076758"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Effekt von Datenfehlern</a:t>
            </a:r>
          </a:p>
        </p:txBody>
      </p:sp>
      <p:pic>
        <p:nvPicPr>
          <p:cNvPr id="3" name="Picture 2">
            <a:extLst>
              <a:ext uri="{FF2B5EF4-FFF2-40B4-BE49-F238E27FC236}">
                <a16:creationId xmlns:a16="http://schemas.microsoft.com/office/drawing/2014/main" id="{5B636D2A-211B-B043-8332-2E5EB3BF05F4}"/>
              </a:ext>
            </a:extLst>
          </p:cNvPr>
          <p:cNvPicPr>
            <a:picLocks noChangeAspect="1"/>
          </p:cNvPicPr>
          <p:nvPr/>
        </p:nvPicPr>
        <p:blipFill>
          <a:blip r:embed="rId3"/>
          <a:srcRect/>
          <a:stretch>
            <a:fillRect/>
          </a:stretch>
        </p:blipFill>
        <p:spPr>
          <a:xfrm>
            <a:off x="1605032" y="1988840"/>
            <a:ext cx="5933936" cy="2672729"/>
          </a:xfrm>
          <a:prstGeom prst="rect">
            <a:avLst/>
          </a:prstGeom>
          <a:noFill/>
          <a:ln cap="flat">
            <a:noFill/>
          </a:ln>
          <a:effectLst>
            <a:outerShdw dist="23040" dir="5400000" algn="tl">
              <a:srgbClr val="000000">
                <a:alpha val="35000"/>
              </a:srgbClr>
            </a:outerShdw>
          </a:effectLst>
        </p:spPr>
      </p:pic>
      <p:cxnSp>
        <p:nvCxnSpPr>
          <p:cNvPr id="5" name="Gerade Verbindung 4">
            <a:extLst>
              <a:ext uri="{FF2B5EF4-FFF2-40B4-BE49-F238E27FC236}">
                <a16:creationId xmlns:a16="http://schemas.microsoft.com/office/drawing/2014/main" id="{F2608085-41B9-75F2-2EA1-0436849D2034}"/>
              </a:ext>
            </a:extLst>
          </p:cNvPr>
          <p:cNvCxnSpPr>
            <a:cxnSpLocks/>
          </p:cNvCxnSpPr>
          <p:nvPr/>
        </p:nvCxnSpPr>
        <p:spPr>
          <a:xfrm>
            <a:off x="1331640" y="1988840"/>
            <a:ext cx="6207328"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5077E-6C1F-F89C-3720-FE03AFF657A9}"/>
            </a:ext>
          </a:extLst>
        </p:cNvPr>
        <p:cNvGrpSpPr/>
        <p:nvPr/>
      </p:nvGrpSpPr>
      <p:grpSpPr>
        <a:xfrm>
          <a:off x="0" y="0"/>
          <a:ext cx="0" cy="0"/>
          <a:chOff x="0" y="0"/>
          <a:chExt cx="0" cy="0"/>
        </a:xfrm>
      </p:grpSpPr>
      <p:sp>
        <p:nvSpPr>
          <p:cNvPr id="6" name="Textfeld 5">
            <a:extLst>
              <a:ext uri="{FF2B5EF4-FFF2-40B4-BE49-F238E27FC236}">
                <a16:creationId xmlns:a16="http://schemas.microsoft.com/office/drawing/2014/main" id="{4999674D-EF1B-B833-2134-76E93C2CCD36}"/>
              </a:ext>
            </a:extLst>
          </p:cNvPr>
          <p:cNvSpPr txBox="1"/>
          <p:nvPr/>
        </p:nvSpPr>
        <p:spPr>
          <a:xfrm>
            <a:off x="979326" y="1412776"/>
            <a:ext cx="7121065" cy="3785652"/>
          </a:xfrm>
          <a:prstGeom prst="rect">
            <a:avLst/>
          </a:prstGeom>
          <a:noFill/>
        </p:spPr>
        <p:txBody>
          <a:bodyPr wrap="square">
            <a:spAutoFit/>
          </a:bodyPr>
          <a:lstStyle/>
          <a:p>
            <a:r>
              <a:rPr lang="de-AT" sz="2000" b="0" i="0" u="none" strike="noStrike" dirty="0">
                <a:solidFill>
                  <a:srgbClr val="000000"/>
                </a:solidFill>
                <a:effectLst/>
                <a:latin typeface="-webkit-standard"/>
              </a:rPr>
              <a:t>Der DC-Offset wird durch Fehlschaltungen hervorgerufen, wenn unterschiedliche Eingangsspannungen bei der Aufnahme genutzt werden. Das Phänomen wird erst dann erkennbar, wenn man eine Spannung von Null Volt zum Vergleich hat. In unserem Fall die Nulllinie in unserer Software. DC Offset wird auch Gleichspannungsoffset genannt.</a:t>
            </a:r>
            <a:br>
              <a:rPr lang="de-AT" sz="2000" dirty="0"/>
            </a:br>
            <a:endParaRPr lang="de-AT" sz="2000" dirty="0"/>
          </a:p>
          <a:p>
            <a:r>
              <a:rPr lang="de-DE" sz="2000" dirty="0"/>
              <a:t>Ein Ton, der einen DC-Offset aufweist, erreicht bei der Verstärkung oder Normalisierung nicht die größtmögliche Lautstärke. Das liegt daran, dass der Offset den </a:t>
            </a:r>
            <a:r>
              <a:rPr lang="de-DE" sz="2000" dirty="0" err="1"/>
              <a:t>Headroom</a:t>
            </a:r>
            <a:r>
              <a:rPr lang="de-DE" sz="2000" dirty="0"/>
              <a:t> zwischen dem Spitzenpegel des Tons und dem maximal möglichen Pegel ohne Clipping reduziert.</a:t>
            </a:r>
          </a:p>
        </p:txBody>
      </p:sp>
      <p:sp>
        <p:nvSpPr>
          <p:cNvPr id="7" name="Rectangle 1">
            <a:extLst>
              <a:ext uri="{FF2B5EF4-FFF2-40B4-BE49-F238E27FC236}">
                <a16:creationId xmlns:a16="http://schemas.microsoft.com/office/drawing/2014/main" id="{0B3C3068-A5A3-36DF-EF29-234B83EDE7A5}"/>
              </a:ext>
            </a:extLst>
          </p:cNvPr>
          <p:cNvSpPr/>
          <p:nvPr/>
        </p:nvSpPr>
        <p:spPr>
          <a:xfrm>
            <a:off x="979327" y="681546"/>
            <a:ext cx="1385333" cy="406783"/>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DC Offset</a:t>
            </a:r>
          </a:p>
        </p:txBody>
      </p:sp>
    </p:spTree>
    <p:extLst>
      <p:ext uri="{BB962C8B-B14F-4D97-AF65-F5344CB8AC3E}">
        <p14:creationId xmlns:p14="http://schemas.microsoft.com/office/powerpoint/2010/main" val="567876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DEC5FB-0924-2279-6838-F68F51DBAE17}"/>
            </a:ext>
          </a:extLst>
        </p:cNvPr>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3B47FC9C-2ED3-4100-A4EF-E8CDFEE10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a:extLst>
              <a:ext uri="{FF2B5EF4-FFF2-40B4-BE49-F238E27FC236}">
                <a16:creationId xmlns:a16="http://schemas.microsoft.com/office/drawing/2014/main" id="{401FB65A-5452-F4F2-C42C-670988E8C1F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81456" y="1658530"/>
            <a:ext cx="8178799" cy="438541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
            <a:extLst>
              <a:ext uri="{FF2B5EF4-FFF2-40B4-BE49-F238E27FC236}">
                <a16:creationId xmlns:a16="http://schemas.microsoft.com/office/drawing/2014/main" id="{1C506267-E3EF-6654-E171-462AB713F798}"/>
              </a:ext>
            </a:extLst>
          </p:cNvPr>
          <p:cNvSpPr/>
          <p:nvPr/>
        </p:nvSpPr>
        <p:spPr>
          <a:xfrm>
            <a:off x="481456" y="814055"/>
            <a:ext cx="1385333" cy="406783"/>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DC Offset</a:t>
            </a:r>
          </a:p>
        </p:txBody>
      </p:sp>
      <p:sp>
        <p:nvSpPr>
          <p:cNvPr id="2" name="Textfeld 1">
            <a:extLst>
              <a:ext uri="{FF2B5EF4-FFF2-40B4-BE49-F238E27FC236}">
                <a16:creationId xmlns:a16="http://schemas.microsoft.com/office/drawing/2014/main" id="{CCB94EC5-9277-602A-3259-E58AD44705B1}"/>
              </a:ext>
            </a:extLst>
          </p:cNvPr>
          <p:cNvSpPr txBox="1"/>
          <p:nvPr/>
        </p:nvSpPr>
        <p:spPr>
          <a:xfrm>
            <a:off x="2051720" y="864058"/>
            <a:ext cx="1989647" cy="343620"/>
          </a:xfrm>
          <a:prstGeom prst="rect">
            <a:avLst/>
          </a:prstGeom>
          <a:noFill/>
        </p:spPr>
        <p:txBody>
          <a:bodyPr wrap="none" rtlCol="0">
            <a:spAutoFit/>
          </a:bodyPr>
          <a:lstStyle/>
          <a:p>
            <a:r>
              <a:rPr lang="en-GB" dirty="0"/>
              <a:t>Reaper: 03-DC-Offset</a:t>
            </a:r>
          </a:p>
        </p:txBody>
      </p:sp>
    </p:spTree>
    <p:extLst>
      <p:ext uri="{BB962C8B-B14F-4D97-AF65-F5344CB8AC3E}">
        <p14:creationId xmlns:p14="http://schemas.microsoft.com/office/powerpoint/2010/main" val="34675571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566DD-EB19-374B-A93E-FF1669B1726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82C94FF-9F08-1F8A-0129-FF7848EAE719}"/>
              </a:ext>
            </a:extLst>
          </p:cNvPr>
          <p:cNvSpPr/>
          <p:nvPr/>
        </p:nvSpPr>
        <p:spPr>
          <a:xfrm>
            <a:off x="979327" y="681546"/>
            <a:ext cx="1385333" cy="406783"/>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DC Offset</a:t>
            </a:r>
          </a:p>
        </p:txBody>
      </p:sp>
      <p:sp>
        <p:nvSpPr>
          <p:cNvPr id="6" name="Textfeld 5">
            <a:extLst>
              <a:ext uri="{FF2B5EF4-FFF2-40B4-BE49-F238E27FC236}">
                <a16:creationId xmlns:a16="http://schemas.microsoft.com/office/drawing/2014/main" id="{D2B82BF2-A2B5-08F6-3090-DD0099997198}"/>
              </a:ext>
            </a:extLst>
          </p:cNvPr>
          <p:cNvSpPr txBox="1"/>
          <p:nvPr/>
        </p:nvSpPr>
        <p:spPr>
          <a:xfrm>
            <a:off x="1004368" y="1467473"/>
            <a:ext cx="7574900" cy="4708981"/>
          </a:xfrm>
          <a:prstGeom prst="rect">
            <a:avLst/>
          </a:prstGeom>
          <a:noFill/>
        </p:spPr>
        <p:txBody>
          <a:bodyPr wrap="square">
            <a:spAutoFit/>
          </a:bodyPr>
          <a:lstStyle/>
          <a:p>
            <a:pPr marL="342900" indent="-342900">
              <a:buFont typeface="Arial" panose="020B0604020202020204" pitchFamily="34" charset="0"/>
              <a:buChar char="•"/>
            </a:pPr>
            <a:r>
              <a:rPr lang="de-DE" sz="2000" dirty="0"/>
              <a:t>Der </a:t>
            </a:r>
            <a:r>
              <a:rPr lang="de-DE" sz="2000"/>
              <a:t>DC-Offset kann </a:t>
            </a:r>
            <a:r>
              <a:rPr lang="de-DE" sz="2000" dirty="0"/>
              <a:t>sich möglicherweise auf die gesamte Mischung ausweiten, da ein Ton mit Gleichspannungsversatz und ein Ton ohne Gleichspannungsversatz beim Mischen </a:t>
            </a:r>
            <a:r>
              <a:rPr lang="de-DE" sz="2000"/>
              <a:t>einen Gleichspannungs-versatz </a:t>
            </a:r>
            <a:r>
              <a:rPr lang="de-DE" sz="2000" dirty="0"/>
              <a:t>aufweisen.</a:t>
            </a:r>
          </a:p>
          <a:p>
            <a:pPr marL="342900" indent="-342900">
              <a:buFont typeface="Arial" panose="020B0604020202020204" pitchFamily="34" charset="0"/>
              <a:buChar char="•"/>
            </a:pPr>
            <a:r>
              <a:rPr lang="de-DE" sz="2000" dirty="0"/>
              <a:t>Der Gleichstromversatz kann zu unhörbaren Verzerrungen bei niedrigen Pegeln führen. Die Verzerrung kann hörbar werden, wenn Effekte angewendet werden, die den Frequenzinhalt verändern, oder wenn das Audio in ein größenkomprimiertes Format wie MP3 exportiert wird.</a:t>
            </a:r>
          </a:p>
          <a:p>
            <a:pPr marL="342900" indent="-342900">
              <a:buFont typeface="Arial" panose="020B0604020202020204" pitchFamily="34" charset="0"/>
              <a:buChar char="•"/>
            </a:pPr>
            <a:r>
              <a:rPr lang="de-DE" sz="2000" dirty="0"/>
              <a:t>Der DC-Versatz kann hörbare Klicks verursachen, wenn Audioabschnitte ausgeschnitten und zusammengefügt werden, und er kann bei der Wiedergabe am Anfang und am Ende des Tracks ein Klicken verursachen, auch ohne Bearbeitung.</a:t>
            </a:r>
          </a:p>
          <a:p>
            <a:pPr marL="342900" indent="-342900">
              <a:buFont typeface="Arial" panose="020B0604020202020204" pitchFamily="34" charset="0"/>
              <a:buChar char="•"/>
            </a:pPr>
            <a:r>
              <a:rPr lang="de-DE" sz="2000" dirty="0"/>
              <a:t>Der Gleichstromversatz wird noch größer, wenn die Aufnahme verstärkt wird.</a:t>
            </a:r>
          </a:p>
        </p:txBody>
      </p:sp>
    </p:spTree>
    <p:extLst>
      <p:ext uri="{BB962C8B-B14F-4D97-AF65-F5344CB8AC3E}">
        <p14:creationId xmlns:p14="http://schemas.microsoft.com/office/powerpoint/2010/main" val="3178714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16">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C84D73-D1F5-A948-8B24-717AC85BCAB1}"/>
              </a:ext>
            </a:extLst>
          </p:cNvPr>
          <p:cNvSpPr/>
          <p:nvPr/>
        </p:nvSpPr>
        <p:spPr>
          <a:xfrm>
            <a:off x="1530872" y="664239"/>
            <a:ext cx="3003981"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Dynamische Mikrofone</a:t>
            </a:r>
          </a:p>
        </p:txBody>
      </p:sp>
      <p:sp>
        <p:nvSpPr>
          <p:cNvPr id="3" name="Rectangle 2">
            <a:extLst>
              <a:ext uri="{FF2B5EF4-FFF2-40B4-BE49-F238E27FC236}">
                <a16:creationId xmlns:a16="http://schemas.microsoft.com/office/drawing/2014/main" id="{6A05BE81-D49C-DC47-AB00-9BD2E9338244}"/>
              </a:ext>
            </a:extLst>
          </p:cNvPr>
          <p:cNvSpPr/>
          <p:nvPr/>
        </p:nvSpPr>
        <p:spPr>
          <a:xfrm>
            <a:off x="1669004" y="5710107"/>
            <a:ext cx="6017684" cy="727255"/>
          </a:xfrm>
          <a:prstGeom prst="rect">
            <a:avLst/>
          </a:prstGeom>
          <a:noFill/>
          <a:ln cap="flat">
            <a:noFill/>
            <a:prstDash val="solid"/>
          </a:ln>
        </p:spPr>
        <p:txBody>
          <a:bodyPr vert="horz" wrap="square" lIns="81638" tIns="42452" rIns="81638" bIns="42452" anchor="t" anchorCtr="0" compatLnSpc="0">
            <a:spAutoFit/>
          </a:bodyPr>
          <a:lstStyle/>
          <a:p>
            <a:pPr algn="just"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1451" dirty="0">
                <a:solidFill>
                  <a:srgbClr val="000000"/>
                </a:solidFill>
                <a:latin typeface="Arial Regular"/>
                <a:ea typeface="ＭＳ Ｐゴシック" pitchFamily="34"/>
                <a:cs typeface="MS Gothic" pitchFamily="49"/>
              </a:rPr>
              <a:t>Elektroakustischer Wandler (Sensor), der Schallereignisse als Schalldruckimpulse nach dem Prinzip der elektromagnetischen Induktion in äquivalente elektrische Spannungsimpulse wandelt.</a:t>
            </a:r>
          </a:p>
        </p:txBody>
      </p:sp>
      <p:pic>
        <p:nvPicPr>
          <p:cNvPr id="4" name="Picture 3">
            <a:extLst>
              <a:ext uri="{FF2B5EF4-FFF2-40B4-BE49-F238E27FC236}">
                <a16:creationId xmlns:a16="http://schemas.microsoft.com/office/drawing/2014/main" id="{FE978116-64EF-A247-88A2-D953F7286CE1}"/>
              </a:ext>
            </a:extLst>
          </p:cNvPr>
          <p:cNvPicPr>
            <a:picLocks noChangeAspect="1"/>
          </p:cNvPicPr>
          <p:nvPr/>
        </p:nvPicPr>
        <p:blipFill>
          <a:blip r:embed="rId3"/>
          <a:srcRect/>
          <a:stretch>
            <a:fillRect/>
          </a:stretch>
        </p:blipFill>
        <p:spPr>
          <a:xfrm>
            <a:off x="3742603" y="2392348"/>
            <a:ext cx="4527306" cy="2833810"/>
          </a:xfrm>
          <a:prstGeom prst="rect">
            <a:avLst/>
          </a:prstGeom>
          <a:noFill/>
          <a:ln cap="flat">
            <a:noFill/>
          </a:ln>
          <a:effectLst>
            <a:outerShdw dist="23040" dir="5400000" algn="tl">
              <a:srgbClr val="000000">
                <a:alpha val="35000"/>
              </a:srgbClr>
            </a:outerShdw>
          </a:effectLst>
        </p:spPr>
      </p:pic>
      <p:pic>
        <p:nvPicPr>
          <p:cNvPr id="5" name="Picture 4">
            <a:extLst>
              <a:ext uri="{FF2B5EF4-FFF2-40B4-BE49-F238E27FC236}">
                <a16:creationId xmlns:a16="http://schemas.microsoft.com/office/drawing/2014/main" id="{66068EA8-AA74-D547-869D-99B25C4DD29E}"/>
              </a:ext>
            </a:extLst>
          </p:cNvPr>
          <p:cNvPicPr>
            <a:picLocks noChangeAspect="1"/>
          </p:cNvPicPr>
          <p:nvPr/>
        </p:nvPicPr>
        <p:blipFill>
          <a:blip r:embed="rId4"/>
          <a:srcRect/>
          <a:stretch>
            <a:fillRect/>
          </a:stretch>
        </p:blipFill>
        <p:spPr>
          <a:xfrm>
            <a:off x="1254284" y="1148188"/>
            <a:ext cx="1353554" cy="4561920"/>
          </a:xfrm>
          <a:prstGeom prst="rect">
            <a:avLst/>
          </a:prstGeom>
          <a:noFill/>
          <a:ln cap="flat">
            <a:noFill/>
          </a:ln>
          <a:effectLst>
            <a:outerShdw dist="23040" dir="5400000" algn="tl">
              <a:srgbClr val="000000">
                <a:alpha val="35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17">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7DC1DA4-AB81-9546-B2CF-7D75FA26DC4B}"/>
              </a:ext>
            </a:extLst>
          </p:cNvPr>
          <p:cNvSpPr/>
          <p:nvPr/>
        </p:nvSpPr>
        <p:spPr>
          <a:xfrm>
            <a:off x="1530872" y="664239"/>
            <a:ext cx="2973524"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Kondensatormikrofone</a:t>
            </a:r>
          </a:p>
        </p:txBody>
      </p:sp>
      <p:pic>
        <p:nvPicPr>
          <p:cNvPr id="3" name="Picture 2">
            <a:extLst>
              <a:ext uri="{FF2B5EF4-FFF2-40B4-BE49-F238E27FC236}">
                <a16:creationId xmlns:a16="http://schemas.microsoft.com/office/drawing/2014/main" id="{9B784DF5-0D1E-A34F-B1BD-C5E0EA2A862C}"/>
              </a:ext>
            </a:extLst>
          </p:cNvPr>
          <p:cNvPicPr>
            <a:picLocks noChangeAspect="1"/>
          </p:cNvPicPr>
          <p:nvPr/>
        </p:nvPicPr>
        <p:blipFill>
          <a:blip r:embed="rId3"/>
          <a:srcRect/>
          <a:stretch>
            <a:fillRect/>
          </a:stretch>
        </p:blipFill>
        <p:spPr>
          <a:xfrm>
            <a:off x="7405855" y="180290"/>
            <a:ext cx="1520748" cy="4334314"/>
          </a:xfrm>
          <a:prstGeom prst="rect">
            <a:avLst/>
          </a:prstGeom>
          <a:noFill/>
          <a:ln cap="flat">
            <a:noFill/>
          </a:ln>
          <a:effectLst>
            <a:outerShdw dist="23040" dir="5400000" algn="tl">
              <a:srgbClr val="000000">
                <a:alpha val="35000"/>
              </a:srgbClr>
            </a:outerShdw>
          </a:effectLst>
        </p:spPr>
      </p:pic>
      <p:pic>
        <p:nvPicPr>
          <p:cNvPr id="4" name="Picture 3">
            <a:extLst>
              <a:ext uri="{FF2B5EF4-FFF2-40B4-BE49-F238E27FC236}">
                <a16:creationId xmlns:a16="http://schemas.microsoft.com/office/drawing/2014/main" id="{7F133464-7DB8-A049-A9F0-CA77622A93FE}"/>
              </a:ext>
            </a:extLst>
          </p:cNvPr>
          <p:cNvPicPr>
            <a:picLocks noChangeAspect="1"/>
          </p:cNvPicPr>
          <p:nvPr/>
        </p:nvPicPr>
        <p:blipFill>
          <a:blip r:embed="rId4"/>
          <a:srcRect/>
          <a:stretch>
            <a:fillRect/>
          </a:stretch>
        </p:blipFill>
        <p:spPr>
          <a:xfrm>
            <a:off x="4226552" y="3705410"/>
            <a:ext cx="4461016" cy="2787767"/>
          </a:xfrm>
          <a:prstGeom prst="rect">
            <a:avLst/>
          </a:prstGeom>
          <a:noFill/>
          <a:ln cap="flat">
            <a:noFill/>
          </a:ln>
          <a:effectLst>
            <a:outerShdw dist="23040" dir="5400000" algn="tl">
              <a:srgbClr val="000000">
                <a:alpha val="35000"/>
              </a:srgbClr>
            </a:outerShdw>
          </a:effectLst>
        </p:spPr>
      </p:pic>
      <p:pic>
        <p:nvPicPr>
          <p:cNvPr id="5" name="Picture 4">
            <a:extLst>
              <a:ext uri="{FF2B5EF4-FFF2-40B4-BE49-F238E27FC236}">
                <a16:creationId xmlns:a16="http://schemas.microsoft.com/office/drawing/2014/main" id="{A6B277C0-EA8D-BD4A-98D6-1A8E1C7321E4}"/>
              </a:ext>
            </a:extLst>
          </p:cNvPr>
          <p:cNvPicPr>
            <a:picLocks noChangeAspect="1"/>
          </p:cNvPicPr>
          <p:nvPr/>
        </p:nvPicPr>
        <p:blipFill>
          <a:blip r:embed="rId5"/>
          <a:srcRect/>
          <a:stretch>
            <a:fillRect/>
          </a:stretch>
        </p:blipFill>
        <p:spPr>
          <a:xfrm>
            <a:off x="770334" y="1286320"/>
            <a:ext cx="3268777" cy="4907410"/>
          </a:xfrm>
          <a:prstGeom prst="rect">
            <a:avLst/>
          </a:prstGeom>
          <a:noFill/>
          <a:ln cap="flat">
            <a:noFill/>
          </a:ln>
          <a:effectLst>
            <a:outerShdw dist="23040" dir="5400000" algn="tl">
              <a:srgbClr val="000000">
                <a:alpha val="35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50">
    <p:bg>
      <p:bgPr>
        <a:solidFill>
          <a:srgbClr val="FFFFFF"/>
        </a:solidFill>
        <a:effectLst/>
      </p:bgPr>
    </p:bg>
    <p:spTree>
      <p:nvGrpSpPr>
        <p:cNvPr id="1" name=""/>
        <p:cNvGrpSpPr/>
        <p:nvPr/>
      </p:nvGrpSpPr>
      <p:grpSpPr>
        <a:xfrm>
          <a:off x="0" y="0"/>
          <a:ext cx="0" cy="0"/>
          <a:chOff x="0" y="0"/>
          <a:chExt cx="0" cy="0"/>
        </a:xfrm>
      </p:grpSpPr>
      <p:pic>
        <p:nvPicPr>
          <p:cNvPr id="2" name="Bild 3" descr="AR00027494_0.jpg">
            <a:extLst>
              <a:ext uri="{FF2B5EF4-FFF2-40B4-BE49-F238E27FC236}">
                <a16:creationId xmlns:a16="http://schemas.microsoft.com/office/drawing/2014/main" id="{F4AB3E2F-B14C-0D47-B797-06E8D0E5DB3C}"/>
              </a:ext>
            </a:extLst>
          </p:cNvPr>
          <p:cNvPicPr>
            <a:picLocks noChangeAspect="1"/>
          </p:cNvPicPr>
          <p:nvPr/>
        </p:nvPicPr>
        <p:blipFill>
          <a:blip r:embed="rId3"/>
          <a:srcRect/>
          <a:stretch>
            <a:fillRect/>
          </a:stretch>
        </p:blipFill>
        <p:spPr>
          <a:xfrm>
            <a:off x="718413" y="2775391"/>
            <a:ext cx="8033812" cy="5031501"/>
          </a:xfrm>
          <a:prstGeom prst="rect">
            <a:avLst/>
          </a:prstGeom>
          <a:noFill/>
          <a:ln cap="flat">
            <a:noFill/>
          </a:ln>
          <a:effectLst>
            <a:outerShdw dist="23040" dir="5400000" algn="tl">
              <a:srgbClr val="000000">
                <a:alpha val="35000"/>
              </a:srgbClr>
            </a:outerShdw>
          </a:effectLst>
        </p:spPr>
      </p:pic>
      <p:sp>
        <p:nvSpPr>
          <p:cNvPr id="3" name="Rectangle 1">
            <a:extLst>
              <a:ext uri="{FF2B5EF4-FFF2-40B4-BE49-F238E27FC236}">
                <a16:creationId xmlns:a16="http://schemas.microsoft.com/office/drawing/2014/main" id="{910222D5-631A-844E-AD8D-BBCD014E75FB}"/>
              </a:ext>
            </a:extLst>
          </p:cNvPr>
          <p:cNvSpPr/>
          <p:nvPr/>
        </p:nvSpPr>
        <p:spPr>
          <a:xfrm>
            <a:off x="1530873" y="664239"/>
            <a:ext cx="2399521"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Phantomspeisung</a:t>
            </a:r>
          </a:p>
        </p:txBody>
      </p:sp>
      <p:pic>
        <p:nvPicPr>
          <p:cNvPr id="4" name="Bild 1" descr="1014569.jpg">
            <a:extLst>
              <a:ext uri="{FF2B5EF4-FFF2-40B4-BE49-F238E27FC236}">
                <a16:creationId xmlns:a16="http://schemas.microsoft.com/office/drawing/2014/main" id="{1D3F3BEC-F4B1-AE41-B129-255225AB6633}"/>
              </a:ext>
            </a:extLst>
          </p:cNvPr>
          <p:cNvPicPr>
            <a:picLocks noChangeAspect="1"/>
          </p:cNvPicPr>
          <p:nvPr/>
        </p:nvPicPr>
        <p:blipFill>
          <a:blip r:embed="rId4"/>
          <a:srcRect/>
          <a:stretch>
            <a:fillRect/>
          </a:stretch>
        </p:blipFill>
        <p:spPr>
          <a:xfrm>
            <a:off x="4507060" y="1077326"/>
            <a:ext cx="3909471" cy="2874303"/>
          </a:xfrm>
          <a:prstGeom prst="rect">
            <a:avLst/>
          </a:prstGeom>
          <a:noFill/>
          <a:ln cap="flat">
            <a:noFill/>
          </a:ln>
          <a:effectLst>
            <a:outerShdw dist="23040" dir="5400000" algn="tl">
              <a:srgbClr val="000000">
                <a:alpha val="35000"/>
              </a:srgbClr>
            </a:outerShdw>
          </a:effectLst>
        </p:spPr>
      </p:pic>
      <p:pic>
        <p:nvPicPr>
          <p:cNvPr id="5" name="Bild 2" descr="phantomspeisung-fuer-pgt-studiomikrofon_3828l_1.jpg">
            <a:extLst>
              <a:ext uri="{FF2B5EF4-FFF2-40B4-BE49-F238E27FC236}">
                <a16:creationId xmlns:a16="http://schemas.microsoft.com/office/drawing/2014/main" id="{A13347D1-2C1C-A642-AE77-68C8A7399A96}"/>
              </a:ext>
            </a:extLst>
          </p:cNvPr>
          <p:cNvPicPr>
            <a:picLocks noChangeAspect="1"/>
          </p:cNvPicPr>
          <p:nvPr/>
        </p:nvPicPr>
        <p:blipFill>
          <a:blip r:embed="rId5"/>
          <a:srcRect/>
          <a:stretch>
            <a:fillRect/>
          </a:stretch>
        </p:blipFill>
        <p:spPr>
          <a:xfrm>
            <a:off x="783396" y="1208600"/>
            <a:ext cx="3070234" cy="3070234"/>
          </a:xfrm>
          <a:prstGeom prst="rect">
            <a:avLst/>
          </a:prstGeom>
          <a:noFill/>
          <a:ln cap="flat">
            <a:noFill/>
          </a:ln>
          <a:effectLst>
            <a:outerShdw dist="23040" dir="5400000" algn="tl">
              <a:srgbClr val="000000">
                <a:alpha val="35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18">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7B0B30-7AA9-584F-A457-8FE0C85CC5DE}"/>
              </a:ext>
            </a:extLst>
          </p:cNvPr>
          <p:cNvSpPr/>
          <p:nvPr/>
        </p:nvSpPr>
        <p:spPr>
          <a:xfrm>
            <a:off x="1530873" y="664239"/>
            <a:ext cx="3050853"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Grenzflächenmikrofone</a:t>
            </a:r>
          </a:p>
        </p:txBody>
      </p:sp>
      <p:pic>
        <p:nvPicPr>
          <p:cNvPr id="3" name="Picture 2">
            <a:extLst>
              <a:ext uri="{FF2B5EF4-FFF2-40B4-BE49-F238E27FC236}">
                <a16:creationId xmlns:a16="http://schemas.microsoft.com/office/drawing/2014/main" id="{BEC72CF5-9D78-F542-9861-FCD11F78FBC7}"/>
              </a:ext>
            </a:extLst>
          </p:cNvPr>
          <p:cNvPicPr>
            <a:picLocks noChangeAspect="1"/>
          </p:cNvPicPr>
          <p:nvPr/>
        </p:nvPicPr>
        <p:blipFill>
          <a:blip r:embed="rId3"/>
          <a:srcRect/>
          <a:stretch>
            <a:fillRect/>
          </a:stretch>
        </p:blipFill>
        <p:spPr>
          <a:xfrm>
            <a:off x="1530872" y="2046530"/>
            <a:ext cx="5775711" cy="2695680"/>
          </a:xfrm>
          <a:prstGeom prst="rect">
            <a:avLst/>
          </a:prstGeom>
          <a:noFill/>
          <a:ln cap="flat">
            <a:noFill/>
          </a:ln>
          <a:effectLst>
            <a:outerShdw dist="23040" dir="5400000" algn="tl">
              <a:srgbClr val="000000">
                <a:alpha val="35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page18">
    <p:spTree>
      <p:nvGrpSpPr>
        <p:cNvPr id="1" name=""/>
        <p:cNvGrpSpPr/>
        <p:nvPr/>
      </p:nvGrpSpPr>
      <p:grpSpPr>
        <a:xfrm>
          <a:off x="0" y="0"/>
          <a:ext cx="0" cy="0"/>
          <a:chOff x="0" y="0"/>
          <a:chExt cx="0" cy="0"/>
        </a:xfrm>
      </p:grpSpPr>
      <p:sp>
        <p:nvSpPr>
          <p:cNvPr id="2" name="Rectangle 1_0">
            <a:extLst>
              <a:ext uri="{FF2B5EF4-FFF2-40B4-BE49-F238E27FC236}">
                <a16:creationId xmlns:a16="http://schemas.microsoft.com/office/drawing/2014/main" id="{83328747-73D1-8944-9B91-27196938C2F3}"/>
              </a:ext>
            </a:extLst>
          </p:cNvPr>
          <p:cNvSpPr/>
          <p:nvPr/>
        </p:nvSpPr>
        <p:spPr>
          <a:xfrm>
            <a:off x="755576" y="620688"/>
            <a:ext cx="3391972"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(Piezo-) Kontaktmikrofone</a:t>
            </a:r>
          </a:p>
        </p:txBody>
      </p:sp>
      <p:pic>
        <p:nvPicPr>
          <p:cNvPr id="3" name="Grafik 2">
            <a:extLst>
              <a:ext uri="{FF2B5EF4-FFF2-40B4-BE49-F238E27FC236}">
                <a16:creationId xmlns:a16="http://schemas.microsoft.com/office/drawing/2014/main" id="{E164FC7F-2D74-1B4A-AE6A-80877E9E6C7D}"/>
              </a:ext>
            </a:extLst>
          </p:cNvPr>
          <p:cNvPicPr>
            <a:picLocks noChangeAspect="1"/>
          </p:cNvPicPr>
          <p:nvPr/>
        </p:nvPicPr>
        <p:blipFill>
          <a:blip r:embed="rId3">
            <a:lum/>
            <a:alphaModFix/>
          </a:blip>
          <a:srcRect/>
          <a:stretch>
            <a:fillRect/>
          </a:stretch>
        </p:blipFill>
        <p:spPr>
          <a:xfrm>
            <a:off x="494726" y="1311464"/>
            <a:ext cx="3423889" cy="3423889"/>
          </a:xfrm>
          <a:prstGeom prst="rect">
            <a:avLst/>
          </a:prstGeom>
          <a:noFill/>
          <a:ln cap="flat">
            <a:noFill/>
          </a:ln>
        </p:spPr>
      </p:pic>
      <p:pic>
        <p:nvPicPr>
          <p:cNvPr id="4" name="Grafik 3">
            <a:extLst>
              <a:ext uri="{FF2B5EF4-FFF2-40B4-BE49-F238E27FC236}">
                <a16:creationId xmlns:a16="http://schemas.microsoft.com/office/drawing/2014/main" id="{4B8E5038-2577-504C-AF34-345B15EA117B}"/>
              </a:ext>
            </a:extLst>
          </p:cNvPr>
          <p:cNvPicPr>
            <a:picLocks noChangeAspect="1"/>
          </p:cNvPicPr>
          <p:nvPr/>
        </p:nvPicPr>
        <p:blipFill>
          <a:blip r:embed="rId4">
            <a:lum/>
            <a:alphaModFix/>
          </a:blip>
          <a:srcRect/>
          <a:stretch>
            <a:fillRect/>
          </a:stretch>
        </p:blipFill>
        <p:spPr>
          <a:xfrm>
            <a:off x="4595462" y="-531440"/>
            <a:ext cx="4576941" cy="4576941"/>
          </a:xfrm>
          <a:prstGeom prst="rect">
            <a:avLst/>
          </a:prstGeom>
          <a:noFill/>
          <a:ln cap="flat">
            <a:noFill/>
          </a:ln>
        </p:spPr>
      </p:pic>
      <p:pic>
        <p:nvPicPr>
          <p:cNvPr id="6" name="Grafik 5">
            <a:extLst>
              <a:ext uri="{FF2B5EF4-FFF2-40B4-BE49-F238E27FC236}">
                <a16:creationId xmlns:a16="http://schemas.microsoft.com/office/drawing/2014/main" id="{7117ADA7-B451-C94F-AED3-07F3C860408C}"/>
              </a:ext>
            </a:extLst>
          </p:cNvPr>
          <p:cNvPicPr>
            <a:picLocks noChangeAspect="1"/>
          </p:cNvPicPr>
          <p:nvPr/>
        </p:nvPicPr>
        <p:blipFill>
          <a:blip r:embed="rId5"/>
          <a:stretch>
            <a:fillRect/>
          </a:stretch>
        </p:blipFill>
        <p:spPr>
          <a:xfrm>
            <a:off x="3226858" y="3717032"/>
            <a:ext cx="5339376" cy="300618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page19">
    <p:spTree>
      <p:nvGrpSpPr>
        <p:cNvPr id="1" name=""/>
        <p:cNvGrpSpPr/>
        <p:nvPr/>
      </p:nvGrpSpPr>
      <p:grpSpPr>
        <a:xfrm>
          <a:off x="0" y="0"/>
          <a:ext cx="0" cy="0"/>
          <a:chOff x="0" y="0"/>
          <a:chExt cx="0" cy="0"/>
        </a:xfrm>
      </p:grpSpPr>
      <p:sp>
        <p:nvSpPr>
          <p:cNvPr id="2" name="Rectangle 1_1">
            <a:extLst>
              <a:ext uri="{FF2B5EF4-FFF2-40B4-BE49-F238E27FC236}">
                <a16:creationId xmlns:a16="http://schemas.microsoft.com/office/drawing/2014/main" id="{78B7645C-AF1D-4549-A765-A92471895D48}"/>
              </a:ext>
            </a:extLst>
          </p:cNvPr>
          <p:cNvSpPr/>
          <p:nvPr/>
        </p:nvSpPr>
        <p:spPr>
          <a:xfrm>
            <a:off x="5255842" y="726284"/>
            <a:ext cx="1685671"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err="1">
                <a:solidFill>
                  <a:srgbClr val="000000"/>
                </a:solidFill>
                <a:latin typeface="Arial Regular"/>
                <a:ea typeface="ＭＳ Ｐゴシック" pitchFamily="34"/>
                <a:cs typeface="MS Gothic" pitchFamily="49"/>
              </a:rPr>
              <a:t>Hydrophone</a:t>
            </a:r>
            <a:endParaRPr lang="de-DE" sz="2177" dirty="0">
              <a:solidFill>
                <a:srgbClr val="000000"/>
              </a:solidFill>
              <a:latin typeface="Arial Regular"/>
              <a:ea typeface="ＭＳ Ｐゴシック" pitchFamily="34"/>
              <a:cs typeface="MS Gothic" pitchFamily="49"/>
            </a:endParaRPr>
          </a:p>
        </p:txBody>
      </p:sp>
      <p:pic>
        <p:nvPicPr>
          <p:cNvPr id="3" name="Grafik 2">
            <a:extLst>
              <a:ext uri="{FF2B5EF4-FFF2-40B4-BE49-F238E27FC236}">
                <a16:creationId xmlns:a16="http://schemas.microsoft.com/office/drawing/2014/main" id="{65FFBCF8-F99B-BC47-BD63-AEF4C3E1A212}"/>
              </a:ext>
            </a:extLst>
          </p:cNvPr>
          <p:cNvPicPr>
            <a:picLocks noChangeAspect="1"/>
          </p:cNvPicPr>
          <p:nvPr/>
        </p:nvPicPr>
        <p:blipFill>
          <a:blip r:embed="rId3">
            <a:lum/>
            <a:alphaModFix/>
          </a:blip>
          <a:srcRect/>
          <a:stretch>
            <a:fillRect/>
          </a:stretch>
        </p:blipFill>
        <p:spPr>
          <a:xfrm>
            <a:off x="4632129" y="1633116"/>
            <a:ext cx="4348029" cy="5145467"/>
          </a:xfrm>
          <a:prstGeom prst="rect">
            <a:avLst/>
          </a:prstGeom>
          <a:noFill/>
          <a:ln cap="flat">
            <a:noFill/>
          </a:ln>
        </p:spPr>
      </p:pic>
      <p:pic>
        <p:nvPicPr>
          <p:cNvPr id="4" name="Grafik 3">
            <a:extLst>
              <a:ext uri="{FF2B5EF4-FFF2-40B4-BE49-F238E27FC236}">
                <a16:creationId xmlns:a16="http://schemas.microsoft.com/office/drawing/2014/main" id="{DEB7B59A-0C68-E045-BE38-C953E1A8D891}"/>
              </a:ext>
            </a:extLst>
          </p:cNvPr>
          <p:cNvPicPr>
            <a:picLocks noChangeAspect="1"/>
          </p:cNvPicPr>
          <p:nvPr/>
        </p:nvPicPr>
        <p:blipFill>
          <a:blip r:embed="rId4">
            <a:lum/>
            <a:alphaModFix/>
          </a:blip>
          <a:srcRect/>
          <a:stretch>
            <a:fillRect/>
          </a:stretch>
        </p:blipFill>
        <p:spPr>
          <a:xfrm>
            <a:off x="1" y="361"/>
            <a:ext cx="4656293" cy="3102236"/>
          </a:xfrm>
          <a:prstGeom prst="rect">
            <a:avLst/>
          </a:prstGeom>
          <a:noFill/>
          <a:ln cap="flat">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_1">
            <a:extLst>
              <a:ext uri="{FF2B5EF4-FFF2-40B4-BE49-F238E27FC236}">
                <a16:creationId xmlns:a16="http://schemas.microsoft.com/office/drawing/2014/main" id="{78B7645C-AF1D-4549-A765-A92471895D48}"/>
              </a:ext>
            </a:extLst>
          </p:cNvPr>
          <p:cNvSpPr/>
          <p:nvPr/>
        </p:nvSpPr>
        <p:spPr>
          <a:xfrm>
            <a:off x="971600" y="692696"/>
            <a:ext cx="1975238" cy="380557"/>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000" dirty="0">
                <a:latin typeface="Arial Regular"/>
                <a:cs typeface="Arial" panose="020B0604020202020204" pitchFamily="34" charset="0"/>
              </a:rPr>
              <a:t>SOMA Ether V2</a:t>
            </a:r>
            <a:endParaRPr lang="de-DE" sz="2000" dirty="0">
              <a:solidFill>
                <a:srgbClr val="000000"/>
              </a:solidFill>
              <a:latin typeface="Arial Regular"/>
              <a:ea typeface="ＭＳ Ｐゴシック" pitchFamily="34"/>
              <a:cs typeface="Arial" panose="020B0604020202020204" pitchFamily="34" charset="0"/>
            </a:endParaRPr>
          </a:p>
        </p:txBody>
      </p:sp>
      <p:pic>
        <p:nvPicPr>
          <p:cNvPr id="8" name="Grafik 7">
            <a:extLst>
              <a:ext uri="{FF2B5EF4-FFF2-40B4-BE49-F238E27FC236}">
                <a16:creationId xmlns:a16="http://schemas.microsoft.com/office/drawing/2014/main" id="{D9A327CC-C9AF-AD42-A899-A7F485F08C11}"/>
              </a:ext>
            </a:extLst>
          </p:cNvPr>
          <p:cNvPicPr>
            <a:picLocks noChangeAspect="1"/>
          </p:cNvPicPr>
          <p:nvPr/>
        </p:nvPicPr>
        <p:blipFill>
          <a:blip r:embed="rId5"/>
          <a:stretch>
            <a:fillRect/>
          </a:stretch>
        </p:blipFill>
        <p:spPr>
          <a:xfrm>
            <a:off x="548262" y="1412776"/>
            <a:ext cx="4797152" cy="4797152"/>
          </a:xfrm>
          <a:prstGeom prst="rect">
            <a:avLst/>
          </a:prstGeom>
        </p:spPr>
      </p:pic>
      <p:pic>
        <p:nvPicPr>
          <p:cNvPr id="9" name="SOMA Ether V2 1st Test - Walking down the Middlewich canal">
            <a:hlinkClick r:id="" action="ppaction://media"/>
            <a:extLst>
              <a:ext uri="{FF2B5EF4-FFF2-40B4-BE49-F238E27FC236}">
                <a16:creationId xmlns:a16="http://schemas.microsoft.com/office/drawing/2014/main" id="{52DEE0AD-44D4-CF44-935E-B2D5266BACBF}"/>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55976" y="3811352"/>
            <a:ext cx="4480497" cy="2520280"/>
          </a:xfrm>
          <a:prstGeom prst="rect">
            <a:avLst/>
          </a:prstGeom>
        </p:spPr>
      </p:pic>
    </p:spTree>
    <p:extLst>
      <p:ext uri="{BB962C8B-B14F-4D97-AF65-F5344CB8AC3E}">
        <p14:creationId xmlns:p14="http://schemas.microsoft.com/office/powerpoint/2010/main" val="2989951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83229"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19">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D4B2E1-6682-AD48-B512-52D7284605FF}"/>
              </a:ext>
            </a:extLst>
          </p:cNvPr>
          <p:cNvSpPr/>
          <p:nvPr/>
        </p:nvSpPr>
        <p:spPr>
          <a:xfrm>
            <a:off x="1530873" y="664239"/>
            <a:ext cx="878784"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Kugel</a:t>
            </a:r>
          </a:p>
        </p:txBody>
      </p:sp>
      <p:sp>
        <p:nvSpPr>
          <p:cNvPr id="3" name="Rectangle 2">
            <a:extLst>
              <a:ext uri="{FF2B5EF4-FFF2-40B4-BE49-F238E27FC236}">
                <a16:creationId xmlns:a16="http://schemas.microsoft.com/office/drawing/2014/main" id="{4514AAF7-8E08-A448-8CA4-AA07CC0FDBB5}"/>
              </a:ext>
            </a:extLst>
          </p:cNvPr>
          <p:cNvSpPr/>
          <p:nvPr/>
        </p:nvSpPr>
        <p:spPr>
          <a:xfrm>
            <a:off x="1323512" y="5088028"/>
            <a:ext cx="6704749" cy="727255"/>
          </a:xfrm>
          <a:prstGeom prst="rect">
            <a:avLst/>
          </a:prstGeom>
          <a:noFill/>
          <a:ln cap="flat">
            <a:noFill/>
            <a:prstDash val="solid"/>
          </a:ln>
        </p:spPr>
        <p:txBody>
          <a:bodyPr vert="horz" wrap="squar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1451" dirty="0">
                <a:solidFill>
                  <a:srgbClr val="000000"/>
                </a:solidFill>
                <a:latin typeface="Arial Regular"/>
                <a:ea typeface="ＭＳ Ｐゴシック" pitchFamily="34"/>
                <a:cs typeface="MS Gothic" pitchFamily="49"/>
              </a:rPr>
              <a:t>Mikrofon  ohne spezifische Richtcharakteristik. Es ist für Schallwellen aus allen Richtungen gleich empfindlich. Es eignet sich für die Aufzeichnung von </a:t>
            </a:r>
            <a:r>
              <a:rPr lang="de-DE" sz="1451" dirty="0" err="1">
                <a:solidFill>
                  <a:srgbClr val="000000"/>
                </a:solidFill>
                <a:latin typeface="Arial Regular"/>
                <a:ea typeface="ＭＳ Ｐゴシック" pitchFamily="34"/>
                <a:cs typeface="MS Gothic" pitchFamily="49"/>
              </a:rPr>
              <a:t>Atmos</a:t>
            </a:r>
            <a:r>
              <a:rPr lang="de-DE" sz="1451" dirty="0">
                <a:solidFill>
                  <a:srgbClr val="000000"/>
                </a:solidFill>
                <a:latin typeface="Arial Regular"/>
                <a:ea typeface="ＭＳ Ｐゴシック" pitchFamily="34"/>
                <a:cs typeface="MS Gothic" pitchFamily="49"/>
              </a:rPr>
              <a:t> oder von Gesprächen in ruhigen Räumen. Wird z.B. beim Anstecker eingesetzt.</a:t>
            </a:r>
          </a:p>
        </p:txBody>
      </p:sp>
      <p:pic>
        <p:nvPicPr>
          <p:cNvPr id="4" name="Picture 3">
            <a:extLst>
              <a:ext uri="{FF2B5EF4-FFF2-40B4-BE49-F238E27FC236}">
                <a16:creationId xmlns:a16="http://schemas.microsoft.com/office/drawing/2014/main" id="{1946C7C4-3F5A-DF48-974B-850F7308530D}"/>
              </a:ext>
            </a:extLst>
          </p:cNvPr>
          <p:cNvPicPr>
            <a:picLocks noChangeAspect="1"/>
          </p:cNvPicPr>
          <p:nvPr/>
        </p:nvPicPr>
        <p:blipFill>
          <a:blip r:embed="rId3"/>
          <a:srcRect/>
          <a:stretch>
            <a:fillRect/>
          </a:stretch>
        </p:blipFill>
        <p:spPr>
          <a:xfrm>
            <a:off x="2913164" y="802369"/>
            <a:ext cx="4077971" cy="4077971"/>
          </a:xfrm>
          <a:prstGeom prst="rect">
            <a:avLst/>
          </a:prstGeom>
          <a:noFill/>
          <a:ln cap="flat">
            <a:noFill/>
          </a:ln>
          <a:effectLst>
            <a:outerShdw dist="23040" dir="5400000" algn="tl">
              <a:srgbClr val="000000">
                <a:alpha val="35000"/>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20">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E8882B5-2497-484C-A47E-38B621D4D7AD}"/>
              </a:ext>
            </a:extLst>
          </p:cNvPr>
          <p:cNvSpPr/>
          <p:nvPr/>
        </p:nvSpPr>
        <p:spPr>
          <a:xfrm>
            <a:off x="1530872" y="664239"/>
            <a:ext cx="831913"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Niere</a:t>
            </a:r>
          </a:p>
        </p:txBody>
      </p:sp>
      <p:sp>
        <p:nvSpPr>
          <p:cNvPr id="3" name="Rectangle 2">
            <a:extLst>
              <a:ext uri="{FF2B5EF4-FFF2-40B4-BE49-F238E27FC236}">
                <a16:creationId xmlns:a16="http://schemas.microsoft.com/office/drawing/2014/main" id="{D1C7DD57-144A-3746-945C-6A06D06BA2BC}"/>
              </a:ext>
            </a:extLst>
          </p:cNvPr>
          <p:cNvSpPr/>
          <p:nvPr/>
        </p:nvSpPr>
        <p:spPr>
          <a:xfrm>
            <a:off x="1323512" y="5088028"/>
            <a:ext cx="6704749" cy="1368777"/>
          </a:xfrm>
          <a:prstGeom prst="rect">
            <a:avLst/>
          </a:prstGeom>
          <a:noFill/>
          <a:ln cap="flat">
            <a:noFill/>
            <a:prstDash val="solid"/>
          </a:ln>
        </p:spPr>
        <p:txBody>
          <a:bodyPr vert="horz" wrap="square" lIns="81638" tIns="42452" rIns="81638" bIns="42452" anchor="t" anchorCtr="0" compatLnSpc="0">
            <a:spAutoFit/>
          </a:bodyPr>
          <a:lstStyle/>
          <a:p>
            <a:pPr algn="just"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1451" dirty="0">
                <a:solidFill>
                  <a:srgbClr val="000000"/>
                </a:solidFill>
                <a:latin typeface="Arial Regular"/>
                <a:ea typeface="ＭＳ Ｐゴシック" pitchFamily="34"/>
                <a:cs typeface="MS Gothic" pitchFamily="49"/>
              </a:rPr>
              <a:t>Mikrofon mit Richtcharakteristik, bei dem der Schall am stärksten von vorne aufgenommen wird. Schall von der Seite wird zu 50% aufgenommen, Schall von hinten wird ausgeblendet. Nierenmikrofone haben die geringsten Eigen-geräusche. Das Nierenmikrofon eignet sich für Interviews, Reportagen und Umfragen, bei denen die Umgebungsgeräusche weitgehend ausgeblendet werden sollen.</a:t>
            </a:r>
          </a:p>
        </p:txBody>
      </p:sp>
      <p:pic>
        <p:nvPicPr>
          <p:cNvPr id="4" name="Picture 3">
            <a:extLst>
              <a:ext uri="{FF2B5EF4-FFF2-40B4-BE49-F238E27FC236}">
                <a16:creationId xmlns:a16="http://schemas.microsoft.com/office/drawing/2014/main" id="{3BB7DC24-66EF-7C46-81F7-6D448BE4D383}"/>
              </a:ext>
            </a:extLst>
          </p:cNvPr>
          <p:cNvPicPr>
            <a:picLocks noChangeAspect="1"/>
          </p:cNvPicPr>
          <p:nvPr/>
        </p:nvPicPr>
        <p:blipFill>
          <a:blip r:embed="rId3"/>
          <a:srcRect/>
          <a:stretch>
            <a:fillRect/>
          </a:stretch>
        </p:blipFill>
        <p:spPr>
          <a:xfrm>
            <a:off x="2843935" y="802369"/>
            <a:ext cx="4077971" cy="4077971"/>
          </a:xfrm>
          <a:prstGeom prst="rect">
            <a:avLst/>
          </a:prstGeom>
          <a:noFill/>
          <a:ln cap="flat">
            <a:noFill/>
          </a:ln>
          <a:effectLst>
            <a:outerShdw dist="23040" dir="5400000" algn="tl">
              <a:srgbClr val="000000">
                <a:alpha val="35000"/>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21">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15E379-5C9C-1646-B558-6A6009DDFA50}"/>
              </a:ext>
            </a:extLst>
          </p:cNvPr>
          <p:cNvSpPr/>
          <p:nvPr/>
        </p:nvSpPr>
        <p:spPr>
          <a:xfrm>
            <a:off x="1530872" y="664239"/>
            <a:ext cx="1530437"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Superniere</a:t>
            </a:r>
          </a:p>
        </p:txBody>
      </p:sp>
      <p:sp>
        <p:nvSpPr>
          <p:cNvPr id="3" name="Rectangle 2">
            <a:extLst>
              <a:ext uri="{FF2B5EF4-FFF2-40B4-BE49-F238E27FC236}">
                <a16:creationId xmlns:a16="http://schemas.microsoft.com/office/drawing/2014/main" id="{DA068CB0-E04F-3447-9355-E59010E6B701}"/>
              </a:ext>
            </a:extLst>
          </p:cNvPr>
          <p:cNvSpPr/>
          <p:nvPr/>
        </p:nvSpPr>
        <p:spPr>
          <a:xfrm>
            <a:off x="1392414" y="5018799"/>
            <a:ext cx="6428160" cy="941096"/>
          </a:xfrm>
          <a:prstGeom prst="rect">
            <a:avLst/>
          </a:prstGeom>
          <a:noFill/>
          <a:ln cap="flat">
            <a:noFill/>
            <a:prstDash val="solid"/>
          </a:ln>
        </p:spPr>
        <p:txBody>
          <a:bodyPr vert="horz" wrap="square" lIns="81638" tIns="42452" rIns="81638" bIns="42452" anchor="t" anchorCtr="0" compatLnSpc="0">
            <a:spAutoFit/>
          </a:bodyPr>
          <a:lstStyle/>
          <a:p>
            <a:pPr algn="just"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1451" dirty="0">
                <a:solidFill>
                  <a:srgbClr val="000000"/>
                </a:solidFill>
                <a:latin typeface="Arial Regular"/>
                <a:ea typeface="ＭＳ Ｐゴシック" pitchFamily="34"/>
                <a:cs typeface="MS Gothic" pitchFamily="49"/>
              </a:rPr>
              <a:t>Auch </a:t>
            </a:r>
            <a:r>
              <a:rPr lang="de-DE" sz="1451" dirty="0" err="1">
                <a:solidFill>
                  <a:srgbClr val="000000"/>
                </a:solidFill>
                <a:latin typeface="Arial Regular"/>
                <a:ea typeface="ＭＳ Ｐゴシック" pitchFamily="34"/>
                <a:cs typeface="MS Gothic" pitchFamily="49"/>
              </a:rPr>
              <a:t>Superkardioid</a:t>
            </a:r>
            <a:r>
              <a:rPr lang="de-DE" sz="1451" dirty="0">
                <a:solidFill>
                  <a:srgbClr val="000000"/>
                </a:solidFill>
                <a:latin typeface="Arial Regular"/>
                <a:ea typeface="ＭＳ Ｐゴシック" pitchFamily="34"/>
                <a:cs typeface="MS Gothic" pitchFamily="49"/>
              </a:rPr>
              <a:t> genannt; Mikrofon mit stärkerer Richtcharakteristik als beim Nierenmikrofon. Schall wird vorzugsweise von vorne und weniger von der Seite aufgenommen. Schall, der von hinten auf das Mikrofon auftrifft, wird weitgehend ausgeblendet.</a:t>
            </a:r>
          </a:p>
        </p:txBody>
      </p:sp>
      <p:pic>
        <p:nvPicPr>
          <p:cNvPr id="4" name="Picture 3">
            <a:extLst>
              <a:ext uri="{FF2B5EF4-FFF2-40B4-BE49-F238E27FC236}">
                <a16:creationId xmlns:a16="http://schemas.microsoft.com/office/drawing/2014/main" id="{4DB2ED47-E65F-CE40-A8B5-7DAF37DA8143}"/>
              </a:ext>
            </a:extLst>
          </p:cNvPr>
          <p:cNvPicPr>
            <a:picLocks noChangeAspect="1"/>
          </p:cNvPicPr>
          <p:nvPr/>
        </p:nvPicPr>
        <p:blipFill>
          <a:blip r:embed="rId3"/>
          <a:srcRect/>
          <a:stretch>
            <a:fillRect/>
          </a:stretch>
        </p:blipFill>
        <p:spPr>
          <a:xfrm>
            <a:off x="3397112" y="802369"/>
            <a:ext cx="4077971" cy="4077971"/>
          </a:xfrm>
          <a:prstGeom prst="rect">
            <a:avLst/>
          </a:prstGeom>
          <a:noFill/>
          <a:ln cap="flat">
            <a:noFill/>
          </a:ln>
          <a:effectLst>
            <a:outerShdw dist="23040" dir="5400000" algn="tl">
              <a:srgbClr val="000000">
                <a:alpha val="35000"/>
              </a:srgb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22">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236C760-96B1-504C-8D4A-1E6557351C69}"/>
              </a:ext>
            </a:extLst>
          </p:cNvPr>
          <p:cNvSpPr/>
          <p:nvPr/>
        </p:nvSpPr>
        <p:spPr>
          <a:xfrm>
            <a:off x="1530873" y="664239"/>
            <a:ext cx="878784"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Keule</a:t>
            </a:r>
          </a:p>
        </p:txBody>
      </p:sp>
      <p:sp>
        <p:nvSpPr>
          <p:cNvPr id="3" name="Rectangle 2">
            <a:extLst>
              <a:ext uri="{FF2B5EF4-FFF2-40B4-BE49-F238E27FC236}">
                <a16:creationId xmlns:a16="http://schemas.microsoft.com/office/drawing/2014/main" id="{E638A562-5912-474B-9BDA-632B77C87E56}"/>
              </a:ext>
            </a:extLst>
          </p:cNvPr>
          <p:cNvSpPr/>
          <p:nvPr/>
        </p:nvSpPr>
        <p:spPr>
          <a:xfrm>
            <a:off x="977695" y="5018799"/>
            <a:ext cx="7326829" cy="1368777"/>
          </a:xfrm>
          <a:prstGeom prst="rect">
            <a:avLst/>
          </a:prstGeom>
          <a:noFill/>
          <a:ln cap="flat">
            <a:noFill/>
            <a:prstDash val="solid"/>
          </a:ln>
        </p:spPr>
        <p:txBody>
          <a:bodyPr vert="horz" wrap="square" lIns="81638" tIns="42452" rIns="81638" bIns="42452" anchor="t" anchorCtr="0" compatLnSpc="0">
            <a:spAutoFit/>
          </a:bodyPr>
          <a:lstStyle/>
          <a:p>
            <a:pPr algn="just"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1451" dirty="0">
                <a:solidFill>
                  <a:srgbClr val="000000"/>
                </a:solidFill>
                <a:latin typeface="Arial Regular"/>
                <a:ea typeface="ＭＳ Ｐゴシック" pitchFamily="34"/>
                <a:cs typeface="MS Gothic" pitchFamily="49"/>
              </a:rPr>
              <a:t>Auch „</a:t>
            </a:r>
            <a:r>
              <a:rPr lang="de-DE" sz="1451" dirty="0" err="1">
                <a:solidFill>
                  <a:srgbClr val="000000"/>
                </a:solidFill>
                <a:latin typeface="Arial Regular"/>
                <a:ea typeface="ＭＳ Ｐゴシック" pitchFamily="34"/>
                <a:cs typeface="MS Gothic" pitchFamily="49"/>
              </a:rPr>
              <a:t>Shotgun</a:t>
            </a:r>
            <a:r>
              <a:rPr lang="de-DE" sz="1451" dirty="0">
                <a:solidFill>
                  <a:srgbClr val="000000"/>
                </a:solidFill>
                <a:latin typeface="Arial Regular"/>
                <a:ea typeface="ＭＳ Ｐゴシック" pitchFamily="34"/>
                <a:cs typeface="MS Gothic" pitchFamily="49"/>
              </a:rPr>
              <a:t>“ oder „akustisches Teleobjektiv“ genannt; Mikrofon mit starker Richtcharakteristik, bei dem der Schall vorzugsweise von vorne und kaum von der Seite aufgenommen wird. Schall, der von hinten auf das Mikrofon auftrifft, wird nur wenig ausgeblendet. Wenn das Keulenmikrofon genau auf den Mund des Sprechers zielt, können auch aus größerer Entfernung laute Umgebungsgeräusche ausgeblendet werden. Nachteil: dünne, höhenbetonte Aufnahme.</a:t>
            </a:r>
          </a:p>
        </p:txBody>
      </p:sp>
      <p:pic>
        <p:nvPicPr>
          <p:cNvPr id="4" name="Picture 3">
            <a:extLst>
              <a:ext uri="{FF2B5EF4-FFF2-40B4-BE49-F238E27FC236}">
                <a16:creationId xmlns:a16="http://schemas.microsoft.com/office/drawing/2014/main" id="{F87F557C-191C-EA40-AB92-DC0F87CA6732}"/>
              </a:ext>
            </a:extLst>
          </p:cNvPr>
          <p:cNvPicPr>
            <a:picLocks noChangeAspect="1"/>
          </p:cNvPicPr>
          <p:nvPr/>
        </p:nvPicPr>
        <p:blipFill>
          <a:blip r:embed="rId3"/>
          <a:srcRect/>
          <a:stretch>
            <a:fillRect/>
          </a:stretch>
        </p:blipFill>
        <p:spPr>
          <a:xfrm>
            <a:off x="2775032" y="802369"/>
            <a:ext cx="4077971" cy="4077971"/>
          </a:xfrm>
          <a:prstGeom prst="rect">
            <a:avLst/>
          </a:prstGeom>
          <a:noFill/>
          <a:ln cap="flat">
            <a:noFill/>
          </a:ln>
          <a:effectLst>
            <a:outerShdw dist="23040" dir="5400000" algn="tl">
              <a:srgbClr val="000000">
                <a:alpha val="35000"/>
              </a:srgbClr>
            </a:outerShdw>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23">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1E6F9A-CA8F-5E44-92D7-D8DA2582E159}"/>
              </a:ext>
            </a:extLst>
          </p:cNvPr>
          <p:cNvSpPr/>
          <p:nvPr/>
        </p:nvSpPr>
        <p:spPr>
          <a:xfrm>
            <a:off x="1530872" y="664239"/>
            <a:ext cx="723421"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Acht</a:t>
            </a:r>
          </a:p>
        </p:txBody>
      </p:sp>
      <p:pic>
        <p:nvPicPr>
          <p:cNvPr id="3" name="Picture 2">
            <a:extLst>
              <a:ext uri="{FF2B5EF4-FFF2-40B4-BE49-F238E27FC236}">
                <a16:creationId xmlns:a16="http://schemas.microsoft.com/office/drawing/2014/main" id="{7C3C6022-50FF-1E4F-A3C0-38C2AAEDF264}"/>
              </a:ext>
            </a:extLst>
          </p:cNvPr>
          <p:cNvPicPr>
            <a:picLocks noChangeAspect="1"/>
          </p:cNvPicPr>
          <p:nvPr/>
        </p:nvPicPr>
        <p:blipFill>
          <a:blip r:embed="rId3"/>
          <a:srcRect/>
          <a:stretch>
            <a:fillRect/>
          </a:stretch>
        </p:blipFill>
        <p:spPr>
          <a:xfrm>
            <a:off x="2775031" y="802369"/>
            <a:ext cx="4147200" cy="4147200"/>
          </a:xfrm>
          <a:prstGeom prst="rect">
            <a:avLst/>
          </a:prstGeom>
          <a:noFill/>
          <a:ln cap="flat">
            <a:noFill/>
          </a:ln>
          <a:effectLst>
            <a:outerShdw dist="23040" dir="5400000" algn="tl">
              <a:srgbClr val="000000">
                <a:alpha val="35000"/>
              </a:srgbClr>
            </a:outerShdw>
          </a:effectLst>
        </p:spPr>
      </p:pic>
      <p:sp>
        <p:nvSpPr>
          <p:cNvPr id="4" name="Rectangle 3">
            <a:extLst>
              <a:ext uri="{FF2B5EF4-FFF2-40B4-BE49-F238E27FC236}">
                <a16:creationId xmlns:a16="http://schemas.microsoft.com/office/drawing/2014/main" id="{A0CE37C4-CDDA-AC43-B694-D9D1DDB62B04}"/>
              </a:ext>
            </a:extLst>
          </p:cNvPr>
          <p:cNvSpPr/>
          <p:nvPr/>
        </p:nvSpPr>
        <p:spPr>
          <a:xfrm>
            <a:off x="770334" y="5226159"/>
            <a:ext cx="7464960" cy="941096"/>
          </a:xfrm>
          <a:prstGeom prst="rect">
            <a:avLst/>
          </a:prstGeom>
          <a:noFill/>
          <a:ln cap="flat">
            <a:noFill/>
            <a:prstDash val="solid"/>
          </a:ln>
        </p:spPr>
        <p:txBody>
          <a:bodyPr vert="horz" wrap="square" lIns="81638" tIns="42452" rIns="81638" bIns="42452" anchor="t" anchorCtr="0" compatLnSpc="0">
            <a:spAutoFit/>
          </a:bodyPr>
          <a:lstStyle/>
          <a:p>
            <a:pPr algn="just"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1451" dirty="0">
                <a:solidFill>
                  <a:srgbClr val="000000"/>
                </a:solidFill>
                <a:latin typeface="Arial Regular"/>
                <a:ea typeface="ＭＳ Ｐゴシック" pitchFamily="34"/>
                <a:cs typeface="MS Gothic" pitchFamily="49"/>
              </a:rPr>
              <a:t>Eine bidirektionale Richtcharakteristik wird auch als "Acht" bezeichnet. Ein Mikrofon mit einer Acht (bzw. Achtcharakteristik) nimmt den Schall von vorne und hinten gleichermaßen laut und aus der Quer-Richtung nur geringfügig auf. Anzutreffen ist diese Charakteristik bei </a:t>
            </a:r>
            <a:r>
              <a:rPr lang="de-DE" sz="1451" dirty="0" err="1">
                <a:solidFill>
                  <a:srgbClr val="000000"/>
                </a:solidFill>
                <a:latin typeface="Arial Regular"/>
                <a:ea typeface="ＭＳ Ｐゴシック" pitchFamily="34"/>
                <a:cs typeface="MS Gothic" pitchFamily="49"/>
              </a:rPr>
              <a:t>Bändchenmikrofonen</a:t>
            </a:r>
            <a:r>
              <a:rPr lang="de-DE" sz="1451" dirty="0">
                <a:solidFill>
                  <a:srgbClr val="000000"/>
                </a:solidFill>
                <a:latin typeface="Arial Regular"/>
                <a:ea typeface="ＭＳ Ｐゴシック" pitchFamily="34"/>
                <a:cs typeface="MS Gothic" pitchFamily="49"/>
              </a:rPr>
              <a:t> oder auch Großmembran-Mikrofonen.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24">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2BA233-CEC6-7B46-AB6C-CB6D67A0A08A}"/>
              </a:ext>
            </a:extLst>
          </p:cNvPr>
          <p:cNvSpPr/>
          <p:nvPr/>
        </p:nvSpPr>
        <p:spPr>
          <a:xfrm>
            <a:off x="1530872" y="664239"/>
            <a:ext cx="3206281"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Laufzeit-/AB-Stereofonie</a:t>
            </a:r>
          </a:p>
        </p:txBody>
      </p:sp>
      <p:pic>
        <p:nvPicPr>
          <p:cNvPr id="3" name="Picture 2">
            <a:extLst>
              <a:ext uri="{FF2B5EF4-FFF2-40B4-BE49-F238E27FC236}">
                <a16:creationId xmlns:a16="http://schemas.microsoft.com/office/drawing/2014/main" id="{2A64BEF5-3149-6145-B824-0AC45AAA403F}"/>
              </a:ext>
            </a:extLst>
          </p:cNvPr>
          <p:cNvPicPr>
            <a:picLocks noChangeAspect="1"/>
          </p:cNvPicPr>
          <p:nvPr/>
        </p:nvPicPr>
        <p:blipFill>
          <a:blip r:embed="rId3"/>
          <a:srcRect/>
          <a:stretch>
            <a:fillRect/>
          </a:stretch>
        </p:blipFill>
        <p:spPr>
          <a:xfrm>
            <a:off x="1599775" y="1286319"/>
            <a:ext cx="4216429" cy="3944085"/>
          </a:xfrm>
          <a:prstGeom prst="rect">
            <a:avLst/>
          </a:prstGeom>
          <a:noFill/>
          <a:ln cap="flat">
            <a:noFill/>
          </a:ln>
          <a:effectLst>
            <a:outerShdw dist="23040" dir="5400000" algn="tl">
              <a:srgbClr val="000000">
                <a:alpha val="35000"/>
              </a:srgbClr>
            </a:outerShdw>
          </a:effectLst>
        </p:spPr>
      </p:pic>
      <p:sp>
        <p:nvSpPr>
          <p:cNvPr id="4" name="Rectangle 3">
            <a:extLst>
              <a:ext uri="{FF2B5EF4-FFF2-40B4-BE49-F238E27FC236}">
                <a16:creationId xmlns:a16="http://schemas.microsoft.com/office/drawing/2014/main" id="{2A430EFC-B800-A344-9CA5-E060E07EBACB}"/>
              </a:ext>
            </a:extLst>
          </p:cNvPr>
          <p:cNvSpPr/>
          <p:nvPr/>
        </p:nvSpPr>
        <p:spPr>
          <a:xfrm>
            <a:off x="977695" y="5433519"/>
            <a:ext cx="7464960" cy="941096"/>
          </a:xfrm>
          <a:prstGeom prst="rect">
            <a:avLst/>
          </a:prstGeom>
          <a:noFill/>
          <a:ln cap="flat">
            <a:noFill/>
            <a:prstDash val="solid"/>
          </a:ln>
        </p:spPr>
        <p:txBody>
          <a:bodyPr vert="horz" wrap="square" lIns="81638" tIns="42452" rIns="81638" bIns="42452" anchor="t" anchorCtr="0" compatLnSpc="0">
            <a:spAutoFit/>
          </a:bodyPr>
          <a:lstStyle/>
          <a:p>
            <a:pPr algn="just"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1451" dirty="0">
                <a:solidFill>
                  <a:srgbClr val="000000"/>
                </a:solidFill>
                <a:latin typeface="Arial Regular"/>
                <a:ea typeface="ＭＳ Ｐゴシック" pitchFamily="34"/>
                <a:cs typeface="MS Gothic" pitchFamily="49"/>
              </a:rPr>
              <a:t>Die Laufzeitstereofonie verwendet zwei Mikrofone, die in einem gewissen Abstand zueinander vor dem Klangkörper platziert werden. Durch die Laufzeitdifferenz der Schallsignale ergeben sich Zeitunterschiede, die beim Hören dann eine Richtungswahr-</a:t>
            </a:r>
            <a:r>
              <a:rPr lang="de-DE" sz="1451" dirty="0" err="1">
                <a:solidFill>
                  <a:srgbClr val="000000"/>
                </a:solidFill>
                <a:latin typeface="Arial Regular"/>
                <a:ea typeface="ＭＳ Ｐゴシック" pitchFamily="34"/>
                <a:cs typeface="MS Gothic" pitchFamily="49"/>
              </a:rPr>
              <a:t>nehmung</a:t>
            </a:r>
            <a:r>
              <a:rPr lang="de-DE" sz="1451" dirty="0">
                <a:solidFill>
                  <a:srgbClr val="000000"/>
                </a:solidFill>
                <a:latin typeface="Arial Regular"/>
                <a:ea typeface="ＭＳ Ｐゴシック" pitchFamily="34"/>
                <a:cs typeface="MS Gothic" pitchFamily="49"/>
              </a:rPr>
              <a:t> verursachen.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25">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DF17BA-5343-9643-B7AD-59A416CA1853}"/>
              </a:ext>
            </a:extLst>
          </p:cNvPr>
          <p:cNvSpPr/>
          <p:nvPr/>
        </p:nvSpPr>
        <p:spPr>
          <a:xfrm>
            <a:off x="701432" y="719106"/>
            <a:ext cx="3475392"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Intensitäts-/XY-Stereofonie</a:t>
            </a:r>
          </a:p>
        </p:txBody>
      </p:sp>
      <p:pic>
        <p:nvPicPr>
          <p:cNvPr id="3" name="Picture 2">
            <a:extLst>
              <a:ext uri="{FF2B5EF4-FFF2-40B4-BE49-F238E27FC236}">
                <a16:creationId xmlns:a16="http://schemas.microsoft.com/office/drawing/2014/main" id="{930D471E-B10F-A740-A066-AC4EE4964916}"/>
              </a:ext>
            </a:extLst>
          </p:cNvPr>
          <p:cNvPicPr>
            <a:picLocks noChangeAspect="1"/>
          </p:cNvPicPr>
          <p:nvPr/>
        </p:nvPicPr>
        <p:blipFill>
          <a:blip r:embed="rId3"/>
          <a:srcRect/>
          <a:stretch>
            <a:fillRect/>
          </a:stretch>
        </p:blipFill>
        <p:spPr>
          <a:xfrm>
            <a:off x="701432" y="1250614"/>
            <a:ext cx="4147200" cy="4196183"/>
          </a:xfrm>
          <a:prstGeom prst="rect">
            <a:avLst/>
          </a:prstGeom>
          <a:noFill/>
          <a:ln cap="flat">
            <a:noFill/>
          </a:ln>
          <a:effectLst>
            <a:outerShdw dist="23040" dir="5400000" algn="tl">
              <a:srgbClr val="000000">
                <a:alpha val="35000"/>
              </a:srgbClr>
            </a:outerShdw>
          </a:effectLst>
        </p:spPr>
      </p:pic>
      <p:sp>
        <p:nvSpPr>
          <p:cNvPr id="4" name="Rectangle 3">
            <a:extLst>
              <a:ext uri="{FF2B5EF4-FFF2-40B4-BE49-F238E27FC236}">
                <a16:creationId xmlns:a16="http://schemas.microsoft.com/office/drawing/2014/main" id="{3597311A-3AB8-1F45-9117-A794C063D8B0}"/>
              </a:ext>
            </a:extLst>
          </p:cNvPr>
          <p:cNvSpPr/>
          <p:nvPr/>
        </p:nvSpPr>
        <p:spPr>
          <a:xfrm>
            <a:off x="701432" y="5571650"/>
            <a:ext cx="7672320" cy="941096"/>
          </a:xfrm>
          <a:prstGeom prst="rect">
            <a:avLst/>
          </a:prstGeom>
          <a:noFill/>
          <a:ln cap="flat">
            <a:noFill/>
            <a:prstDash val="solid"/>
          </a:ln>
        </p:spPr>
        <p:txBody>
          <a:bodyPr vert="horz" wrap="square" lIns="81638" tIns="42452" rIns="81638" bIns="42452" anchor="t" anchorCtr="0" compatLnSpc="0">
            <a:spAutoFit/>
          </a:bodyPr>
          <a:lstStyle/>
          <a:p>
            <a:pPr algn="just"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1451" dirty="0">
                <a:solidFill>
                  <a:srgbClr val="000000"/>
                </a:solidFill>
                <a:latin typeface="Arial Regular"/>
                <a:ea typeface="ＭＳ Ｐゴシック" pitchFamily="34"/>
                <a:cs typeface="MS Gothic" pitchFamily="49"/>
              </a:rPr>
              <a:t>Pegeldifferenzstereofonie wird mit 2 gleichen Mikrofonen bzw. Mikrofonkapseln realisiert, die aufgrund ihrer Richtwirkung Pegelunterschiede zwischen den Kanälen verursachen. Dabei werden die beiden Kapseln möglichst nahe übereinander mit unterschiedlichen Winkeln ausgerichtet. Der Schall erreicht beide Kapseln gleichzeitig (koinzident).</a:t>
            </a:r>
          </a:p>
        </p:txBody>
      </p:sp>
      <p:pic>
        <p:nvPicPr>
          <p:cNvPr id="5" name="Picture 4">
            <a:extLst>
              <a:ext uri="{FF2B5EF4-FFF2-40B4-BE49-F238E27FC236}">
                <a16:creationId xmlns:a16="http://schemas.microsoft.com/office/drawing/2014/main" id="{328A9CA8-EAC1-D24D-A3BA-D0A13EC66B6D}"/>
              </a:ext>
            </a:extLst>
          </p:cNvPr>
          <p:cNvPicPr>
            <a:picLocks noChangeAspect="1"/>
          </p:cNvPicPr>
          <p:nvPr/>
        </p:nvPicPr>
        <p:blipFill>
          <a:blip r:embed="rId4"/>
          <a:srcRect/>
          <a:stretch>
            <a:fillRect/>
          </a:stretch>
        </p:blipFill>
        <p:spPr>
          <a:xfrm>
            <a:off x="5292080" y="3075654"/>
            <a:ext cx="3316454" cy="2361618"/>
          </a:xfrm>
          <a:prstGeom prst="rect">
            <a:avLst/>
          </a:prstGeom>
          <a:noFill/>
          <a:ln cap="flat">
            <a:noFill/>
          </a:ln>
          <a:effectLst>
            <a:outerShdw dist="23040" dir="5400000" algn="tl">
              <a:srgbClr val="000000">
                <a:alpha val="35000"/>
              </a:srgbClr>
            </a:outerShdw>
          </a:effectLst>
        </p:spPr>
      </p:pic>
      <p:pic>
        <p:nvPicPr>
          <p:cNvPr id="6" name="Picture 2">
            <a:extLst>
              <a:ext uri="{FF2B5EF4-FFF2-40B4-BE49-F238E27FC236}">
                <a16:creationId xmlns:a16="http://schemas.microsoft.com/office/drawing/2014/main" id="{66C60834-4131-F54F-9D37-BC978A44981D}"/>
              </a:ext>
            </a:extLst>
          </p:cNvPr>
          <p:cNvPicPr>
            <a:picLocks noChangeAspect="1"/>
          </p:cNvPicPr>
          <p:nvPr/>
        </p:nvPicPr>
        <p:blipFill>
          <a:blip r:embed="rId5"/>
          <a:srcRect/>
          <a:stretch>
            <a:fillRect/>
          </a:stretch>
        </p:blipFill>
        <p:spPr>
          <a:xfrm>
            <a:off x="5580112" y="100230"/>
            <a:ext cx="2626681" cy="2664296"/>
          </a:xfrm>
          <a:prstGeom prst="rect">
            <a:avLst/>
          </a:prstGeom>
          <a:noFill/>
          <a:ln cap="flat">
            <a:noFill/>
          </a:ln>
          <a:effectLst>
            <a:outerShdw dist="23040" dir="5400000" algn="tl">
              <a:srgbClr val="000000">
                <a:alpha val="35000"/>
              </a:srgbClr>
            </a:outerShdw>
          </a:effectLst>
        </p:spPr>
      </p:pic>
      <p:sp>
        <p:nvSpPr>
          <p:cNvPr id="7" name="Rectangle 3">
            <a:extLst>
              <a:ext uri="{FF2B5EF4-FFF2-40B4-BE49-F238E27FC236}">
                <a16:creationId xmlns:a16="http://schemas.microsoft.com/office/drawing/2014/main" id="{5C5B9933-5BE1-EF45-AA29-D47EAA43B203}"/>
              </a:ext>
            </a:extLst>
          </p:cNvPr>
          <p:cNvSpPr/>
          <p:nvPr/>
        </p:nvSpPr>
        <p:spPr>
          <a:xfrm>
            <a:off x="4952748" y="2764526"/>
            <a:ext cx="4216429" cy="327531"/>
          </a:xfrm>
          <a:prstGeom prst="rect">
            <a:avLst/>
          </a:prstGeom>
          <a:noFill/>
          <a:ln cap="flat">
            <a:noFill/>
            <a:prstDash val="solid"/>
          </a:ln>
        </p:spPr>
        <p:txBody>
          <a:bodyPr vert="horz" wrap="squar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1451" dirty="0">
                <a:solidFill>
                  <a:srgbClr val="000000"/>
                </a:solidFill>
                <a:latin typeface="Arial Regular"/>
                <a:ea typeface="ＭＳ Ｐゴシック" pitchFamily="34"/>
                <a:cs typeface="MS Gothic" pitchFamily="49"/>
              </a:rPr>
              <a:t>zwei Nieren mit einem Öffnungswinkel von 90°</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27">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304258-2E54-0643-8CA3-C102AC37F20A}"/>
              </a:ext>
            </a:extLst>
          </p:cNvPr>
          <p:cNvSpPr/>
          <p:nvPr/>
        </p:nvSpPr>
        <p:spPr>
          <a:xfrm>
            <a:off x="1530873" y="664239"/>
            <a:ext cx="2615991"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err="1">
                <a:solidFill>
                  <a:srgbClr val="000000"/>
                </a:solidFill>
                <a:latin typeface="Arial Regular"/>
                <a:ea typeface="ＭＳ Ｐゴシック" pitchFamily="34"/>
                <a:cs typeface="MS Gothic" pitchFamily="49"/>
              </a:rPr>
              <a:t>Blumlein-Mikrofonie</a:t>
            </a:r>
            <a:endParaRPr lang="de-DE" sz="2177" dirty="0">
              <a:solidFill>
                <a:srgbClr val="000000"/>
              </a:solidFill>
              <a:latin typeface="Arial Regular"/>
              <a:ea typeface="ＭＳ Ｐゴシック" pitchFamily="34"/>
              <a:cs typeface="MS Gothic" pitchFamily="49"/>
            </a:endParaRPr>
          </a:p>
        </p:txBody>
      </p:sp>
      <p:pic>
        <p:nvPicPr>
          <p:cNvPr id="3" name="Picture 2">
            <a:extLst>
              <a:ext uri="{FF2B5EF4-FFF2-40B4-BE49-F238E27FC236}">
                <a16:creationId xmlns:a16="http://schemas.microsoft.com/office/drawing/2014/main" id="{219D1C8D-01AD-1A45-AB25-B212B0C4D187}"/>
              </a:ext>
            </a:extLst>
          </p:cNvPr>
          <p:cNvPicPr>
            <a:picLocks noChangeAspect="1"/>
          </p:cNvPicPr>
          <p:nvPr/>
        </p:nvPicPr>
        <p:blipFill>
          <a:blip r:embed="rId3"/>
          <a:srcRect/>
          <a:stretch>
            <a:fillRect/>
          </a:stretch>
        </p:blipFill>
        <p:spPr>
          <a:xfrm>
            <a:off x="1599775" y="1286319"/>
            <a:ext cx="4354560" cy="4221980"/>
          </a:xfrm>
          <a:prstGeom prst="rect">
            <a:avLst/>
          </a:prstGeom>
          <a:noFill/>
          <a:ln cap="flat">
            <a:noFill/>
          </a:ln>
          <a:effectLst>
            <a:outerShdw dist="23040" dir="5400000" algn="tl">
              <a:srgbClr val="000000">
                <a:alpha val="35000"/>
              </a:srgbClr>
            </a:outerShdw>
          </a:effectLst>
        </p:spPr>
      </p:pic>
      <p:sp>
        <p:nvSpPr>
          <p:cNvPr id="4" name="Rectangle 3">
            <a:extLst>
              <a:ext uri="{FF2B5EF4-FFF2-40B4-BE49-F238E27FC236}">
                <a16:creationId xmlns:a16="http://schemas.microsoft.com/office/drawing/2014/main" id="{EA9F02F6-F870-FD49-942D-57F33D826178}"/>
              </a:ext>
            </a:extLst>
          </p:cNvPr>
          <p:cNvSpPr/>
          <p:nvPr/>
        </p:nvSpPr>
        <p:spPr>
          <a:xfrm>
            <a:off x="1599775" y="5848238"/>
            <a:ext cx="4570410" cy="327531"/>
          </a:xfrm>
          <a:prstGeom prst="rect">
            <a:avLst/>
          </a:prstGeom>
          <a:noFill/>
          <a:ln cap="flat">
            <a:noFill/>
            <a:prstDash val="solid"/>
          </a:ln>
        </p:spPr>
        <p:txBody>
          <a:bodyPr vert="horz" wrap="squar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1451" dirty="0">
                <a:solidFill>
                  <a:srgbClr val="000000"/>
                </a:solidFill>
                <a:latin typeface="Arial Regular"/>
                <a:ea typeface="ＭＳ Ｐゴシック" pitchFamily="34"/>
                <a:cs typeface="MS Gothic" pitchFamily="49"/>
              </a:rPr>
              <a:t>zwei Achten mit einem Öffnungswinkel von 90°</a:t>
            </a:r>
          </a:p>
        </p:txBody>
      </p:sp>
      <p:pic>
        <p:nvPicPr>
          <p:cNvPr id="5" name="Picture 4">
            <a:extLst>
              <a:ext uri="{FF2B5EF4-FFF2-40B4-BE49-F238E27FC236}">
                <a16:creationId xmlns:a16="http://schemas.microsoft.com/office/drawing/2014/main" id="{79221B0D-8B2D-B340-88BF-409A4FBBFECE}"/>
              </a:ext>
            </a:extLst>
          </p:cNvPr>
          <p:cNvPicPr>
            <a:picLocks noChangeAspect="1"/>
          </p:cNvPicPr>
          <p:nvPr/>
        </p:nvPicPr>
        <p:blipFill>
          <a:blip r:embed="rId4"/>
          <a:srcRect/>
          <a:stretch>
            <a:fillRect/>
          </a:stretch>
        </p:blipFill>
        <p:spPr>
          <a:xfrm>
            <a:off x="5954335" y="1908400"/>
            <a:ext cx="2967696" cy="2626450"/>
          </a:xfrm>
          <a:prstGeom prst="rect">
            <a:avLst/>
          </a:prstGeom>
          <a:noFill/>
          <a:ln cap="flat">
            <a:noFill/>
          </a:ln>
          <a:effectLst>
            <a:outerShdw dist="23040" dir="5400000" algn="tl">
              <a:srgbClr val="000000">
                <a:alpha val="35000"/>
              </a:srgbClr>
            </a:outerShdw>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28">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1C6FC14-CD3D-EC49-A0B0-B31DA6F60A78}"/>
              </a:ext>
            </a:extLst>
          </p:cNvPr>
          <p:cNvSpPr/>
          <p:nvPr/>
        </p:nvSpPr>
        <p:spPr>
          <a:xfrm>
            <a:off x="1530873" y="664239"/>
            <a:ext cx="1964274" cy="782462"/>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MS-</a:t>
            </a:r>
            <a:r>
              <a:rPr lang="de-DE" sz="2177" dirty="0" err="1">
                <a:solidFill>
                  <a:srgbClr val="000000"/>
                </a:solidFill>
                <a:latin typeface="Arial Regular"/>
                <a:ea typeface="ＭＳ Ｐゴシック" pitchFamily="34"/>
                <a:cs typeface="MS Gothic" pitchFamily="49"/>
              </a:rPr>
              <a:t>Mikrofonie</a:t>
            </a:r>
            <a:br>
              <a:rPr lang="de-DE" sz="2177" dirty="0">
                <a:solidFill>
                  <a:srgbClr val="000000"/>
                </a:solidFill>
                <a:latin typeface="Arial Regular"/>
                <a:ea typeface="ＭＳ Ｐゴシック" pitchFamily="34"/>
                <a:cs typeface="MS Gothic" pitchFamily="49"/>
              </a:rPr>
            </a:br>
            <a:r>
              <a:rPr lang="de-DE" sz="2177" dirty="0">
                <a:solidFill>
                  <a:srgbClr val="000000"/>
                </a:solidFill>
                <a:latin typeface="Arial Regular"/>
                <a:ea typeface="ＭＳ Ｐゴシック" pitchFamily="34"/>
                <a:cs typeface="MS Gothic" pitchFamily="49"/>
              </a:rPr>
              <a:t>(</a:t>
            </a:r>
            <a:r>
              <a:rPr lang="de-AT" sz="2400" dirty="0"/>
              <a:t>Mid/Side) </a:t>
            </a:r>
            <a:endParaRPr lang="de-DE" sz="2177" dirty="0">
              <a:solidFill>
                <a:srgbClr val="000000"/>
              </a:solidFill>
              <a:latin typeface="Arial Regular"/>
              <a:ea typeface="ＭＳ Ｐゴシック" pitchFamily="34"/>
              <a:cs typeface="MS Gothic" pitchFamily="49"/>
            </a:endParaRPr>
          </a:p>
        </p:txBody>
      </p:sp>
      <p:pic>
        <p:nvPicPr>
          <p:cNvPr id="3" name="Picture 2">
            <a:extLst>
              <a:ext uri="{FF2B5EF4-FFF2-40B4-BE49-F238E27FC236}">
                <a16:creationId xmlns:a16="http://schemas.microsoft.com/office/drawing/2014/main" id="{D036739F-2000-FC41-8B54-8252F86FD11D}"/>
              </a:ext>
            </a:extLst>
          </p:cNvPr>
          <p:cNvPicPr>
            <a:picLocks noChangeAspect="1"/>
          </p:cNvPicPr>
          <p:nvPr/>
        </p:nvPicPr>
        <p:blipFill>
          <a:blip r:embed="rId3"/>
          <a:srcRect/>
          <a:stretch>
            <a:fillRect/>
          </a:stretch>
        </p:blipFill>
        <p:spPr>
          <a:xfrm>
            <a:off x="4433912" y="318748"/>
            <a:ext cx="3106155" cy="6202186"/>
          </a:xfrm>
          <a:prstGeom prst="rect">
            <a:avLst/>
          </a:prstGeom>
          <a:noFill/>
          <a:ln cap="flat">
            <a:noFill/>
          </a:ln>
          <a:effectLst>
            <a:outerShdw dist="23040" dir="5400000" algn="tl">
              <a:srgbClr val="000000">
                <a:alpha val="35000"/>
              </a:srgbClr>
            </a:outerShdw>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29">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AE6763-9952-6145-A459-C13ABBC31BF0}"/>
              </a:ext>
            </a:extLst>
          </p:cNvPr>
          <p:cNvSpPr/>
          <p:nvPr/>
        </p:nvSpPr>
        <p:spPr>
          <a:xfrm>
            <a:off x="1530873" y="664239"/>
            <a:ext cx="3284058"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Äquivalenz-Stereophonie</a:t>
            </a:r>
          </a:p>
        </p:txBody>
      </p:sp>
      <p:pic>
        <p:nvPicPr>
          <p:cNvPr id="3" name="Picture 2">
            <a:extLst>
              <a:ext uri="{FF2B5EF4-FFF2-40B4-BE49-F238E27FC236}">
                <a16:creationId xmlns:a16="http://schemas.microsoft.com/office/drawing/2014/main" id="{F12D9B92-40D5-E74D-930C-FC8D1FC557A1}"/>
              </a:ext>
            </a:extLst>
          </p:cNvPr>
          <p:cNvPicPr>
            <a:picLocks noChangeAspect="1"/>
          </p:cNvPicPr>
          <p:nvPr/>
        </p:nvPicPr>
        <p:blipFill>
          <a:blip r:embed="rId3"/>
          <a:srcRect/>
          <a:stretch>
            <a:fillRect/>
          </a:stretch>
        </p:blipFill>
        <p:spPr>
          <a:xfrm>
            <a:off x="1530873" y="1562908"/>
            <a:ext cx="6290028" cy="3575409"/>
          </a:xfrm>
          <a:prstGeom prst="rect">
            <a:avLst/>
          </a:prstGeom>
          <a:noFill/>
          <a:ln cap="flat">
            <a:noFill/>
          </a:ln>
          <a:effectLst>
            <a:outerShdw dist="23040" dir="5400000" algn="tl">
              <a:srgbClr val="000000">
                <a:alpha val="35000"/>
              </a:srgbClr>
            </a:outerShdw>
          </a:effectLst>
        </p:spPr>
      </p:pic>
      <p:sp>
        <p:nvSpPr>
          <p:cNvPr id="4" name="Rectangle 3">
            <a:extLst>
              <a:ext uri="{FF2B5EF4-FFF2-40B4-BE49-F238E27FC236}">
                <a16:creationId xmlns:a16="http://schemas.microsoft.com/office/drawing/2014/main" id="{5EE997C6-251E-F64D-B9F9-F414E1C95619}"/>
              </a:ext>
            </a:extLst>
          </p:cNvPr>
          <p:cNvSpPr/>
          <p:nvPr/>
        </p:nvSpPr>
        <p:spPr>
          <a:xfrm>
            <a:off x="1530872" y="5364290"/>
            <a:ext cx="3460463" cy="755212"/>
          </a:xfrm>
          <a:prstGeom prst="rect">
            <a:avLst/>
          </a:prstGeom>
          <a:noFill/>
          <a:ln cap="flat">
            <a:noFill/>
            <a:prstDash val="solid"/>
          </a:ln>
        </p:spPr>
        <p:txBody>
          <a:bodyPr vert="horz" wrap="squar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1451" dirty="0">
                <a:solidFill>
                  <a:srgbClr val="000000"/>
                </a:solidFill>
                <a:latin typeface="Arial Regular"/>
                <a:ea typeface="ＭＳ Ｐゴシック" pitchFamily="34"/>
                <a:cs typeface="MS Gothic" pitchFamily="49"/>
              </a:rPr>
              <a:t>17 cm bei 110°, Aufnahmewinkel 96°,</a:t>
            </a:r>
          </a:p>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1451" dirty="0">
                <a:solidFill>
                  <a:srgbClr val="000000"/>
                </a:solidFill>
                <a:latin typeface="Arial Regular"/>
                <a:ea typeface="ＭＳ Ｐゴシック" pitchFamily="34"/>
                <a:cs typeface="MS Gothic" pitchFamily="49"/>
              </a:rPr>
              <a:t>Pegeldifferenz = 8,2 dB (60%),</a:t>
            </a:r>
          </a:p>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1451" dirty="0">
                <a:solidFill>
                  <a:srgbClr val="000000"/>
                </a:solidFill>
                <a:latin typeface="Arial Regular"/>
                <a:ea typeface="ＭＳ Ｐゴシック" pitchFamily="34"/>
                <a:cs typeface="MS Gothic" pitchFamily="49"/>
              </a:rPr>
              <a:t>Laufzeitdifferenz = 0,368 </a:t>
            </a:r>
            <a:r>
              <a:rPr lang="de-DE" sz="1451" dirty="0" err="1">
                <a:solidFill>
                  <a:srgbClr val="000000"/>
                </a:solidFill>
                <a:latin typeface="Arial Regular"/>
                <a:ea typeface="ＭＳ Ｐゴシック" pitchFamily="34"/>
                <a:cs typeface="MS Gothic" pitchFamily="49"/>
              </a:rPr>
              <a:t>ms</a:t>
            </a:r>
            <a:r>
              <a:rPr lang="de-DE" sz="1451" dirty="0">
                <a:solidFill>
                  <a:srgbClr val="000000"/>
                </a:solidFill>
                <a:latin typeface="Arial Regular"/>
                <a:ea typeface="ＭＳ Ｐゴシック" pitchFamily="34"/>
                <a:cs typeface="MS Gothic" pitchFamily="49"/>
              </a:rPr>
              <a:t> (40%)</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30">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2168163-6E9B-1A48-9DCB-5DBF26D7DC19}"/>
              </a:ext>
            </a:extLst>
          </p:cNvPr>
          <p:cNvSpPr/>
          <p:nvPr/>
        </p:nvSpPr>
        <p:spPr>
          <a:xfrm>
            <a:off x="1235670" y="472554"/>
            <a:ext cx="1359813"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3:1 Regel</a:t>
            </a:r>
          </a:p>
        </p:txBody>
      </p:sp>
      <p:pic>
        <p:nvPicPr>
          <p:cNvPr id="3" name="Picture 2">
            <a:extLst>
              <a:ext uri="{FF2B5EF4-FFF2-40B4-BE49-F238E27FC236}">
                <a16:creationId xmlns:a16="http://schemas.microsoft.com/office/drawing/2014/main" id="{C3F9E07D-B95B-0C49-851C-6FD007A67EE4}"/>
              </a:ext>
            </a:extLst>
          </p:cNvPr>
          <p:cNvPicPr>
            <a:picLocks noChangeAspect="1"/>
          </p:cNvPicPr>
          <p:nvPr/>
        </p:nvPicPr>
        <p:blipFill>
          <a:blip r:embed="rId3"/>
          <a:srcRect/>
          <a:stretch>
            <a:fillRect/>
          </a:stretch>
        </p:blipFill>
        <p:spPr>
          <a:xfrm>
            <a:off x="1235670" y="2154619"/>
            <a:ext cx="6497389" cy="3656067"/>
          </a:xfrm>
          <a:prstGeom prst="rect">
            <a:avLst/>
          </a:prstGeom>
          <a:noFill/>
          <a:ln cap="flat">
            <a:noFill/>
          </a:ln>
          <a:effectLst>
            <a:outerShdw dist="23040" dir="5400000" algn="tl">
              <a:srgbClr val="000000">
                <a:alpha val="35000"/>
              </a:srgbClr>
            </a:outerShdw>
          </a:effectLst>
        </p:spPr>
      </p:pic>
      <p:sp>
        <p:nvSpPr>
          <p:cNvPr id="4" name="Rechteck 1">
            <a:extLst>
              <a:ext uri="{FF2B5EF4-FFF2-40B4-BE49-F238E27FC236}">
                <a16:creationId xmlns:a16="http://schemas.microsoft.com/office/drawing/2014/main" id="{9012F671-2BEF-2E4F-AE3B-3AA93D40E62C}"/>
              </a:ext>
            </a:extLst>
          </p:cNvPr>
          <p:cNvSpPr/>
          <p:nvPr/>
        </p:nvSpPr>
        <p:spPr>
          <a:xfrm>
            <a:off x="1241221" y="1142310"/>
            <a:ext cx="7233109" cy="1207138"/>
          </a:xfrm>
          <a:prstGeom prst="rect">
            <a:avLst/>
          </a:prstGeom>
          <a:noFill/>
          <a:ln cap="flat">
            <a:noFill/>
            <a:prstDash val="solid"/>
          </a:ln>
        </p:spPr>
        <p:txBody>
          <a:bodyPr vert="horz" wrap="square" lIns="82944" tIns="41472" rIns="82944" bIns="41472" anchor="t" anchorCtr="0" compatLnSpc="0">
            <a:spAutoFit/>
          </a:bodyPr>
          <a:lstStyle/>
          <a:p>
            <a:pPr hangingPunct="0"/>
            <a:r>
              <a:rPr lang="de-DE" sz="1270" dirty="0">
                <a:solidFill>
                  <a:srgbClr val="000000"/>
                </a:solidFill>
                <a:latin typeface="Arial Regular"/>
                <a:ea typeface="ＭＳ Ｐゴシック" pitchFamily="34"/>
                <a:cs typeface="MS Gothic" pitchFamily="2"/>
              </a:rPr>
              <a:t>„Die 3:1-Regel (Drei-zu-eins-Regel) für die Mikrofonaufstellung zur Minimierung von hörbaren Kammfiltereffekten lautet: Hat ein Instrument einen bestimmten Abstand zu einem Mikrofon, so soll das nächste Mikrofon, das dieses Instrument auch aufnimmt, mindestens das Dreifache dieses Abstands vom ersten Mikrofon haben.“</a:t>
            </a:r>
          </a:p>
          <a:p>
            <a:pPr hangingPunct="0"/>
            <a:r>
              <a:rPr lang="de-DE" sz="1270" dirty="0">
                <a:solidFill>
                  <a:srgbClr val="000000"/>
                </a:solidFill>
                <a:latin typeface="Arial Regular"/>
                <a:ea typeface="ＭＳ Ｐゴシック" pitchFamily="34"/>
                <a:cs typeface="MS Gothic" pitchFamily="2"/>
              </a:rPr>
              <a:t>https://</a:t>
            </a:r>
            <a:r>
              <a:rPr lang="de-DE" sz="1270" dirty="0" err="1">
                <a:solidFill>
                  <a:srgbClr val="000000"/>
                </a:solidFill>
                <a:latin typeface="Arial Regular"/>
                <a:ea typeface="ＭＳ Ｐゴシック" pitchFamily="34"/>
                <a:cs typeface="MS Gothic" pitchFamily="2"/>
              </a:rPr>
              <a:t>de.wikipedia.org</a:t>
            </a:r>
            <a:r>
              <a:rPr lang="de-DE" sz="1270" dirty="0">
                <a:solidFill>
                  <a:srgbClr val="000000"/>
                </a:solidFill>
                <a:latin typeface="Arial Regular"/>
                <a:ea typeface="ＭＳ Ｐゴシック" pitchFamily="34"/>
                <a:cs typeface="MS Gothic" pitchFamily="2"/>
              </a:rPr>
              <a:t>/</a:t>
            </a:r>
            <a:r>
              <a:rPr lang="de-DE" sz="1270" dirty="0" err="1">
                <a:solidFill>
                  <a:srgbClr val="000000"/>
                </a:solidFill>
                <a:latin typeface="Arial Regular"/>
                <a:ea typeface="ＭＳ Ｐゴシック" pitchFamily="34"/>
                <a:cs typeface="MS Gothic" pitchFamily="2"/>
              </a:rPr>
              <a:t>wiki</a:t>
            </a:r>
            <a:r>
              <a:rPr lang="de-DE" sz="1270" dirty="0">
                <a:solidFill>
                  <a:srgbClr val="000000"/>
                </a:solidFill>
                <a:latin typeface="Arial Regular"/>
                <a:ea typeface="ＭＳ Ｐゴシック" pitchFamily="34"/>
                <a:cs typeface="MS Gothic" pitchFamily="2"/>
              </a:rPr>
              <a:t>/Drei-zu-eins-Regel</a:t>
            </a:r>
          </a:p>
          <a:p>
            <a:pPr hangingPunct="0"/>
            <a:endParaRPr lang="de-DE" sz="1270" dirty="0">
              <a:solidFill>
                <a:srgbClr val="000000"/>
              </a:solidFill>
              <a:latin typeface="Arial Regular"/>
              <a:ea typeface="ＭＳ Ｐゴシック" pitchFamily="34"/>
              <a:cs typeface="MS Gothic" pitchFamily="2"/>
            </a:endParaRPr>
          </a:p>
        </p:txBody>
      </p:sp>
      <p:sp>
        <p:nvSpPr>
          <p:cNvPr id="5" name="Rechteck 2">
            <a:extLst>
              <a:ext uri="{FF2B5EF4-FFF2-40B4-BE49-F238E27FC236}">
                <a16:creationId xmlns:a16="http://schemas.microsoft.com/office/drawing/2014/main" id="{F75988BE-9972-8342-818E-37CFDDD23569}"/>
              </a:ext>
            </a:extLst>
          </p:cNvPr>
          <p:cNvSpPr/>
          <p:nvPr/>
        </p:nvSpPr>
        <p:spPr>
          <a:xfrm>
            <a:off x="905853" y="5810686"/>
            <a:ext cx="7902865" cy="832677"/>
          </a:xfrm>
          <a:prstGeom prst="rect">
            <a:avLst/>
          </a:prstGeom>
          <a:noFill/>
          <a:ln cap="flat">
            <a:noFill/>
            <a:prstDash val="solid"/>
          </a:ln>
        </p:spPr>
        <p:txBody>
          <a:bodyPr vert="horz" wrap="square" lIns="82944" tIns="41472" rIns="82944" bIns="41472" anchor="t" anchorCtr="0" compatLnSpc="0">
            <a:spAutoFit/>
          </a:bodyPr>
          <a:lstStyle/>
          <a:p>
            <a:pPr hangingPunct="0"/>
            <a:r>
              <a:rPr lang="de-DE" sz="1270" dirty="0">
                <a:solidFill>
                  <a:srgbClr val="000000"/>
                </a:solidFill>
                <a:latin typeface="Arial Regular"/>
                <a:ea typeface="ＭＳ Ｐゴシック" pitchFamily="34"/>
                <a:cs typeface="MS Gothic" pitchFamily="2"/>
              </a:rPr>
              <a:t>Bei der Mikrofonaufnahme können im Raum erscheinende Reflexionen mit einer Verzögerung zwischen 2 und 15 </a:t>
            </a:r>
            <a:r>
              <a:rPr lang="de-DE" sz="1270" dirty="0" err="1">
                <a:solidFill>
                  <a:srgbClr val="000000"/>
                </a:solidFill>
                <a:latin typeface="Arial Regular"/>
                <a:ea typeface="ＭＳ Ｐゴシック" pitchFamily="34"/>
                <a:cs typeface="MS Gothic" pitchFamily="2"/>
              </a:rPr>
              <a:t>ms</a:t>
            </a:r>
            <a:r>
              <a:rPr lang="de-DE" sz="1270" dirty="0">
                <a:solidFill>
                  <a:srgbClr val="000000"/>
                </a:solidFill>
                <a:latin typeface="Arial Regular"/>
                <a:ea typeface="ＭＳ Ｐゴシック" pitchFamily="34"/>
                <a:cs typeface="MS Gothic" pitchFamily="2"/>
              </a:rPr>
              <a:t> zu auffälligen, unangenehm störenden Klangfärbungen führen. Man sollte hier von „hörbarem“ Kammfiltereffekt sprechen, denn nur der ist störend. Es handelt sich meistens um Boden- oder Wandreflexionen.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31">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A5575C-936B-6345-BB0B-500884BB564D}"/>
              </a:ext>
            </a:extLst>
          </p:cNvPr>
          <p:cNvPicPr>
            <a:picLocks noChangeAspect="1"/>
          </p:cNvPicPr>
          <p:nvPr/>
        </p:nvPicPr>
        <p:blipFill>
          <a:blip r:embed="rId3"/>
          <a:srcRect/>
          <a:stretch>
            <a:fillRect/>
          </a:stretch>
        </p:blipFill>
        <p:spPr>
          <a:xfrm>
            <a:off x="1392414" y="664239"/>
            <a:ext cx="6875862" cy="4354560"/>
          </a:xfrm>
          <a:prstGeom prst="rect">
            <a:avLst/>
          </a:prstGeom>
          <a:noFill/>
          <a:ln cap="flat">
            <a:noFill/>
          </a:ln>
          <a:effectLst>
            <a:outerShdw dist="23040" dir="5400000" algn="tl">
              <a:srgbClr val="000000">
                <a:alpha val="35000"/>
              </a:srgbClr>
            </a:outerShdw>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32">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2841C62-A4EE-FF4A-BAC0-AA9B86D37F6D}"/>
              </a:ext>
            </a:extLst>
          </p:cNvPr>
          <p:cNvSpPr/>
          <p:nvPr/>
        </p:nvSpPr>
        <p:spPr>
          <a:xfrm>
            <a:off x="1530872" y="664239"/>
            <a:ext cx="2011466"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Übersteuerung</a:t>
            </a:r>
          </a:p>
        </p:txBody>
      </p:sp>
      <p:pic>
        <p:nvPicPr>
          <p:cNvPr id="3" name="Picture 2">
            <a:extLst>
              <a:ext uri="{FF2B5EF4-FFF2-40B4-BE49-F238E27FC236}">
                <a16:creationId xmlns:a16="http://schemas.microsoft.com/office/drawing/2014/main" id="{C91C7D33-F8E2-7742-A00C-214F6988ECB1}"/>
              </a:ext>
            </a:extLst>
          </p:cNvPr>
          <p:cNvPicPr>
            <a:picLocks noChangeAspect="1"/>
          </p:cNvPicPr>
          <p:nvPr/>
        </p:nvPicPr>
        <p:blipFill>
          <a:blip r:embed="rId3"/>
          <a:srcRect/>
          <a:stretch>
            <a:fillRect/>
          </a:stretch>
        </p:blipFill>
        <p:spPr>
          <a:xfrm>
            <a:off x="701432" y="1286319"/>
            <a:ext cx="7561293" cy="4769280"/>
          </a:xfrm>
          <a:prstGeom prst="rect">
            <a:avLst/>
          </a:prstGeom>
          <a:noFill/>
          <a:ln cap="flat">
            <a:noFill/>
          </a:ln>
          <a:effectLst>
            <a:outerShdw dist="23040" dir="5400000" algn="tl">
              <a:srgbClr val="000000">
                <a:alpha val="35000"/>
              </a:srgbClr>
            </a:outerShdw>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33">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0F4EC8-8943-5547-95A4-EF4635335F5B}"/>
              </a:ext>
            </a:extLst>
          </p:cNvPr>
          <p:cNvSpPr/>
          <p:nvPr/>
        </p:nvSpPr>
        <p:spPr>
          <a:xfrm>
            <a:off x="1530872" y="664239"/>
            <a:ext cx="847109"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Mixer</a:t>
            </a:r>
          </a:p>
        </p:txBody>
      </p:sp>
      <p:pic>
        <p:nvPicPr>
          <p:cNvPr id="3" name="Picture 2">
            <a:extLst>
              <a:ext uri="{FF2B5EF4-FFF2-40B4-BE49-F238E27FC236}">
                <a16:creationId xmlns:a16="http://schemas.microsoft.com/office/drawing/2014/main" id="{C8672C09-88E0-EF4C-A30C-A846FEAC40DC}"/>
              </a:ext>
            </a:extLst>
          </p:cNvPr>
          <p:cNvPicPr>
            <a:picLocks noChangeAspect="1"/>
          </p:cNvPicPr>
          <p:nvPr/>
        </p:nvPicPr>
        <p:blipFill>
          <a:blip r:embed="rId3"/>
          <a:srcRect/>
          <a:stretch>
            <a:fillRect/>
          </a:stretch>
        </p:blipFill>
        <p:spPr>
          <a:xfrm>
            <a:off x="1599775" y="1493679"/>
            <a:ext cx="5126527" cy="3893796"/>
          </a:xfrm>
          <a:prstGeom prst="rect">
            <a:avLst/>
          </a:prstGeom>
          <a:noFill/>
          <a:ln cap="flat">
            <a:noFill/>
          </a:ln>
          <a:effectLst>
            <a:outerShdw dist="23040" dir="5400000" algn="tl">
              <a:srgbClr val="000000">
                <a:alpha val="35000"/>
              </a:srgbClr>
            </a:outerShdw>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34">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7DC1B7-A7AA-B841-82AA-309FF0957F93}"/>
              </a:ext>
            </a:extLst>
          </p:cNvPr>
          <p:cNvSpPr/>
          <p:nvPr/>
        </p:nvSpPr>
        <p:spPr>
          <a:xfrm>
            <a:off x="979327" y="681546"/>
            <a:ext cx="1561150"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Mischkanal</a:t>
            </a:r>
          </a:p>
        </p:txBody>
      </p:sp>
      <p:pic>
        <p:nvPicPr>
          <p:cNvPr id="3" name="Picture 2">
            <a:extLst>
              <a:ext uri="{FF2B5EF4-FFF2-40B4-BE49-F238E27FC236}">
                <a16:creationId xmlns:a16="http://schemas.microsoft.com/office/drawing/2014/main" id="{11636BEE-3CAF-6949-86F2-30CFD6038D1D}"/>
              </a:ext>
            </a:extLst>
          </p:cNvPr>
          <p:cNvPicPr>
            <a:picLocks noChangeAspect="1"/>
          </p:cNvPicPr>
          <p:nvPr/>
        </p:nvPicPr>
        <p:blipFill>
          <a:blip r:embed="rId3"/>
          <a:srcRect/>
          <a:stretch>
            <a:fillRect/>
          </a:stretch>
        </p:blipFill>
        <p:spPr>
          <a:xfrm>
            <a:off x="4780710" y="266826"/>
            <a:ext cx="351369" cy="6469959"/>
          </a:xfrm>
          <a:prstGeom prst="rect">
            <a:avLst/>
          </a:prstGeom>
          <a:noFill/>
          <a:ln cap="flat">
            <a:noFill/>
          </a:ln>
          <a:effectLst>
            <a:outerShdw dist="23040" dir="5400000" algn="tl">
              <a:srgbClr val="000000">
                <a:alpha val="35000"/>
              </a:srgbClr>
            </a:outerShdw>
          </a:effectLst>
        </p:spPr>
      </p:pic>
      <p:sp>
        <p:nvSpPr>
          <p:cNvPr id="4" name="Rectangle 3">
            <a:extLst>
              <a:ext uri="{FF2B5EF4-FFF2-40B4-BE49-F238E27FC236}">
                <a16:creationId xmlns:a16="http://schemas.microsoft.com/office/drawing/2014/main" id="{FAD52401-3CCF-B645-A80E-0BED0226F422}"/>
              </a:ext>
            </a:extLst>
          </p:cNvPr>
          <p:cNvSpPr/>
          <p:nvPr/>
        </p:nvSpPr>
        <p:spPr>
          <a:xfrm>
            <a:off x="4227858" y="404957"/>
            <a:ext cx="599477" cy="272964"/>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en-US" sz="1270" dirty="0">
                <a:solidFill>
                  <a:srgbClr val="000000"/>
                </a:solidFill>
                <a:latin typeface="Arial Regular"/>
                <a:ea typeface="ＭＳ Ｐゴシック" pitchFamily="34"/>
                <a:cs typeface="MS Gothic" pitchFamily="49"/>
              </a:rPr>
              <a:t>Gain  </a:t>
            </a:r>
          </a:p>
        </p:txBody>
      </p:sp>
      <p:sp>
        <p:nvSpPr>
          <p:cNvPr id="5" name="Rectangle 4">
            <a:extLst>
              <a:ext uri="{FF2B5EF4-FFF2-40B4-BE49-F238E27FC236}">
                <a16:creationId xmlns:a16="http://schemas.microsoft.com/office/drawing/2014/main" id="{F4C5CF69-1797-504B-B7BD-795EAC205204}"/>
              </a:ext>
            </a:extLst>
          </p:cNvPr>
          <p:cNvSpPr/>
          <p:nvPr/>
        </p:nvSpPr>
        <p:spPr>
          <a:xfrm>
            <a:off x="3467648" y="1165169"/>
            <a:ext cx="1286973" cy="272964"/>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en-US" sz="1270" dirty="0">
                <a:solidFill>
                  <a:srgbClr val="000000"/>
                </a:solidFill>
                <a:latin typeface="Arial Regular"/>
                <a:ea typeface="ＭＳ Ｐゴシック" pitchFamily="34"/>
                <a:cs typeface="MS Gothic" pitchFamily="49"/>
              </a:rPr>
              <a:t>Auxiliary Sends</a:t>
            </a:r>
          </a:p>
        </p:txBody>
      </p:sp>
      <p:sp>
        <p:nvSpPr>
          <p:cNvPr id="6" name="Rectangle 5">
            <a:extLst>
              <a:ext uri="{FF2B5EF4-FFF2-40B4-BE49-F238E27FC236}">
                <a16:creationId xmlns:a16="http://schemas.microsoft.com/office/drawing/2014/main" id="{CE6CA719-6209-7B4C-AAC6-6954A9D2E727}"/>
              </a:ext>
            </a:extLst>
          </p:cNvPr>
          <p:cNvSpPr/>
          <p:nvPr/>
        </p:nvSpPr>
        <p:spPr>
          <a:xfrm>
            <a:off x="3743910" y="2685917"/>
            <a:ext cx="1052293" cy="272964"/>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en-US" sz="1270" dirty="0">
                <a:solidFill>
                  <a:srgbClr val="000000"/>
                </a:solidFill>
                <a:latin typeface="Arial Regular"/>
                <a:ea typeface="ＭＳ Ｐゴシック" pitchFamily="34"/>
                <a:cs typeface="MS Gothic" pitchFamily="49"/>
              </a:rPr>
              <a:t>Equalization</a:t>
            </a:r>
          </a:p>
        </p:txBody>
      </p:sp>
      <p:sp>
        <p:nvSpPr>
          <p:cNvPr id="7" name="Rectangle 6">
            <a:extLst>
              <a:ext uri="{FF2B5EF4-FFF2-40B4-BE49-F238E27FC236}">
                <a16:creationId xmlns:a16="http://schemas.microsoft.com/office/drawing/2014/main" id="{FA0F38CE-E8E4-E645-B706-638635856381}"/>
              </a:ext>
            </a:extLst>
          </p:cNvPr>
          <p:cNvSpPr/>
          <p:nvPr/>
        </p:nvSpPr>
        <p:spPr>
          <a:xfrm>
            <a:off x="3882367" y="4482928"/>
            <a:ext cx="916423" cy="272964"/>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en-US" sz="1270" dirty="0">
                <a:solidFill>
                  <a:srgbClr val="000000"/>
                </a:solidFill>
                <a:latin typeface="Arial Regular"/>
                <a:ea typeface="ＭＳ Ｐゴシック" pitchFamily="34"/>
                <a:cs typeface="MS Gothic" pitchFamily="49"/>
              </a:rPr>
              <a:t>Panorama</a:t>
            </a:r>
          </a:p>
        </p:txBody>
      </p:sp>
      <p:sp>
        <p:nvSpPr>
          <p:cNvPr id="8" name="Rectangle 7">
            <a:extLst>
              <a:ext uri="{FF2B5EF4-FFF2-40B4-BE49-F238E27FC236}">
                <a16:creationId xmlns:a16="http://schemas.microsoft.com/office/drawing/2014/main" id="{FE4E9F0F-09CA-924D-BC55-D521C9ED7D1C}"/>
              </a:ext>
            </a:extLst>
          </p:cNvPr>
          <p:cNvSpPr/>
          <p:nvPr/>
        </p:nvSpPr>
        <p:spPr>
          <a:xfrm>
            <a:off x="5126527" y="4690289"/>
            <a:ext cx="527021" cy="272964"/>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en-US" sz="1270" dirty="0">
                <a:solidFill>
                  <a:srgbClr val="000000"/>
                </a:solidFill>
                <a:latin typeface="Arial Regular"/>
                <a:ea typeface="ＭＳ Ｐゴシック" pitchFamily="34"/>
                <a:cs typeface="MS Gothic" pitchFamily="49"/>
              </a:rPr>
              <a:t>Mute</a:t>
            </a:r>
          </a:p>
        </p:txBody>
      </p:sp>
      <p:sp>
        <p:nvSpPr>
          <p:cNvPr id="9" name="Rectangle 8">
            <a:extLst>
              <a:ext uri="{FF2B5EF4-FFF2-40B4-BE49-F238E27FC236}">
                <a16:creationId xmlns:a16="http://schemas.microsoft.com/office/drawing/2014/main" id="{21A57C33-32EA-3A49-AFFF-A5AA02C70AD7}"/>
              </a:ext>
            </a:extLst>
          </p:cNvPr>
          <p:cNvSpPr/>
          <p:nvPr/>
        </p:nvSpPr>
        <p:spPr>
          <a:xfrm>
            <a:off x="4227858" y="4828747"/>
            <a:ext cx="490857" cy="272964"/>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en-US" sz="1270" dirty="0">
                <a:solidFill>
                  <a:srgbClr val="000000"/>
                </a:solidFill>
                <a:latin typeface="Arial Regular"/>
                <a:ea typeface="ＭＳ Ｐゴシック" pitchFamily="34"/>
                <a:cs typeface="MS Gothic" pitchFamily="49"/>
              </a:rPr>
              <a:t>Solo</a:t>
            </a:r>
          </a:p>
        </p:txBody>
      </p:sp>
      <p:sp>
        <p:nvSpPr>
          <p:cNvPr id="10" name="Rectangle 9">
            <a:extLst>
              <a:ext uri="{FF2B5EF4-FFF2-40B4-BE49-F238E27FC236}">
                <a16:creationId xmlns:a16="http://schemas.microsoft.com/office/drawing/2014/main" id="{C4C37939-401B-1849-B8DC-A72F8F31810B}"/>
              </a:ext>
            </a:extLst>
          </p:cNvPr>
          <p:cNvSpPr/>
          <p:nvPr/>
        </p:nvSpPr>
        <p:spPr>
          <a:xfrm>
            <a:off x="5126528" y="5450827"/>
            <a:ext cx="1830839" cy="272964"/>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en-US" sz="1270" dirty="0">
                <a:solidFill>
                  <a:srgbClr val="000000"/>
                </a:solidFill>
                <a:latin typeface="Arial Regular"/>
                <a:ea typeface="ＭＳ Ｐゴシック" pitchFamily="34"/>
                <a:cs typeface="MS Gothic" pitchFamily="49"/>
              </a:rPr>
              <a:t>Group/Bus Assignment</a:t>
            </a:r>
          </a:p>
        </p:txBody>
      </p:sp>
      <p:sp>
        <p:nvSpPr>
          <p:cNvPr id="11" name="Rectangle 10">
            <a:extLst>
              <a:ext uri="{FF2B5EF4-FFF2-40B4-BE49-F238E27FC236}">
                <a16:creationId xmlns:a16="http://schemas.microsoft.com/office/drawing/2014/main" id="{BD5A30BB-F01D-6144-B31A-F41363380DD2}"/>
              </a:ext>
            </a:extLst>
          </p:cNvPr>
          <p:cNvSpPr/>
          <p:nvPr/>
        </p:nvSpPr>
        <p:spPr>
          <a:xfrm>
            <a:off x="4158630" y="6280267"/>
            <a:ext cx="590436" cy="272964"/>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en-US" sz="1270" dirty="0">
                <a:solidFill>
                  <a:srgbClr val="000000"/>
                </a:solidFill>
                <a:latin typeface="Arial Regular"/>
                <a:ea typeface="ＭＳ Ｐゴシック" pitchFamily="34"/>
                <a:cs typeface="MS Gothic" pitchFamily="49"/>
              </a:rPr>
              <a:t>Fader</a:t>
            </a:r>
          </a:p>
        </p:txBody>
      </p:sp>
      <p:sp>
        <p:nvSpPr>
          <p:cNvPr id="12" name="Rectangle 11">
            <a:extLst>
              <a:ext uri="{FF2B5EF4-FFF2-40B4-BE49-F238E27FC236}">
                <a16:creationId xmlns:a16="http://schemas.microsoft.com/office/drawing/2014/main" id="{4E82818C-4BCE-4C41-9211-211F58795839}"/>
              </a:ext>
            </a:extLst>
          </p:cNvPr>
          <p:cNvSpPr/>
          <p:nvPr/>
        </p:nvSpPr>
        <p:spPr>
          <a:xfrm>
            <a:off x="5126528" y="5934449"/>
            <a:ext cx="716881" cy="272964"/>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en-US" sz="1270" dirty="0">
                <a:solidFill>
                  <a:srgbClr val="000000"/>
                </a:solidFill>
                <a:latin typeface="Arial Regular"/>
                <a:ea typeface="ＭＳ Ｐゴシック" pitchFamily="34"/>
                <a:cs typeface="MS Gothic" pitchFamily="49"/>
              </a:rPr>
              <a:t>L/R Mix</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45">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54C528-A704-B446-9BC0-3B9E0F67B127}"/>
              </a:ext>
            </a:extLst>
          </p:cNvPr>
          <p:cNvSpPr/>
          <p:nvPr/>
        </p:nvSpPr>
        <p:spPr>
          <a:xfrm>
            <a:off x="979327" y="681546"/>
            <a:ext cx="1917851"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HD Recording</a:t>
            </a:r>
          </a:p>
        </p:txBody>
      </p:sp>
      <p:pic>
        <p:nvPicPr>
          <p:cNvPr id="3" name="Bild 2" descr="Bildschirmfoto 2013-10-14 um 22.58.53.png">
            <a:extLst>
              <a:ext uri="{FF2B5EF4-FFF2-40B4-BE49-F238E27FC236}">
                <a16:creationId xmlns:a16="http://schemas.microsoft.com/office/drawing/2014/main" id="{E9F4106B-0933-964A-9818-447DDA5FA80E}"/>
              </a:ext>
            </a:extLst>
          </p:cNvPr>
          <p:cNvPicPr>
            <a:picLocks noChangeAspect="1"/>
          </p:cNvPicPr>
          <p:nvPr/>
        </p:nvPicPr>
        <p:blipFill>
          <a:blip r:embed="rId3"/>
          <a:srcRect/>
          <a:stretch>
            <a:fillRect/>
          </a:stretch>
        </p:blipFill>
        <p:spPr>
          <a:xfrm>
            <a:off x="130948" y="2775391"/>
            <a:ext cx="7575987" cy="1978574"/>
          </a:xfrm>
          <a:prstGeom prst="rect">
            <a:avLst/>
          </a:prstGeom>
          <a:noFill/>
          <a:ln cap="flat">
            <a:noFill/>
          </a:ln>
          <a:effectLst>
            <a:outerShdw dist="23040" dir="5400000" algn="tl">
              <a:srgbClr val="000000">
                <a:alpha val="35000"/>
              </a:srgbClr>
            </a:outerShdw>
          </a:effectLst>
        </p:spPr>
      </p:pic>
      <p:pic>
        <p:nvPicPr>
          <p:cNvPr id="4" name="Bild 13" descr="Bildschirmfoto 2013-10-14 um 22.54.19.png">
            <a:extLst>
              <a:ext uri="{FF2B5EF4-FFF2-40B4-BE49-F238E27FC236}">
                <a16:creationId xmlns:a16="http://schemas.microsoft.com/office/drawing/2014/main" id="{CDB76D15-4013-9A45-95F8-BD1BCDF2F54C}"/>
              </a:ext>
            </a:extLst>
          </p:cNvPr>
          <p:cNvPicPr>
            <a:picLocks noChangeAspect="1"/>
          </p:cNvPicPr>
          <p:nvPr/>
        </p:nvPicPr>
        <p:blipFill>
          <a:blip r:embed="rId4"/>
          <a:srcRect/>
          <a:stretch>
            <a:fillRect/>
          </a:stretch>
        </p:blipFill>
        <p:spPr>
          <a:xfrm>
            <a:off x="7577294" y="-19886"/>
            <a:ext cx="1447275" cy="6857248"/>
          </a:xfrm>
          <a:prstGeom prst="rect">
            <a:avLst/>
          </a:prstGeom>
          <a:noFill/>
          <a:ln cap="flat">
            <a:noFill/>
          </a:ln>
          <a:effectLst>
            <a:outerShdw dist="23040" dir="5400000" algn="tl">
              <a:srgbClr val="000000">
                <a:alpha val="35000"/>
              </a:srgbClr>
            </a:outerShdw>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35">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8F5A45-E0F9-F144-97E0-D32D5AA35CCE}"/>
              </a:ext>
            </a:extLst>
          </p:cNvPr>
          <p:cNvSpPr/>
          <p:nvPr/>
        </p:nvSpPr>
        <p:spPr>
          <a:xfrm>
            <a:off x="1530873" y="664239"/>
            <a:ext cx="1747676"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Klinkenkabel</a:t>
            </a:r>
          </a:p>
        </p:txBody>
      </p:sp>
      <p:pic>
        <p:nvPicPr>
          <p:cNvPr id="3" name="Picture 2">
            <a:extLst>
              <a:ext uri="{FF2B5EF4-FFF2-40B4-BE49-F238E27FC236}">
                <a16:creationId xmlns:a16="http://schemas.microsoft.com/office/drawing/2014/main" id="{68FD8567-888C-DC41-ABD3-1501BE5ACF3B}"/>
              </a:ext>
            </a:extLst>
          </p:cNvPr>
          <p:cNvPicPr>
            <a:picLocks noChangeAspect="1"/>
          </p:cNvPicPr>
          <p:nvPr/>
        </p:nvPicPr>
        <p:blipFill>
          <a:blip r:embed="rId3"/>
          <a:srcRect/>
          <a:stretch>
            <a:fillRect/>
          </a:stretch>
        </p:blipFill>
        <p:spPr>
          <a:xfrm>
            <a:off x="0" y="1148188"/>
            <a:ext cx="5025623" cy="4077971"/>
          </a:xfrm>
          <a:prstGeom prst="rect">
            <a:avLst/>
          </a:prstGeom>
          <a:noFill/>
          <a:ln cap="flat">
            <a:noFill/>
          </a:ln>
          <a:effectLst>
            <a:outerShdw dist="23040" dir="5400000" algn="tl">
              <a:srgbClr val="000000">
                <a:alpha val="35000"/>
              </a:srgbClr>
            </a:outerShdw>
          </a:effectLst>
        </p:spPr>
      </p:pic>
      <p:pic>
        <p:nvPicPr>
          <p:cNvPr id="4" name="Picture 3">
            <a:extLst>
              <a:ext uri="{FF2B5EF4-FFF2-40B4-BE49-F238E27FC236}">
                <a16:creationId xmlns:a16="http://schemas.microsoft.com/office/drawing/2014/main" id="{B9CE5CD2-2685-4943-9BE6-E98C1568026B}"/>
              </a:ext>
            </a:extLst>
          </p:cNvPr>
          <p:cNvPicPr>
            <a:picLocks noChangeAspect="1"/>
          </p:cNvPicPr>
          <p:nvPr/>
        </p:nvPicPr>
        <p:blipFill>
          <a:blip r:embed="rId4"/>
          <a:srcRect/>
          <a:stretch>
            <a:fillRect/>
          </a:stretch>
        </p:blipFill>
        <p:spPr>
          <a:xfrm>
            <a:off x="4479956" y="2639045"/>
            <a:ext cx="4193244" cy="4193244"/>
          </a:xfrm>
          <a:prstGeom prst="rect">
            <a:avLst/>
          </a:prstGeom>
          <a:noFill/>
          <a:ln cap="flat">
            <a:noFill/>
          </a:ln>
          <a:effectLst>
            <a:outerShdw dist="23040" dir="5400000" algn="tl">
              <a:srgbClr val="000000">
                <a:alpha val="35000"/>
              </a:srgbClr>
            </a:outerShdw>
          </a:effectLst>
        </p:spPr>
      </p:pic>
      <p:pic>
        <p:nvPicPr>
          <p:cNvPr id="5" name="Picture 4">
            <a:extLst>
              <a:ext uri="{FF2B5EF4-FFF2-40B4-BE49-F238E27FC236}">
                <a16:creationId xmlns:a16="http://schemas.microsoft.com/office/drawing/2014/main" id="{0A5E1AA4-5BE8-424B-B317-4415EFEE11DD}"/>
              </a:ext>
            </a:extLst>
          </p:cNvPr>
          <p:cNvPicPr>
            <a:picLocks noChangeAspect="1"/>
          </p:cNvPicPr>
          <p:nvPr/>
        </p:nvPicPr>
        <p:blipFill>
          <a:blip r:embed="rId5"/>
          <a:srcRect/>
          <a:stretch>
            <a:fillRect/>
          </a:stretch>
        </p:blipFill>
        <p:spPr>
          <a:xfrm>
            <a:off x="4641273" y="361"/>
            <a:ext cx="4031927" cy="4031927"/>
          </a:xfrm>
          <a:prstGeom prst="rect">
            <a:avLst/>
          </a:prstGeom>
          <a:noFill/>
          <a:ln cap="flat">
            <a:noFill/>
          </a:ln>
          <a:effectLst>
            <a:outerShdw dist="23040" dir="5400000" algn="tl">
              <a:srgbClr val="000000">
                <a:alpha val="35000"/>
              </a:srgbClr>
            </a:outerShdw>
          </a:effectLst>
        </p:spPr>
      </p:pic>
      <p:sp>
        <p:nvSpPr>
          <p:cNvPr id="6" name="Textfeld 5">
            <a:extLst>
              <a:ext uri="{FF2B5EF4-FFF2-40B4-BE49-F238E27FC236}">
                <a16:creationId xmlns:a16="http://schemas.microsoft.com/office/drawing/2014/main" id="{AB50DFC4-9D76-E7DC-D3AC-F7D2D0FAFB22}"/>
              </a:ext>
            </a:extLst>
          </p:cNvPr>
          <p:cNvSpPr txBox="1"/>
          <p:nvPr/>
        </p:nvSpPr>
        <p:spPr>
          <a:xfrm>
            <a:off x="5552324" y="662051"/>
            <a:ext cx="1779141" cy="343620"/>
          </a:xfrm>
          <a:prstGeom prst="rect">
            <a:avLst/>
          </a:prstGeom>
          <a:noFill/>
        </p:spPr>
        <p:txBody>
          <a:bodyPr wrap="none" rtlCol="0">
            <a:spAutoFit/>
          </a:bodyPr>
          <a:lstStyle/>
          <a:p>
            <a:r>
              <a:rPr lang="de-DE" dirty="0"/>
              <a:t>Miniklinke Stereo </a:t>
            </a:r>
          </a:p>
        </p:txBody>
      </p:sp>
      <p:sp>
        <p:nvSpPr>
          <p:cNvPr id="7" name="Rechteck 6">
            <a:extLst>
              <a:ext uri="{FF2B5EF4-FFF2-40B4-BE49-F238E27FC236}">
                <a16:creationId xmlns:a16="http://schemas.microsoft.com/office/drawing/2014/main" id="{03E56E15-6A96-B625-55EC-CF7F7A06B1FF}"/>
              </a:ext>
            </a:extLst>
          </p:cNvPr>
          <p:cNvSpPr/>
          <p:nvPr/>
        </p:nvSpPr>
        <p:spPr>
          <a:xfrm>
            <a:off x="0" y="5206195"/>
            <a:ext cx="4572000" cy="167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a:extLst>
              <a:ext uri="{FF2B5EF4-FFF2-40B4-BE49-F238E27FC236}">
                <a16:creationId xmlns:a16="http://schemas.microsoft.com/office/drawing/2014/main" id="{6D9819A2-02D9-8569-8EF5-6DB898458CEF}"/>
              </a:ext>
            </a:extLst>
          </p:cNvPr>
          <p:cNvSpPr/>
          <p:nvPr/>
        </p:nvSpPr>
        <p:spPr>
          <a:xfrm>
            <a:off x="4290578" y="6717016"/>
            <a:ext cx="4572000" cy="167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D22E09AF-0D40-B64C-E75E-BA532694FBB9}"/>
              </a:ext>
            </a:extLst>
          </p:cNvPr>
          <p:cNvSpPr/>
          <p:nvPr/>
        </p:nvSpPr>
        <p:spPr>
          <a:xfrm>
            <a:off x="4155895" y="3948777"/>
            <a:ext cx="4572000" cy="167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Textfeld 9">
            <a:extLst>
              <a:ext uri="{FF2B5EF4-FFF2-40B4-BE49-F238E27FC236}">
                <a16:creationId xmlns:a16="http://schemas.microsoft.com/office/drawing/2014/main" id="{BAFCDBB3-691D-A1D0-CBFB-256A7EBD15B9}"/>
              </a:ext>
            </a:extLst>
          </p:cNvPr>
          <p:cNvSpPr txBox="1"/>
          <p:nvPr/>
        </p:nvSpPr>
        <p:spPr>
          <a:xfrm>
            <a:off x="993696" y="1484784"/>
            <a:ext cx="3380221" cy="594906"/>
          </a:xfrm>
          <a:prstGeom prst="rect">
            <a:avLst/>
          </a:prstGeom>
          <a:noFill/>
        </p:spPr>
        <p:txBody>
          <a:bodyPr wrap="none" rtlCol="0">
            <a:spAutoFit/>
          </a:bodyPr>
          <a:lstStyle/>
          <a:p>
            <a:r>
              <a:rPr lang="de-DE" dirty="0"/>
              <a:t>Adapterkabel:</a:t>
            </a:r>
            <a:br>
              <a:rPr lang="de-DE" dirty="0"/>
            </a:br>
            <a:r>
              <a:rPr lang="de-DE" dirty="0"/>
              <a:t>Miniklinke Stereo =&gt; 2 x Klinke Mono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36">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62675F8-CFED-7F4C-920A-FB2893BC03B5}"/>
              </a:ext>
            </a:extLst>
          </p:cNvPr>
          <p:cNvPicPr>
            <a:picLocks noChangeAspect="1"/>
          </p:cNvPicPr>
          <p:nvPr/>
        </p:nvPicPr>
        <p:blipFill>
          <a:blip r:embed="rId3"/>
          <a:srcRect/>
          <a:stretch>
            <a:fillRect/>
          </a:stretch>
        </p:blipFill>
        <p:spPr>
          <a:xfrm>
            <a:off x="1" y="595010"/>
            <a:ext cx="5008315" cy="2378925"/>
          </a:xfrm>
          <a:prstGeom prst="rect">
            <a:avLst/>
          </a:prstGeom>
          <a:noFill/>
          <a:ln cap="flat">
            <a:noFill/>
          </a:ln>
          <a:effectLst>
            <a:outerShdw dist="23040" dir="5400000" algn="tl">
              <a:srgbClr val="000000">
                <a:alpha val="35000"/>
              </a:srgbClr>
            </a:outerShdw>
          </a:effectLst>
        </p:spPr>
      </p:pic>
      <p:sp>
        <p:nvSpPr>
          <p:cNvPr id="3" name="Rectangle 2">
            <a:extLst>
              <a:ext uri="{FF2B5EF4-FFF2-40B4-BE49-F238E27FC236}">
                <a16:creationId xmlns:a16="http://schemas.microsoft.com/office/drawing/2014/main" id="{6BBDBAE6-0D14-C742-B19B-7FACCAA9FE1D}"/>
              </a:ext>
            </a:extLst>
          </p:cNvPr>
          <p:cNvSpPr/>
          <p:nvPr/>
        </p:nvSpPr>
        <p:spPr>
          <a:xfrm>
            <a:off x="1530873" y="664239"/>
            <a:ext cx="1514792"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XLR-Kabel</a:t>
            </a:r>
          </a:p>
        </p:txBody>
      </p:sp>
      <p:pic>
        <p:nvPicPr>
          <p:cNvPr id="4" name="Picture 3">
            <a:extLst>
              <a:ext uri="{FF2B5EF4-FFF2-40B4-BE49-F238E27FC236}">
                <a16:creationId xmlns:a16="http://schemas.microsoft.com/office/drawing/2014/main" id="{D25F06DA-D6CF-CC46-BA65-39EF3981C0CF}"/>
              </a:ext>
            </a:extLst>
          </p:cNvPr>
          <p:cNvPicPr>
            <a:picLocks noChangeAspect="1"/>
          </p:cNvPicPr>
          <p:nvPr/>
        </p:nvPicPr>
        <p:blipFill>
          <a:blip r:embed="rId4"/>
          <a:srcRect/>
          <a:stretch>
            <a:fillRect/>
          </a:stretch>
        </p:blipFill>
        <p:spPr>
          <a:xfrm>
            <a:off x="3120524" y="2945198"/>
            <a:ext cx="6023562" cy="3539488"/>
          </a:xfrm>
          <a:prstGeom prst="rect">
            <a:avLst/>
          </a:prstGeom>
          <a:noFill/>
          <a:ln cap="flat">
            <a:noFill/>
          </a:ln>
          <a:effectLst>
            <a:outerShdw dist="23040" dir="5400000" algn="tl">
              <a:srgbClr val="000000">
                <a:alpha val="35000"/>
              </a:srgbClr>
            </a:outerShdw>
          </a:effectLst>
        </p:spPr>
      </p:pic>
      <p:pic>
        <p:nvPicPr>
          <p:cNvPr id="5" name="Picture 4">
            <a:extLst>
              <a:ext uri="{FF2B5EF4-FFF2-40B4-BE49-F238E27FC236}">
                <a16:creationId xmlns:a16="http://schemas.microsoft.com/office/drawing/2014/main" id="{18CB5858-09F2-6842-9968-911ACFC20659}"/>
              </a:ext>
            </a:extLst>
          </p:cNvPr>
          <p:cNvPicPr>
            <a:picLocks noChangeAspect="1"/>
          </p:cNvPicPr>
          <p:nvPr/>
        </p:nvPicPr>
        <p:blipFill>
          <a:blip r:embed="rId5"/>
          <a:srcRect/>
          <a:stretch>
            <a:fillRect/>
          </a:stretch>
        </p:blipFill>
        <p:spPr>
          <a:xfrm>
            <a:off x="5497816" y="360"/>
            <a:ext cx="3645944" cy="2460890"/>
          </a:xfrm>
          <a:prstGeom prst="rect">
            <a:avLst/>
          </a:prstGeom>
          <a:noFill/>
          <a:ln cap="flat">
            <a:noFill/>
          </a:ln>
          <a:effectLst>
            <a:outerShdw dist="23040" dir="5400000" algn="tl">
              <a:srgbClr val="000000">
                <a:alpha val="35000"/>
              </a:srgbClr>
            </a:outerShdw>
          </a:effectLst>
        </p:spPr>
      </p:pic>
      <p:pic>
        <p:nvPicPr>
          <p:cNvPr id="6" name="Picture 5">
            <a:extLst>
              <a:ext uri="{FF2B5EF4-FFF2-40B4-BE49-F238E27FC236}">
                <a16:creationId xmlns:a16="http://schemas.microsoft.com/office/drawing/2014/main" id="{D13DC7EF-FC29-3646-B23D-D02186719FE5}"/>
              </a:ext>
            </a:extLst>
          </p:cNvPr>
          <p:cNvPicPr>
            <a:picLocks noChangeAspect="1"/>
          </p:cNvPicPr>
          <p:nvPr/>
        </p:nvPicPr>
        <p:blipFill>
          <a:blip r:embed="rId6"/>
          <a:srcRect/>
          <a:stretch>
            <a:fillRect/>
          </a:stretch>
        </p:blipFill>
        <p:spPr>
          <a:xfrm>
            <a:off x="1" y="3981999"/>
            <a:ext cx="3113338" cy="1843054"/>
          </a:xfrm>
          <a:prstGeom prst="rect">
            <a:avLst/>
          </a:prstGeom>
          <a:noFill/>
          <a:ln cap="flat">
            <a:noFill/>
          </a:ln>
          <a:effectLst>
            <a:outerShdw dist="23040" dir="5400000" algn="tl">
              <a:srgbClr val="000000">
                <a:alpha val="35000"/>
              </a:srgbClr>
            </a:outerShdw>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39">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7773839-3AE9-B140-801E-86164DD39595}"/>
              </a:ext>
            </a:extLst>
          </p:cNvPr>
          <p:cNvSpPr/>
          <p:nvPr/>
        </p:nvSpPr>
        <p:spPr>
          <a:xfrm>
            <a:off x="1530872" y="664239"/>
            <a:ext cx="2818161"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Lichtwellenleiterkabel</a:t>
            </a:r>
          </a:p>
        </p:txBody>
      </p:sp>
      <p:pic>
        <p:nvPicPr>
          <p:cNvPr id="3" name="Picture 2">
            <a:extLst>
              <a:ext uri="{FF2B5EF4-FFF2-40B4-BE49-F238E27FC236}">
                <a16:creationId xmlns:a16="http://schemas.microsoft.com/office/drawing/2014/main" id="{6CC8FD44-2516-D744-B63B-A1489C9608A1}"/>
              </a:ext>
            </a:extLst>
          </p:cNvPr>
          <p:cNvPicPr>
            <a:picLocks noChangeAspect="1"/>
          </p:cNvPicPr>
          <p:nvPr/>
        </p:nvPicPr>
        <p:blipFill>
          <a:blip r:embed="rId3"/>
          <a:srcRect/>
          <a:stretch>
            <a:fillRect/>
          </a:stretch>
        </p:blipFill>
        <p:spPr>
          <a:xfrm>
            <a:off x="1599775" y="1424450"/>
            <a:ext cx="4147200" cy="4561920"/>
          </a:xfrm>
          <a:prstGeom prst="rect">
            <a:avLst/>
          </a:prstGeom>
          <a:noFill/>
          <a:ln cap="flat">
            <a:noFill/>
          </a:ln>
          <a:effectLst>
            <a:outerShdw dist="23040" dir="5400000" algn="tl">
              <a:srgbClr val="000000">
                <a:alpha val="35000"/>
              </a:srgbClr>
            </a:outerShdw>
          </a:effectLst>
        </p:spPr>
      </p:pic>
      <p:sp>
        <p:nvSpPr>
          <p:cNvPr id="4" name="Rectangle 3">
            <a:extLst>
              <a:ext uri="{FF2B5EF4-FFF2-40B4-BE49-F238E27FC236}">
                <a16:creationId xmlns:a16="http://schemas.microsoft.com/office/drawing/2014/main" id="{6FBE411C-0AC1-1441-A7E6-51731E39BB9E}"/>
              </a:ext>
            </a:extLst>
          </p:cNvPr>
          <p:cNvSpPr/>
          <p:nvPr/>
        </p:nvSpPr>
        <p:spPr>
          <a:xfrm>
            <a:off x="1392414" y="5571650"/>
            <a:ext cx="6773650" cy="727255"/>
          </a:xfrm>
          <a:prstGeom prst="rect">
            <a:avLst/>
          </a:prstGeom>
          <a:noFill/>
          <a:ln cap="flat">
            <a:noFill/>
            <a:prstDash val="solid"/>
          </a:ln>
        </p:spPr>
        <p:txBody>
          <a:bodyPr vert="horz" wrap="square" lIns="81638" tIns="42452" rIns="81638" bIns="42452" anchor="t" anchorCtr="0" compatLnSpc="0">
            <a:spAutoFit/>
          </a:bodyPr>
          <a:lstStyle/>
          <a:p>
            <a:pPr algn="just"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1451" dirty="0" err="1">
                <a:solidFill>
                  <a:srgbClr val="000000"/>
                </a:solidFill>
                <a:latin typeface="Arial Regular"/>
                <a:ea typeface="ＭＳ Ｐゴシック" pitchFamily="34"/>
                <a:cs typeface="MS Gothic" pitchFamily="49"/>
              </a:rPr>
              <a:t>Toslink</a:t>
            </a:r>
            <a:r>
              <a:rPr lang="de-DE" sz="1451" dirty="0">
                <a:solidFill>
                  <a:srgbClr val="000000"/>
                </a:solidFill>
                <a:latin typeface="Arial Regular"/>
                <a:ea typeface="ＭＳ Ｐゴシック" pitchFamily="34"/>
                <a:cs typeface="MS Gothic" pitchFamily="49"/>
              </a:rPr>
              <a:t> (digitale optische Audiosignalübertragung): Benutzung bei der digitalen Übertragung von Audio-Signalen bei Konsumgütern, zum Beispiel zur </a:t>
            </a:r>
            <a:r>
              <a:rPr lang="de-DE" sz="1451" dirty="0" err="1">
                <a:solidFill>
                  <a:srgbClr val="000000"/>
                </a:solidFill>
                <a:latin typeface="Arial Regular"/>
                <a:ea typeface="ＭＳ Ｐゴシック" pitchFamily="34"/>
                <a:cs typeface="MS Gothic" pitchFamily="49"/>
              </a:rPr>
              <a:t>Übertra-gung</a:t>
            </a:r>
            <a:r>
              <a:rPr lang="de-DE" sz="1451" dirty="0">
                <a:solidFill>
                  <a:srgbClr val="000000"/>
                </a:solidFill>
                <a:latin typeface="Arial Regular"/>
                <a:ea typeface="ＭＳ Ｐゴシック" pitchFamily="34"/>
                <a:cs typeface="MS Gothic" pitchFamily="49"/>
              </a:rPr>
              <a:t> zwischen Komponenten wie CD- und DVD-Spielern und Audioverstärkern.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38">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CCF3DFB-8708-3B45-B042-FD5A7E722F70}"/>
              </a:ext>
            </a:extLst>
          </p:cNvPr>
          <p:cNvPicPr>
            <a:picLocks noChangeAspect="1"/>
          </p:cNvPicPr>
          <p:nvPr/>
        </p:nvPicPr>
        <p:blipFill>
          <a:blip r:embed="rId3"/>
          <a:srcRect/>
          <a:stretch>
            <a:fillRect/>
          </a:stretch>
        </p:blipFill>
        <p:spPr>
          <a:xfrm>
            <a:off x="1370861" y="4212218"/>
            <a:ext cx="3294575" cy="2471012"/>
          </a:xfrm>
          <a:prstGeom prst="rect">
            <a:avLst/>
          </a:prstGeom>
          <a:noFill/>
          <a:ln cap="flat">
            <a:noFill/>
          </a:ln>
          <a:effectLst>
            <a:outerShdw dist="23040" dir="5400000" algn="tl">
              <a:srgbClr val="000000">
                <a:alpha val="35000"/>
              </a:srgbClr>
            </a:outerShdw>
          </a:effectLst>
        </p:spPr>
      </p:pic>
      <p:sp>
        <p:nvSpPr>
          <p:cNvPr id="3" name="Rectangle 2">
            <a:extLst>
              <a:ext uri="{FF2B5EF4-FFF2-40B4-BE49-F238E27FC236}">
                <a16:creationId xmlns:a16="http://schemas.microsoft.com/office/drawing/2014/main" id="{29D516F0-488F-D241-9A04-BA2430BFE1A5}"/>
              </a:ext>
            </a:extLst>
          </p:cNvPr>
          <p:cNvSpPr/>
          <p:nvPr/>
        </p:nvSpPr>
        <p:spPr>
          <a:xfrm>
            <a:off x="1530873" y="664239"/>
            <a:ext cx="1685415"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err="1">
                <a:solidFill>
                  <a:srgbClr val="000000"/>
                </a:solidFill>
                <a:latin typeface="Arial Regular"/>
                <a:ea typeface="ＭＳ Ｐゴシック" pitchFamily="34"/>
                <a:cs typeface="MS Gothic" pitchFamily="49"/>
              </a:rPr>
              <a:t>Cinch</a:t>
            </a:r>
            <a:r>
              <a:rPr lang="de-DE" sz="2177" dirty="0">
                <a:solidFill>
                  <a:srgbClr val="000000"/>
                </a:solidFill>
                <a:latin typeface="Arial Regular"/>
                <a:ea typeface="ＭＳ Ｐゴシック" pitchFamily="34"/>
                <a:cs typeface="MS Gothic" pitchFamily="49"/>
              </a:rPr>
              <a:t>-Kabel</a:t>
            </a:r>
          </a:p>
        </p:txBody>
      </p:sp>
      <p:pic>
        <p:nvPicPr>
          <p:cNvPr id="4" name="Picture 3">
            <a:extLst>
              <a:ext uri="{FF2B5EF4-FFF2-40B4-BE49-F238E27FC236}">
                <a16:creationId xmlns:a16="http://schemas.microsoft.com/office/drawing/2014/main" id="{A31BF019-57D3-3F4C-8541-F9C098D8A1B5}"/>
              </a:ext>
            </a:extLst>
          </p:cNvPr>
          <p:cNvPicPr>
            <a:picLocks noChangeAspect="1"/>
          </p:cNvPicPr>
          <p:nvPr/>
        </p:nvPicPr>
        <p:blipFill>
          <a:blip r:embed="rId4"/>
          <a:srcRect/>
          <a:stretch>
            <a:fillRect/>
          </a:stretch>
        </p:blipFill>
        <p:spPr>
          <a:xfrm>
            <a:off x="562975" y="1217090"/>
            <a:ext cx="4607964" cy="3455891"/>
          </a:xfrm>
          <a:prstGeom prst="rect">
            <a:avLst/>
          </a:prstGeom>
          <a:noFill/>
          <a:ln cap="flat">
            <a:noFill/>
          </a:ln>
          <a:effectLst>
            <a:outerShdw dist="23040" dir="5400000" algn="tl">
              <a:srgbClr val="000000">
                <a:alpha val="35000"/>
              </a:srgbClr>
            </a:outerShdw>
          </a:effectLst>
        </p:spPr>
      </p:pic>
      <p:pic>
        <p:nvPicPr>
          <p:cNvPr id="5" name="Picture 4">
            <a:extLst>
              <a:ext uri="{FF2B5EF4-FFF2-40B4-BE49-F238E27FC236}">
                <a16:creationId xmlns:a16="http://schemas.microsoft.com/office/drawing/2014/main" id="{5AF3FE66-8438-7A4B-88CF-CBA85554E634}"/>
              </a:ext>
            </a:extLst>
          </p:cNvPr>
          <p:cNvPicPr>
            <a:picLocks noChangeAspect="1"/>
          </p:cNvPicPr>
          <p:nvPr/>
        </p:nvPicPr>
        <p:blipFill>
          <a:blip r:embed="rId5"/>
          <a:srcRect/>
          <a:stretch>
            <a:fillRect/>
          </a:stretch>
        </p:blipFill>
        <p:spPr>
          <a:xfrm>
            <a:off x="4917534" y="1217090"/>
            <a:ext cx="3902287" cy="3455891"/>
          </a:xfrm>
          <a:prstGeom prst="rect">
            <a:avLst/>
          </a:prstGeom>
          <a:noFill/>
          <a:ln cap="flat">
            <a:noFill/>
          </a:ln>
          <a:effectLst>
            <a:outerShdw dist="23040" dir="5400000" algn="tl">
              <a:srgbClr val="000000">
                <a:alpha val="35000"/>
              </a:srgbClr>
            </a:outerShdw>
          </a:effectLst>
        </p:spPr>
      </p:pic>
      <p:sp>
        <p:nvSpPr>
          <p:cNvPr id="6" name="Rechteck 1">
            <a:extLst>
              <a:ext uri="{FF2B5EF4-FFF2-40B4-BE49-F238E27FC236}">
                <a16:creationId xmlns:a16="http://schemas.microsoft.com/office/drawing/2014/main" id="{DC2B4A48-01E6-9148-ABAC-7B01DCCA2824}"/>
              </a:ext>
            </a:extLst>
          </p:cNvPr>
          <p:cNvSpPr/>
          <p:nvPr/>
        </p:nvSpPr>
        <p:spPr>
          <a:xfrm>
            <a:off x="4767974" y="5257835"/>
            <a:ext cx="3788647" cy="618516"/>
          </a:xfrm>
          <a:prstGeom prst="rect">
            <a:avLst/>
          </a:prstGeom>
          <a:noFill/>
          <a:ln cap="flat">
            <a:noFill/>
            <a:prstDash val="solid"/>
          </a:ln>
        </p:spPr>
        <p:txBody>
          <a:bodyPr vert="horz" wrap="square" lIns="82944" tIns="41472" rIns="82944" bIns="41472" anchor="t" anchorCtr="0" compatLnSpc="0">
            <a:spAutoFit/>
          </a:bodyPr>
          <a:lstStyle/>
          <a:p>
            <a:pPr hangingPunct="0"/>
            <a:r>
              <a:rPr lang="de-DE" sz="1814" dirty="0">
                <a:solidFill>
                  <a:srgbClr val="000000"/>
                </a:solidFill>
                <a:latin typeface="Arial Regular"/>
                <a:ea typeface="ＭＳ Ｐゴシック" pitchFamily="34"/>
                <a:cs typeface="MS Gothic" pitchFamily="2"/>
              </a:rPr>
              <a:t>Steckverbindung vor allem im</a:t>
            </a:r>
          </a:p>
          <a:p>
            <a:pPr hangingPunct="0"/>
            <a:r>
              <a:rPr lang="de-DE" sz="1814" dirty="0">
                <a:solidFill>
                  <a:srgbClr val="000000"/>
                </a:solidFill>
                <a:latin typeface="Arial Regular"/>
                <a:ea typeface="ＭＳ Ｐゴシック" pitchFamily="34"/>
                <a:cs typeface="MS Gothic" pitchFamily="2"/>
              </a:rPr>
              <a:t>Heim-Audio- und -Video-Bereich</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43">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D66B5DF-9294-3546-B73E-907035A742DA}"/>
              </a:ext>
            </a:extLst>
          </p:cNvPr>
          <p:cNvSpPr/>
          <p:nvPr/>
        </p:nvSpPr>
        <p:spPr>
          <a:xfrm>
            <a:off x="1043608" y="692696"/>
            <a:ext cx="1778261" cy="406783"/>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USB-Stecker</a:t>
            </a:r>
          </a:p>
        </p:txBody>
      </p:sp>
      <p:pic>
        <p:nvPicPr>
          <p:cNvPr id="8" name="Grafik 7">
            <a:extLst>
              <a:ext uri="{FF2B5EF4-FFF2-40B4-BE49-F238E27FC236}">
                <a16:creationId xmlns:a16="http://schemas.microsoft.com/office/drawing/2014/main" id="{2CC9009A-38A8-5CF9-4AD6-2DED25F1EC79}"/>
              </a:ext>
            </a:extLst>
          </p:cNvPr>
          <p:cNvPicPr>
            <a:picLocks noChangeAspect="1"/>
          </p:cNvPicPr>
          <p:nvPr/>
        </p:nvPicPr>
        <p:blipFill>
          <a:blip r:embed="rId3"/>
          <a:stretch>
            <a:fillRect/>
          </a:stretch>
        </p:blipFill>
        <p:spPr>
          <a:xfrm>
            <a:off x="685800" y="1268760"/>
            <a:ext cx="7772400" cy="5181600"/>
          </a:xfrm>
          <a:prstGeom prst="rect">
            <a:avLst/>
          </a:prstGeom>
        </p:spPr>
      </p:pic>
      <p:sp>
        <p:nvSpPr>
          <p:cNvPr id="9" name="Rechteck 8">
            <a:extLst>
              <a:ext uri="{FF2B5EF4-FFF2-40B4-BE49-F238E27FC236}">
                <a16:creationId xmlns:a16="http://schemas.microsoft.com/office/drawing/2014/main" id="{98ABA7C4-AFD9-9041-980D-BB7DCB58BE41}"/>
              </a:ext>
            </a:extLst>
          </p:cNvPr>
          <p:cNvSpPr/>
          <p:nvPr/>
        </p:nvSpPr>
        <p:spPr>
          <a:xfrm>
            <a:off x="7236296" y="6093296"/>
            <a:ext cx="1368152" cy="3570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53B7C15-02CB-B20D-5849-74FFBC94EEF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C9B5637-EDB4-AA6B-B90E-0ECFFF84029B}"/>
              </a:ext>
            </a:extLst>
          </p:cNvPr>
          <p:cNvSpPr/>
          <p:nvPr/>
        </p:nvSpPr>
        <p:spPr>
          <a:xfrm>
            <a:off x="352078" y="692696"/>
            <a:ext cx="1778261" cy="406783"/>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USB-Stecker</a:t>
            </a:r>
          </a:p>
        </p:txBody>
      </p:sp>
      <p:pic>
        <p:nvPicPr>
          <p:cNvPr id="3" name="Grafik 2">
            <a:extLst>
              <a:ext uri="{FF2B5EF4-FFF2-40B4-BE49-F238E27FC236}">
                <a16:creationId xmlns:a16="http://schemas.microsoft.com/office/drawing/2014/main" id="{2A22A702-7760-D80E-116E-F39C42B48FB7}"/>
              </a:ext>
            </a:extLst>
          </p:cNvPr>
          <p:cNvPicPr>
            <a:picLocks noChangeAspect="1"/>
          </p:cNvPicPr>
          <p:nvPr/>
        </p:nvPicPr>
        <p:blipFill>
          <a:blip r:embed="rId3"/>
          <a:stretch>
            <a:fillRect/>
          </a:stretch>
        </p:blipFill>
        <p:spPr>
          <a:xfrm>
            <a:off x="344230" y="1268760"/>
            <a:ext cx="8455539" cy="5045628"/>
          </a:xfrm>
          <a:prstGeom prst="rect">
            <a:avLst/>
          </a:prstGeom>
        </p:spPr>
      </p:pic>
    </p:spTree>
    <p:extLst>
      <p:ext uri="{BB962C8B-B14F-4D97-AF65-F5344CB8AC3E}">
        <p14:creationId xmlns:p14="http://schemas.microsoft.com/office/powerpoint/2010/main" val="18616930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47">
    <p:bg>
      <p:bgPr>
        <a:solidFill>
          <a:srgbClr val="FFFFFF"/>
        </a:solidFill>
        <a:effectLst/>
      </p:bgPr>
    </p:bg>
    <p:spTree>
      <p:nvGrpSpPr>
        <p:cNvPr id="1" name=""/>
        <p:cNvGrpSpPr/>
        <p:nvPr/>
      </p:nvGrpSpPr>
      <p:grpSpPr>
        <a:xfrm>
          <a:off x="0" y="0"/>
          <a:ext cx="0" cy="0"/>
          <a:chOff x="0" y="0"/>
          <a:chExt cx="0" cy="0"/>
        </a:xfrm>
      </p:grpSpPr>
      <p:pic>
        <p:nvPicPr>
          <p:cNvPr id="2" name="Bild 3" descr="HDMI-Kabel-Typ-A-auf-Micro-HDMI-Typ-D-05-meter-Flexy-Serie.jpg">
            <a:extLst>
              <a:ext uri="{FF2B5EF4-FFF2-40B4-BE49-F238E27FC236}">
                <a16:creationId xmlns:a16="http://schemas.microsoft.com/office/drawing/2014/main" id="{CF6ED094-27A2-B24A-9420-5163A20587C3}"/>
              </a:ext>
            </a:extLst>
          </p:cNvPr>
          <p:cNvPicPr>
            <a:picLocks noChangeAspect="1"/>
          </p:cNvPicPr>
          <p:nvPr/>
        </p:nvPicPr>
        <p:blipFill>
          <a:blip r:embed="rId3"/>
          <a:srcRect/>
          <a:stretch>
            <a:fillRect/>
          </a:stretch>
        </p:blipFill>
        <p:spPr>
          <a:xfrm>
            <a:off x="-1176564" y="-1534757"/>
            <a:ext cx="6075485" cy="6073852"/>
          </a:xfrm>
          <a:prstGeom prst="rect">
            <a:avLst/>
          </a:prstGeom>
          <a:noFill/>
          <a:ln cap="flat">
            <a:noFill/>
          </a:ln>
          <a:effectLst>
            <a:outerShdw dist="23040" dir="5400000" algn="tl">
              <a:srgbClr val="000000">
                <a:alpha val="35000"/>
              </a:srgbClr>
            </a:outerShdw>
          </a:effectLst>
        </p:spPr>
      </p:pic>
      <p:pic>
        <p:nvPicPr>
          <p:cNvPr id="3" name="Bild 1" descr="971358_LB_00_FB.EPS_1000.jpg">
            <a:extLst>
              <a:ext uri="{FF2B5EF4-FFF2-40B4-BE49-F238E27FC236}">
                <a16:creationId xmlns:a16="http://schemas.microsoft.com/office/drawing/2014/main" id="{20E1C5C0-CA74-0941-AB5B-B3E4BC6E29B4}"/>
              </a:ext>
            </a:extLst>
          </p:cNvPr>
          <p:cNvPicPr>
            <a:picLocks noChangeAspect="1"/>
          </p:cNvPicPr>
          <p:nvPr/>
        </p:nvPicPr>
        <p:blipFill>
          <a:blip r:embed="rId4"/>
          <a:srcRect/>
          <a:stretch>
            <a:fillRect/>
          </a:stretch>
        </p:blipFill>
        <p:spPr>
          <a:xfrm>
            <a:off x="4065236" y="-1338826"/>
            <a:ext cx="5094852" cy="5094852"/>
          </a:xfrm>
          <a:prstGeom prst="rect">
            <a:avLst/>
          </a:prstGeom>
          <a:noFill/>
          <a:ln cap="flat">
            <a:noFill/>
          </a:ln>
          <a:effectLst>
            <a:outerShdw dist="23040" dir="5400000" algn="tl">
              <a:srgbClr val="000000">
                <a:alpha val="35000"/>
              </a:srgbClr>
            </a:outerShdw>
          </a:effectLst>
        </p:spPr>
      </p:pic>
      <p:pic>
        <p:nvPicPr>
          <p:cNvPr id="4" name="Bild 4" descr="2L-7D02H-HDMI-Cables-OL-large.jpg">
            <a:extLst>
              <a:ext uri="{FF2B5EF4-FFF2-40B4-BE49-F238E27FC236}">
                <a16:creationId xmlns:a16="http://schemas.microsoft.com/office/drawing/2014/main" id="{F92A8F18-87EF-D045-958F-125E16383D7D}"/>
              </a:ext>
            </a:extLst>
          </p:cNvPr>
          <p:cNvPicPr>
            <a:picLocks noChangeAspect="1"/>
          </p:cNvPicPr>
          <p:nvPr/>
        </p:nvPicPr>
        <p:blipFill>
          <a:blip r:embed="rId5"/>
          <a:srcRect/>
          <a:stretch>
            <a:fillRect/>
          </a:stretch>
        </p:blipFill>
        <p:spPr>
          <a:xfrm>
            <a:off x="1566793" y="2318874"/>
            <a:ext cx="6377871" cy="4376112"/>
          </a:xfrm>
          <a:prstGeom prst="rect">
            <a:avLst/>
          </a:prstGeom>
          <a:noFill/>
          <a:ln cap="flat">
            <a:noFill/>
          </a:ln>
          <a:effectLst>
            <a:outerShdw dist="23040" dir="5400000" algn="tl">
              <a:srgbClr val="000000">
                <a:alpha val="35000"/>
              </a:srgbClr>
            </a:outerShdw>
          </a:effectLst>
        </p:spPr>
      </p:pic>
      <p:sp>
        <p:nvSpPr>
          <p:cNvPr id="5" name="Rectangle 1">
            <a:extLst>
              <a:ext uri="{FF2B5EF4-FFF2-40B4-BE49-F238E27FC236}">
                <a16:creationId xmlns:a16="http://schemas.microsoft.com/office/drawing/2014/main" id="{7819A6F6-B6EC-3F4A-9149-EA80A9E77101}"/>
              </a:ext>
            </a:extLst>
          </p:cNvPr>
          <p:cNvSpPr/>
          <p:nvPr/>
        </p:nvSpPr>
        <p:spPr>
          <a:xfrm>
            <a:off x="3134892" y="162983"/>
            <a:ext cx="1828686" cy="406655"/>
          </a:xfrm>
          <a:prstGeom prst="rect">
            <a:avLst/>
          </a:prstGeom>
          <a:noFill/>
          <a:ln cap="flat">
            <a:noFill/>
            <a:prstDash val="solid"/>
          </a:ln>
        </p:spPr>
        <p:txBody>
          <a:bodyPr vert="horz" wrap="squar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HDMI Kabel</a:t>
            </a:r>
          </a:p>
        </p:txBody>
      </p:sp>
      <p:sp>
        <p:nvSpPr>
          <p:cNvPr id="6" name="Rectangle 1">
            <a:extLst>
              <a:ext uri="{FF2B5EF4-FFF2-40B4-BE49-F238E27FC236}">
                <a16:creationId xmlns:a16="http://schemas.microsoft.com/office/drawing/2014/main" id="{E4397D9D-F0CF-8D4F-9CD0-5A3F70E8BFA6}"/>
              </a:ext>
            </a:extLst>
          </p:cNvPr>
          <p:cNvSpPr/>
          <p:nvPr/>
        </p:nvSpPr>
        <p:spPr>
          <a:xfrm>
            <a:off x="4963578" y="2514479"/>
            <a:ext cx="2938961" cy="326440"/>
          </a:xfrm>
          <a:prstGeom prst="rect">
            <a:avLst/>
          </a:prstGeom>
          <a:noFill/>
          <a:ln cap="flat">
            <a:noFill/>
            <a:prstDash val="solid"/>
          </a:ln>
        </p:spPr>
        <p:txBody>
          <a:bodyPr vert="horz" wrap="squar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dirty="0">
                <a:solidFill>
                  <a:srgbClr val="000000"/>
                </a:solidFill>
                <a:latin typeface="Arial Regular"/>
                <a:ea typeface="ＭＳ Ｐゴシック" pitchFamily="34"/>
                <a:cs typeface="MS Gothic" pitchFamily="49"/>
              </a:rPr>
              <a:t>HDMI-DVI-Adapter</a:t>
            </a:r>
          </a:p>
        </p:txBody>
      </p:sp>
      <p:sp>
        <p:nvSpPr>
          <p:cNvPr id="7" name="Rectangle 1">
            <a:extLst>
              <a:ext uri="{FF2B5EF4-FFF2-40B4-BE49-F238E27FC236}">
                <a16:creationId xmlns:a16="http://schemas.microsoft.com/office/drawing/2014/main" id="{46C711F2-40AC-CE4B-9A9D-76D45053E8EE}"/>
              </a:ext>
            </a:extLst>
          </p:cNvPr>
          <p:cNvSpPr/>
          <p:nvPr/>
        </p:nvSpPr>
        <p:spPr>
          <a:xfrm>
            <a:off x="1117458" y="2652935"/>
            <a:ext cx="2938961" cy="326568"/>
          </a:xfrm>
          <a:prstGeom prst="rect">
            <a:avLst/>
          </a:prstGeom>
          <a:noFill/>
          <a:ln cap="flat">
            <a:noFill/>
            <a:prstDash val="solid"/>
          </a:ln>
        </p:spPr>
        <p:txBody>
          <a:bodyPr vert="horz" wrap="squar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dirty="0">
                <a:solidFill>
                  <a:srgbClr val="000000"/>
                </a:solidFill>
                <a:latin typeface="Arial Regular"/>
                <a:ea typeface="ＭＳ Ｐゴシック" pitchFamily="34"/>
                <a:cs typeface="MS Gothic" pitchFamily="49"/>
              </a:rPr>
              <a:t>HDMI auf </a:t>
            </a:r>
            <a:r>
              <a:rPr lang="de-DE" dirty="0" err="1">
                <a:solidFill>
                  <a:srgbClr val="000000"/>
                </a:solidFill>
                <a:latin typeface="Arial Regular"/>
                <a:ea typeface="ＭＳ Ｐゴシック" pitchFamily="34"/>
                <a:cs typeface="MS Gothic" pitchFamily="49"/>
              </a:rPr>
              <a:t>micro</a:t>
            </a:r>
            <a:r>
              <a:rPr lang="de-DE" dirty="0">
                <a:solidFill>
                  <a:srgbClr val="000000"/>
                </a:solidFill>
                <a:latin typeface="Arial Regular"/>
                <a:ea typeface="ＭＳ Ｐゴシック" pitchFamily="34"/>
                <a:cs typeface="MS Gothic" pitchFamily="49"/>
              </a:rPr>
              <a:t> HDMI</a:t>
            </a:r>
          </a:p>
        </p:txBody>
      </p:sp>
      <p:sp>
        <p:nvSpPr>
          <p:cNvPr id="8" name="Rechteck 5">
            <a:extLst>
              <a:ext uri="{FF2B5EF4-FFF2-40B4-BE49-F238E27FC236}">
                <a16:creationId xmlns:a16="http://schemas.microsoft.com/office/drawing/2014/main" id="{62EF7408-26EE-5345-B164-C88D24427054}"/>
              </a:ext>
            </a:extLst>
          </p:cNvPr>
          <p:cNvSpPr/>
          <p:nvPr/>
        </p:nvSpPr>
        <p:spPr>
          <a:xfrm>
            <a:off x="4311456" y="5584712"/>
            <a:ext cx="4570410" cy="1078065"/>
          </a:xfrm>
          <a:prstGeom prst="rect">
            <a:avLst/>
          </a:prstGeom>
          <a:noFill/>
          <a:ln cap="flat">
            <a:noFill/>
            <a:prstDash val="solid"/>
          </a:ln>
        </p:spPr>
        <p:txBody>
          <a:bodyPr vert="horz" wrap="square" lIns="82944" tIns="41472" rIns="82944" bIns="41472" anchor="t" anchorCtr="0" compatLnSpc="0">
            <a:spAutoFit/>
          </a:bodyPr>
          <a:lstStyle/>
          <a:p>
            <a:pPr hangingPunct="0"/>
            <a:r>
              <a:rPr lang="de-DE" dirty="0">
                <a:solidFill>
                  <a:srgbClr val="000000"/>
                </a:solidFill>
                <a:latin typeface="Arial Regular"/>
                <a:ea typeface="ＭＳ Ｐゴシック" pitchFamily="34"/>
                <a:cs typeface="MS Gothic" pitchFamily="2"/>
              </a:rPr>
              <a:t>HDTV-Übertragung bis 1920 x 1080i mit ´</a:t>
            </a:r>
          </a:p>
          <a:p>
            <a:pPr hangingPunct="0"/>
            <a:r>
              <a:rPr lang="de-DE" dirty="0">
                <a:solidFill>
                  <a:srgbClr val="000000"/>
                </a:solidFill>
                <a:latin typeface="Arial Regular"/>
                <a:ea typeface="ＭＳ Ｐゴシック" pitchFamily="34"/>
                <a:cs typeface="MS Gothic" pitchFamily="2"/>
              </a:rPr>
              <a:t>Digital </a:t>
            </a:r>
            <a:r>
              <a:rPr lang="de-DE" dirty="0" err="1">
                <a:solidFill>
                  <a:srgbClr val="000000"/>
                </a:solidFill>
                <a:latin typeface="Arial Regular"/>
                <a:ea typeface="ＭＳ Ｐゴシック" pitchFamily="34"/>
                <a:cs typeface="MS Gothic" pitchFamily="2"/>
              </a:rPr>
              <a:t>Rights</a:t>
            </a:r>
            <a:r>
              <a:rPr lang="de-DE" dirty="0">
                <a:solidFill>
                  <a:srgbClr val="000000"/>
                </a:solidFill>
                <a:latin typeface="Arial Regular"/>
                <a:ea typeface="ＭＳ Ｐゴシック" pitchFamily="34"/>
                <a:cs typeface="MS Gothic" pitchFamily="2"/>
              </a:rPr>
              <a:t> Management (DRM, Kopierschutz), 8 Audiokanäle bei maximal 192 KHz Sample Rate und 24 Bit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49">
    <p:bg>
      <p:bgPr>
        <a:solidFill>
          <a:srgbClr val="FFFFFF"/>
        </a:solidFill>
        <a:effectLst/>
      </p:bgPr>
    </p:bg>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4561870-0E32-BE40-95C7-7B68A43D2CA2}"/>
              </a:ext>
            </a:extLst>
          </p:cNvPr>
          <p:cNvSpPr/>
          <p:nvPr/>
        </p:nvSpPr>
        <p:spPr>
          <a:xfrm>
            <a:off x="1530872" y="664239"/>
            <a:ext cx="3253473" cy="406655"/>
          </a:xfrm>
          <a:prstGeom prst="rect">
            <a:avLst/>
          </a:prstGeom>
          <a:noFill/>
          <a:ln cap="flat">
            <a:noFill/>
            <a:prstDash val="solid"/>
          </a:ln>
        </p:spPr>
        <p:txBody>
          <a:bodyPr vert="horz" wrap="none" lIns="81638" tIns="42452" rIns="81638" bIns="42452" anchor="t" anchorCtr="0" compatLnSpc="0">
            <a:spAutoFit/>
          </a:bodyPr>
          <a:lstStyle/>
          <a:p>
            <a:pPr hangingPunct="0">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latin typeface="Arial Regular"/>
                <a:ea typeface="ＭＳ Ｐゴシック" pitchFamily="34"/>
                <a:cs typeface="MS Gothic" pitchFamily="49"/>
              </a:rPr>
              <a:t>Adapter, Verlängerungen</a:t>
            </a:r>
          </a:p>
        </p:txBody>
      </p:sp>
      <p:pic>
        <p:nvPicPr>
          <p:cNvPr id="3" name="Bild 1" descr="3.5mmStereo-Adapterauf6.35mmStereoStecker-AudioAdapter.jpg">
            <a:extLst>
              <a:ext uri="{FF2B5EF4-FFF2-40B4-BE49-F238E27FC236}">
                <a16:creationId xmlns:a16="http://schemas.microsoft.com/office/drawing/2014/main" id="{56B4BC99-09E2-1243-A99A-5BE38A27A6B2}"/>
              </a:ext>
            </a:extLst>
          </p:cNvPr>
          <p:cNvPicPr>
            <a:picLocks noChangeAspect="1"/>
          </p:cNvPicPr>
          <p:nvPr/>
        </p:nvPicPr>
        <p:blipFill>
          <a:blip r:embed="rId3"/>
          <a:srcRect/>
          <a:stretch>
            <a:fillRect/>
          </a:stretch>
        </p:blipFill>
        <p:spPr>
          <a:xfrm>
            <a:off x="652450" y="1338240"/>
            <a:ext cx="1468827" cy="1612836"/>
          </a:xfrm>
          <a:prstGeom prst="rect">
            <a:avLst/>
          </a:prstGeom>
          <a:noFill/>
          <a:ln cap="flat">
            <a:noFill/>
          </a:ln>
          <a:effectLst>
            <a:outerShdw dist="23040" dir="5400000" algn="tl">
              <a:srgbClr val="000000">
                <a:alpha val="35000"/>
              </a:srgbClr>
            </a:outerShdw>
          </a:effectLst>
        </p:spPr>
      </p:pic>
      <p:pic>
        <p:nvPicPr>
          <p:cNvPr id="4" name="Bild 2" descr="105001.jpg">
            <a:extLst>
              <a:ext uri="{FF2B5EF4-FFF2-40B4-BE49-F238E27FC236}">
                <a16:creationId xmlns:a16="http://schemas.microsoft.com/office/drawing/2014/main" id="{963A3EC4-8AD6-7649-B353-954B863F826A}"/>
              </a:ext>
            </a:extLst>
          </p:cNvPr>
          <p:cNvPicPr>
            <a:picLocks noChangeAspect="1"/>
          </p:cNvPicPr>
          <p:nvPr/>
        </p:nvPicPr>
        <p:blipFill>
          <a:blip r:embed="rId4"/>
          <a:srcRect/>
          <a:stretch>
            <a:fillRect/>
          </a:stretch>
        </p:blipFill>
        <p:spPr>
          <a:xfrm>
            <a:off x="3003945" y="1731082"/>
            <a:ext cx="1241221" cy="1481889"/>
          </a:xfrm>
          <a:prstGeom prst="rect">
            <a:avLst/>
          </a:prstGeom>
          <a:noFill/>
          <a:ln cap="flat">
            <a:noFill/>
          </a:ln>
          <a:effectLst>
            <a:outerShdw dist="23040" dir="5400000" algn="tl">
              <a:srgbClr val="000000">
                <a:alpha val="35000"/>
              </a:srgbClr>
            </a:outerShdw>
          </a:effectLst>
        </p:spPr>
      </p:pic>
      <p:pic>
        <p:nvPicPr>
          <p:cNvPr id="5" name="Bild 3" descr="105091.jpg">
            <a:extLst>
              <a:ext uri="{FF2B5EF4-FFF2-40B4-BE49-F238E27FC236}">
                <a16:creationId xmlns:a16="http://schemas.microsoft.com/office/drawing/2014/main" id="{603674DF-8DD1-8845-BEF0-881771CABC0A}"/>
              </a:ext>
            </a:extLst>
          </p:cNvPr>
          <p:cNvPicPr>
            <a:picLocks noChangeAspect="1"/>
          </p:cNvPicPr>
          <p:nvPr/>
        </p:nvPicPr>
        <p:blipFill>
          <a:blip r:embed="rId5"/>
          <a:srcRect/>
          <a:stretch>
            <a:fillRect/>
          </a:stretch>
        </p:blipFill>
        <p:spPr>
          <a:xfrm>
            <a:off x="4636701" y="1991996"/>
            <a:ext cx="1106029" cy="738659"/>
          </a:xfrm>
          <a:prstGeom prst="rect">
            <a:avLst/>
          </a:prstGeom>
          <a:noFill/>
          <a:ln cap="flat">
            <a:noFill/>
          </a:ln>
          <a:effectLst>
            <a:outerShdw dist="23040" dir="5400000" algn="tl">
              <a:srgbClr val="000000">
                <a:alpha val="35000"/>
              </a:srgbClr>
            </a:outerShdw>
          </a:effectLst>
        </p:spPr>
      </p:pic>
      <p:pic>
        <p:nvPicPr>
          <p:cNvPr id="6" name="Bild 4" descr="105135.jpg">
            <a:extLst>
              <a:ext uri="{FF2B5EF4-FFF2-40B4-BE49-F238E27FC236}">
                <a16:creationId xmlns:a16="http://schemas.microsoft.com/office/drawing/2014/main" id="{4EF2711D-389C-CA4B-83F0-F5159744A29D}"/>
              </a:ext>
            </a:extLst>
          </p:cNvPr>
          <p:cNvPicPr>
            <a:picLocks noChangeAspect="1"/>
          </p:cNvPicPr>
          <p:nvPr/>
        </p:nvPicPr>
        <p:blipFill>
          <a:blip r:embed="rId6"/>
          <a:srcRect/>
          <a:stretch>
            <a:fillRect/>
          </a:stretch>
        </p:blipFill>
        <p:spPr>
          <a:xfrm>
            <a:off x="5914169" y="2920708"/>
            <a:ext cx="1106029" cy="757599"/>
          </a:xfrm>
          <a:prstGeom prst="rect">
            <a:avLst/>
          </a:prstGeom>
          <a:noFill/>
          <a:ln cap="flat">
            <a:noFill/>
          </a:ln>
          <a:effectLst>
            <a:outerShdw dist="23040" dir="5400000" algn="tl">
              <a:srgbClr val="000000">
                <a:alpha val="35000"/>
              </a:srgbClr>
            </a:outerShdw>
          </a:effectLst>
        </p:spPr>
      </p:pic>
      <p:pic>
        <p:nvPicPr>
          <p:cNvPr id="7" name="Bild 5" descr="105142.jpg">
            <a:extLst>
              <a:ext uri="{FF2B5EF4-FFF2-40B4-BE49-F238E27FC236}">
                <a16:creationId xmlns:a16="http://schemas.microsoft.com/office/drawing/2014/main" id="{9D62C60F-031A-B04B-8A0E-13319E157086}"/>
              </a:ext>
            </a:extLst>
          </p:cNvPr>
          <p:cNvPicPr>
            <a:picLocks noChangeAspect="1"/>
          </p:cNvPicPr>
          <p:nvPr/>
        </p:nvPicPr>
        <p:blipFill>
          <a:blip r:embed="rId7"/>
          <a:srcRect/>
          <a:stretch>
            <a:fillRect/>
          </a:stretch>
        </p:blipFill>
        <p:spPr>
          <a:xfrm>
            <a:off x="6465714" y="1404204"/>
            <a:ext cx="1106029" cy="760211"/>
          </a:xfrm>
          <a:prstGeom prst="rect">
            <a:avLst/>
          </a:prstGeom>
          <a:noFill/>
          <a:ln cap="flat">
            <a:noFill/>
          </a:ln>
          <a:effectLst>
            <a:outerShdw dist="23040" dir="5400000" algn="tl">
              <a:srgbClr val="000000">
                <a:alpha val="35000"/>
              </a:srgbClr>
            </a:outerShdw>
          </a:effectLst>
        </p:spPr>
      </p:pic>
      <p:pic>
        <p:nvPicPr>
          <p:cNvPr id="8" name="Bild 6" descr="105146.jpg">
            <a:extLst>
              <a:ext uri="{FF2B5EF4-FFF2-40B4-BE49-F238E27FC236}">
                <a16:creationId xmlns:a16="http://schemas.microsoft.com/office/drawing/2014/main" id="{54409AD7-207D-274D-8A3D-BC6B8F88A2E5}"/>
              </a:ext>
            </a:extLst>
          </p:cNvPr>
          <p:cNvPicPr>
            <a:picLocks noChangeAspect="1"/>
          </p:cNvPicPr>
          <p:nvPr/>
        </p:nvPicPr>
        <p:blipFill>
          <a:blip r:embed="rId8"/>
          <a:srcRect/>
          <a:stretch>
            <a:fillRect/>
          </a:stretch>
        </p:blipFill>
        <p:spPr>
          <a:xfrm>
            <a:off x="6400730" y="4343491"/>
            <a:ext cx="1106029" cy="879729"/>
          </a:xfrm>
          <a:prstGeom prst="rect">
            <a:avLst/>
          </a:prstGeom>
          <a:noFill/>
          <a:ln cap="flat">
            <a:noFill/>
          </a:ln>
          <a:effectLst>
            <a:outerShdw dist="23040" dir="5400000" algn="tl">
              <a:srgbClr val="000000">
                <a:alpha val="35000"/>
              </a:srgbClr>
            </a:outerShdw>
          </a:effectLst>
        </p:spPr>
      </p:pic>
      <p:pic>
        <p:nvPicPr>
          <p:cNvPr id="9" name="Bild 7" descr="106472.jpg">
            <a:extLst>
              <a:ext uri="{FF2B5EF4-FFF2-40B4-BE49-F238E27FC236}">
                <a16:creationId xmlns:a16="http://schemas.microsoft.com/office/drawing/2014/main" id="{2A6D7F15-7D52-C942-BBCE-931B9B43B7E5}"/>
              </a:ext>
            </a:extLst>
          </p:cNvPr>
          <p:cNvPicPr>
            <a:picLocks noChangeAspect="1"/>
          </p:cNvPicPr>
          <p:nvPr/>
        </p:nvPicPr>
        <p:blipFill>
          <a:blip r:embed="rId9"/>
          <a:srcRect/>
          <a:stretch>
            <a:fillRect/>
          </a:stretch>
        </p:blipFill>
        <p:spPr>
          <a:xfrm>
            <a:off x="4618087" y="3551279"/>
            <a:ext cx="1106029" cy="777517"/>
          </a:xfrm>
          <a:prstGeom prst="rect">
            <a:avLst/>
          </a:prstGeom>
          <a:noFill/>
          <a:ln cap="flat">
            <a:noFill/>
          </a:ln>
          <a:effectLst>
            <a:outerShdw dist="23040" dir="5400000" algn="tl">
              <a:srgbClr val="000000">
                <a:alpha val="35000"/>
              </a:srgbClr>
            </a:outerShdw>
          </a:effectLst>
        </p:spPr>
      </p:pic>
      <p:pic>
        <p:nvPicPr>
          <p:cNvPr id="10" name="Bild 8" descr="128498.jpg">
            <a:extLst>
              <a:ext uri="{FF2B5EF4-FFF2-40B4-BE49-F238E27FC236}">
                <a16:creationId xmlns:a16="http://schemas.microsoft.com/office/drawing/2014/main" id="{6B05C47E-324E-8D44-84D5-BCFE5233E7F8}"/>
              </a:ext>
            </a:extLst>
          </p:cNvPr>
          <p:cNvPicPr>
            <a:picLocks noChangeAspect="1"/>
          </p:cNvPicPr>
          <p:nvPr/>
        </p:nvPicPr>
        <p:blipFill>
          <a:blip r:embed="rId10"/>
          <a:srcRect/>
          <a:stretch>
            <a:fillRect/>
          </a:stretch>
        </p:blipFill>
        <p:spPr>
          <a:xfrm>
            <a:off x="5225799" y="5715659"/>
            <a:ext cx="1391108" cy="833685"/>
          </a:xfrm>
          <a:prstGeom prst="rect">
            <a:avLst/>
          </a:prstGeom>
          <a:noFill/>
          <a:ln cap="flat">
            <a:noFill/>
          </a:ln>
          <a:effectLst>
            <a:outerShdw dist="23040" dir="5400000" algn="tl">
              <a:srgbClr val="000000">
                <a:alpha val="35000"/>
              </a:srgbClr>
            </a:outerShdw>
          </a:effectLst>
        </p:spPr>
      </p:pic>
      <p:pic>
        <p:nvPicPr>
          <p:cNvPr id="11" name="Bild 9" descr="149095.jpg">
            <a:extLst>
              <a:ext uri="{FF2B5EF4-FFF2-40B4-BE49-F238E27FC236}">
                <a16:creationId xmlns:a16="http://schemas.microsoft.com/office/drawing/2014/main" id="{89B961A5-4D5B-594E-9824-E5BC14BA842A}"/>
              </a:ext>
            </a:extLst>
          </p:cNvPr>
          <p:cNvPicPr>
            <a:picLocks noChangeAspect="1"/>
          </p:cNvPicPr>
          <p:nvPr/>
        </p:nvPicPr>
        <p:blipFill>
          <a:blip r:embed="rId11"/>
          <a:srcRect/>
          <a:stretch>
            <a:fillRect/>
          </a:stretch>
        </p:blipFill>
        <p:spPr>
          <a:xfrm>
            <a:off x="1095905" y="2769515"/>
            <a:ext cx="1106029" cy="980633"/>
          </a:xfrm>
          <a:prstGeom prst="rect">
            <a:avLst/>
          </a:prstGeom>
          <a:noFill/>
          <a:ln cap="flat">
            <a:noFill/>
          </a:ln>
          <a:effectLst>
            <a:outerShdw dist="23040" dir="5400000" algn="tl">
              <a:srgbClr val="000000">
                <a:alpha val="35000"/>
              </a:srgbClr>
            </a:outerShdw>
          </a:effectLst>
        </p:spPr>
      </p:pic>
      <p:pic>
        <p:nvPicPr>
          <p:cNvPr id="12" name="Bild 10" descr="197061.jpg">
            <a:extLst>
              <a:ext uri="{FF2B5EF4-FFF2-40B4-BE49-F238E27FC236}">
                <a16:creationId xmlns:a16="http://schemas.microsoft.com/office/drawing/2014/main" id="{34C77AEC-3091-0D45-B460-F3EBF04DD94F}"/>
              </a:ext>
            </a:extLst>
          </p:cNvPr>
          <p:cNvPicPr>
            <a:picLocks noChangeAspect="1"/>
          </p:cNvPicPr>
          <p:nvPr/>
        </p:nvPicPr>
        <p:blipFill>
          <a:blip r:embed="rId12"/>
          <a:srcRect/>
          <a:stretch>
            <a:fillRect/>
          </a:stretch>
        </p:blipFill>
        <p:spPr>
          <a:xfrm>
            <a:off x="1828686" y="3493804"/>
            <a:ext cx="1959960" cy="1208239"/>
          </a:xfrm>
          <a:prstGeom prst="rect">
            <a:avLst/>
          </a:prstGeom>
          <a:noFill/>
          <a:ln cap="flat">
            <a:noFill/>
          </a:ln>
          <a:effectLst>
            <a:outerShdw dist="23040" dir="5400000" algn="tl">
              <a:srgbClr val="000000">
                <a:alpha val="35000"/>
              </a:srgbClr>
            </a:outerShdw>
          </a:effectLst>
        </p:spPr>
      </p:pic>
      <p:pic>
        <p:nvPicPr>
          <p:cNvPr id="13" name="Bild 11" descr="197084.jpg">
            <a:extLst>
              <a:ext uri="{FF2B5EF4-FFF2-40B4-BE49-F238E27FC236}">
                <a16:creationId xmlns:a16="http://schemas.microsoft.com/office/drawing/2014/main" id="{8124B11D-FE74-EE42-8D57-E9B6D1B7AA63}"/>
              </a:ext>
            </a:extLst>
          </p:cNvPr>
          <p:cNvPicPr>
            <a:picLocks noChangeAspect="1"/>
          </p:cNvPicPr>
          <p:nvPr/>
        </p:nvPicPr>
        <p:blipFill>
          <a:blip r:embed="rId13"/>
          <a:srcRect/>
          <a:stretch>
            <a:fillRect/>
          </a:stretch>
        </p:blipFill>
        <p:spPr>
          <a:xfrm>
            <a:off x="4636701" y="4604079"/>
            <a:ext cx="1247098" cy="1085783"/>
          </a:xfrm>
          <a:prstGeom prst="rect">
            <a:avLst/>
          </a:prstGeom>
          <a:noFill/>
          <a:ln cap="flat">
            <a:noFill/>
          </a:ln>
          <a:effectLst>
            <a:outerShdw dist="23040" dir="5400000" algn="tl">
              <a:srgbClr val="000000">
                <a:alpha val="35000"/>
              </a:srgbClr>
            </a:outerShdw>
          </a:effectLst>
        </p:spPr>
      </p:pic>
      <p:pic>
        <p:nvPicPr>
          <p:cNvPr id="14" name="Bild 12" descr="259699.jpg">
            <a:extLst>
              <a:ext uri="{FF2B5EF4-FFF2-40B4-BE49-F238E27FC236}">
                <a16:creationId xmlns:a16="http://schemas.microsoft.com/office/drawing/2014/main" id="{029EC16C-C796-AA43-9BCE-AB83E9FE9E9A}"/>
              </a:ext>
            </a:extLst>
          </p:cNvPr>
          <p:cNvPicPr>
            <a:picLocks noChangeAspect="1"/>
          </p:cNvPicPr>
          <p:nvPr/>
        </p:nvPicPr>
        <p:blipFill>
          <a:blip r:embed="rId14"/>
          <a:srcRect/>
          <a:stretch>
            <a:fillRect/>
          </a:stretch>
        </p:blipFill>
        <p:spPr>
          <a:xfrm>
            <a:off x="2024618" y="4997247"/>
            <a:ext cx="1476010" cy="1114519"/>
          </a:xfrm>
          <a:prstGeom prst="rect">
            <a:avLst/>
          </a:prstGeom>
          <a:noFill/>
          <a:ln cap="flat">
            <a:noFill/>
          </a:ln>
          <a:effectLst>
            <a:outerShdw dist="23040" dir="5400000" algn="tl">
              <a:srgbClr val="000000">
                <a:alpha val="35000"/>
              </a:srgbClr>
            </a:outerShdw>
          </a:effectLst>
        </p:spPr>
      </p:pic>
      <p:pic>
        <p:nvPicPr>
          <p:cNvPr id="15" name="Bild 13" descr="273713.jpg">
            <a:extLst>
              <a:ext uri="{FF2B5EF4-FFF2-40B4-BE49-F238E27FC236}">
                <a16:creationId xmlns:a16="http://schemas.microsoft.com/office/drawing/2014/main" id="{0AA71F99-C3DB-FC4B-9754-CB268F92E33A}"/>
              </a:ext>
            </a:extLst>
          </p:cNvPr>
          <p:cNvPicPr>
            <a:picLocks noChangeAspect="1"/>
          </p:cNvPicPr>
          <p:nvPr/>
        </p:nvPicPr>
        <p:blipFill>
          <a:blip r:embed="rId15"/>
          <a:srcRect/>
          <a:stretch>
            <a:fillRect/>
          </a:stretch>
        </p:blipFill>
        <p:spPr>
          <a:xfrm>
            <a:off x="7641951" y="1860721"/>
            <a:ext cx="1055413" cy="2122583"/>
          </a:xfrm>
          <a:prstGeom prst="rect">
            <a:avLst/>
          </a:prstGeom>
          <a:noFill/>
          <a:ln cap="flat">
            <a:noFill/>
          </a:ln>
          <a:effectLst>
            <a:outerShdw dist="23040" dir="5400000" algn="tl">
              <a:srgbClr val="000000">
                <a:alpha val="35000"/>
              </a:srgbClr>
            </a:outerShdw>
          </a:effectLst>
        </p:spPr>
      </p:pic>
      <p:pic>
        <p:nvPicPr>
          <p:cNvPr id="16" name="Bild 14" descr="audio_adapter2.jpg">
            <a:extLst>
              <a:ext uri="{FF2B5EF4-FFF2-40B4-BE49-F238E27FC236}">
                <a16:creationId xmlns:a16="http://schemas.microsoft.com/office/drawing/2014/main" id="{5F42BB65-0EA5-2C41-9173-82C7238DA94A}"/>
              </a:ext>
            </a:extLst>
          </p:cNvPr>
          <p:cNvPicPr>
            <a:picLocks noChangeAspect="1"/>
          </p:cNvPicPr>
          <p:nvPr/>
        </p:nvPicPr>
        <p:blipFill>
          <a:blip r:embed="rId16"/>
          <a:srcRect/>
          <a:stretch>
            <a:fillRect/>
          </a:stretch>
        </p:blipFill>
        <p:spPr>
          <a:xfrm>
            <a:off x="7380058" y="5257834"/>
            <a:ext cx="1307510" cy="1306205"/>
          </a:xfrm>
          <a:prstGeom prst="rect">
            <a:avLst/>
          </a:prstGeom>
          <a:noFill/>
          <a:ln cap="flat">
            <a:noFill/>
          </a:ln>
          <a:effectLst>
            <a:outerShdw dist="23040" dir="5400000" algn="tl">
              <a:srgbClr val="000000">
                <a:alpha val="35000"/>
              </a:srgbClr>
            </a:outerShdw>
          </a:effectLst>
        </p:spPr>
      </p:pic>
      <p:pic>
        <p:nvPicPr>
          <p:cNvPr id="17" name="Bild 15" descr="Audio-Adapter-63-mm-Klinkenbuchse-stereo-auf-XLR-Buchse-female.jpg">
            <a:extLst>
              <a:ext uri="{FF2B5EF4-FFF2-40B4-BE49-F238E27FC236}">
                <a16:creationId xmlns:a16="http://schemas.microsoft.com/office/drawing/2014/main" id="{40FFC58B-4A8E-9247-8816-E9BE7022DB68}"/>
              </a:ext>
            </a:extLst>
          </p:cNvPr>
          <p:cNvPicPr>
            <a:picLocks noChangeAspect="1"/>
          </p:cNvPicPr>
          <p:nvPr/>
        </p:nvPicPr>
        <p:blipFill>
          <a:blip r:embed="rId17"/>
          <a:srcRect/>
          <a:stretch>
            <a:fillRect/>
          </a:stretch>
        </p:blipFill>
        <p:spPr>
          <a:xfrm>
            <a:off x="-2939" y="4963939"/>
            <a:ext cx="1894977" cy="1893670"/>
          </a:xfrm>
          <a:prstGeom prst="rect">
            <a:avLst/>
          </a:prstGeom>
          <a:noFill/>
          <a:ln cap="flat">
            <a:noFill/>
          </a:ln>
          <a:effectLst>
            <a:outerShdw dist="23040" dir="5400000" algn="tl">
              <a:srgbClr val="000000">
                <a:alpha val="35000"/>
              </a:srgbClr>
            </a:outerShdw>
          </a:effectLst>
        </p:spPr>
      </p:pic>
      <p:pic>
        <p:nvPicPr>
          <p:cNvPr id="18" name="Bild 16" descr="Audio-Adapter-Klinkenbuchse-63-mm-Stereo-XLR-Stecker.jpg">
            <a:extLst>
              <a:ext uri="{FF2B5EF4-FFF2-40B4-BE49-F238E27FC236}">
                <a16:creationId xmlns:a16="http://schemas.microsoft.com/office/drawing/2014/main" id="{579D743A-393A-8D47-A81F-2B02264023EB}"/>
              </a:ext>
            </a:extLst>
          </p:cNvPr>
          <p:cNvPicPr>
            <a:picLocks noChangeAspect="1"/>
          </p:cNvPicPr>
          <p:nvPr/>
        </p:nvPicPr>
        <p:blipFill>
          <a:blip r:embed="rId18"/>
          <a:srcRect/>
          <a:stretch>
            <a:fillRect/>
          </a:stretch>
        </p:blipFill>
        <p:spPr>
          <a:xfrm>
            <a:off x="7511004" y="294257"/>
            <a:ext cx="1045290" cy="1043984"/>
          </a:xfrm>
          <a:prstGeom prst="rect">
            <a:avLst/>
          </a:prstGeom>
          <a:noFill/>
          <a:ln cap="flat">
            <a:noFill/>
          </a:ln>
          <a:effectLst>
            <a:outerShdw dist="23040" dir="5400000" algn="tl">
              <a:srgbClr val="000000">
                <a:alpha val="35000"/>
              </a:srgbClr>
            </a:outerShdw>
          </a:effectLst>
        </p:spPr>
      </p:pic>
      <p:pic>
        <p:nvPicPr>
          <p:cNvPr id="19" name="Bild 17" descr="Hama-Audio-Adapter-35-mm-Klinken-Kupp-63-mm-Klinken-St-6755129.jpg">
            <a:extLst>
              <a:ext uri="{FF2B5EF4-FFF2-40B4-BE49-F238E27FC236}">
                <a16:creationId xmlns:a16="http://schemas.microsoft.com/office/drawing/2014/main" id="{8F8FC89B-97D1-3842-8362-5C16F254237A}"/>
              </a:ext>
            </a:extLst>
          </p:cNvPr>
          <p:cNvPicPr>
            <a:picLocks noChangeAspect="1"/>
          </p:cNvPicPr>
          <p:nvPr/>
        </p:nvPicPr>
        <p:blipFill>
          <a:blip r:embed="rId19"/>
          <a:srcRect/>
          <a:stretch>
            <a:fillRect/>
          </a:stretch>
        </p:blipFill>
        <p:spPr>
          <a:xfrm>
            <a:off x="4963578" y="358914"/>
            <a:ext cx="1435519" cy="1435519"/>
          </a:xfrm>
          <a:prstGeom prst="rect">
            <a:avLst/>
          </a:prstGeom>
          <a:noFill/>
          <a:ln cap="flat">
            <a:noFill/>
          </a:ln>
          <a:effectLst>
            <a:outerShdw dist="23040" dir="5400000" algn="tl">
              <a:srgbClr val="000000">
                <a:alpha val="35000"/>
              </a:srgbClr>
            </a:outerShdw>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51">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27DE8E3B-C252-A34B-8187-5DA40EF30A37}"/>
              </a:ext>
            </a:extLst>
          </p:cNvPr>
          <p:cNvSpPr txBox="1"/>
          <p:nvPr/>
        </p:nvSpPr>
        <p:spPr>
          <a:xfrm>
            <a:off x="748782" y="2286219"/>
            <a:ext cx="7741549" cy="345491"/>
          </a:xfrm>
          <a:prstGeom prst="rect">
            <a:avLst/>
          </a:prstGeom>
          <a:solidFill>
            <a:srgbClr val="FFFFFF"/>
          </a:solidFill>
          <a:ln cap="flat">
            <a:noFill/>
          </a:ln>
        </p:spPr>
        <p:txBody>
          <a:bodyPr vert="horz" wrap="square" lIns="0" tIns="0" rIns="0" bIns="0" anchor="t" anchorCtr="0" compatLnSpc="0">
            <a:normAutofit/>
          </a:bodyPr>
          <a:lstStyle/>
          <a:p>
            <a:pPr hangingPunct="0">
              <a:lnSpc>
                <a:spcPct val="85000"/>
              </a:lnSpc>
              <a:spcBef>
                <a:spcPts val="545"/>
              </a:spcBef>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defRPr sz="2800"/>
            </a:pPr>
            <a:r>
              <a:rPr lang="de-DE" sz="2540" dirty="0">
                <a:solidFill>
                  <a:srgbClr val="000000"/>
                </a:solidFill>
                <a:effectLst>
                  <a:outerShdw dist="17961" dir="2700000">
                    <a:scrgbClr r="0" g="0" b="0"/>
                  </a:outerShdw>
                </a:effectLst>
                <a:latin typeface="Arial Regular"/>
                <a:ea typeface="ＭＳ Ｐゴシック" pitchFamily="2"/>
                <a:cs typeface="MS Gothic" pitchFamily="2"/>
              </a:rPr>
              <a:t>Klangsynthese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52">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5D025E48-C260-3846-A7D4-698762B415B6}"/>
              </a:ext>
            </a:extLst>
          </p:cNvPr>
          <p:cNvSpPr txBox="1"/>
          <p:nvPr/>
        </p:nvSpPr>
        <p:spPr>
          <a:xfrm>
            <a:off x="760212" y="760572"/>
            <a:ext cx="7741549" cy="345491"/>
          </a:xfrm>
          <a:prstGeom prst="rect">
            <a:avLst/>
          </a:prstGeom>
          <a:solidFill>
            <a:srgbClr val="FFFFFF"/>
          </a:solidFill>
          <a:ln cap="flat">
            <a:noFill/>
          </a:ln>
        </p:spPr>
        <p:txBody>
          <a:bodyPr vert="horz" wrap="square" lIns="0" tIns="0" rIns="0" bIns="0" anchor="t" anchorCtr="0" compatLnSpc="0">
            <a:normAutofit/>
          </a:bodyPr>
          <a:lstStyle/>
          <a:p>
            <a:pPr hangingPunct="0">
              <a:lnSpc>
                <a:spcPct val="85000"/>
              </a:lnSpc>
              <a:spcBef>
                <a:spcPts val="545"/>
              </a:spcBef>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effectLst>
                  <a:outerShdw dist="17961" dir="2700000">
                    <a:scrgbClr r="0" g="0" b="0"/>
                  </a:outerShdw>
                </a:effectLst>
                <a:latin typeface="Arial Regular"/>
                <a:ea typeface="ＭＳ Ｐゴシック" pitchFamily="2"/>
                <a:cs typeface="MS Gothic" pitchFamily="2"/>
              </a:rPr>
              <a:t>Additive Synthese</a:t>
            </a:r>
          </a:p>
        </p:txBody>
      </p:sp>
      <p:pic>
        <p:nvPicPr>
          <p:cNvPr id="3" name="Bild 1">
            <a:extLst>
              <a:ext uri="{FF2B5EF4-FFF2-40B4-BE49-F238E27FC236}">
                <a16:creationId xmlns:a16="http://schemas.microsoft.com/office/drawing/2014/main" id="{CAB2E731-8316-CD43-B7DF-030CE233E859}"/>
              </a:ext>
            </a:extLst>
          </p:cNvPr>
          <p:cNvPicPr>
            <a:picLocks noChangeAspect="1"/>
          </p:cNvPicPr>
          <p:nvPr/>
        </p:nvPicPr>
        <p:blipFill>
          <a:blip r:embed="rId3"/>
          <a:srcRect/>
          <a:stretch>
            <a:fillRect/>
          </a:stretch>
        </p:blipFill>
        <p:spPr>
          <a:xfrm>
            <a:off x="1752600" y="1208600"/>
            <a:ext cx="6841574" cy="5404422"/>
          </a:xfrm>
          <a:prstGeom prst="rect">
            <a:avLst/>
          </a:prstGeom>
          <a:noFill/>
          <a:ln cap="flat">
            <a:noFill/>
          </a:ln>
          <a:effectLst>
            <a:outerShdw dist="23040" dir="5400000" algn="tl">
              <a:srgbClr val="000000">
                <a:alpha val="35000"/>
              </a:srgbClr>
            </a:outerShdw>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53">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562C26E8-42F5-DD40-934E-623ECB855C2C}"/>
              </a:ext>
            </a:extLst>
          </p:cNvPr>
          <p:cNvSpPr txBox="1"/>
          <p:nvPr/>
        </p:nvSpPr>
        <p:spPr>
          <a:xfrm>
            <a:off x="760212" y="760572"/>
            <a:ext cx="7741549" cy="345491"/>
          </a:xfrm>
          <a:prstGeom prst="rect">
            <a:avLst/>
          </a:prstGeom>
          <a:solidFill>
            <a:srgbClr val="FFFFFF"/>
          </a:solidFill>
          <a:ln cap="flat">
            <a:noFill/>
          </a:ln>
        </p:spPr>
        <p:txBody>
          <a:bodyPr vert="horz" wrap="square" lIns="0" tIns="0" rIns="0" bIns="0" anchor="t" anchorCtr="0" compatLnSpc="0">
            <a:normAutofit/>
          </a:bodyPr>
          <a:lstStyle/>
          <a:p>
            <a:pPr hangingPunct="0">
              <a:lnSpc>
                <a:spcPct val="85000"/>
              </a:lnSpc>
              <a:spcBef>
                <a:spcPts val="545"/>
              </a:spcBef>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effectLst>
                  <a:outerShdw dist="17961" dir="2700000">
                    <a:scrgbClr r="0" g="0" b="0"/>
                  </a:outerShdw>
                </a:effectLst>
                <a:latin typeface="Arial Regular"/>
                <a:ea typeface="ＭＳ Ｐゴシック" pitchFamily="2"/>
                <a:cs typeface="MS Gothic" pitchFamily="2"/>
              </a:rPr>
              <a:t>Additive Synthese einer Rechteckschwingung</a:t>
            </a:r>
          </a:p>
        </p:txBody>
      </p:sp>
      <p:pic>
        <p:nvPicPr>
          <p:cNvPr id="3" name="Bild 2">
            <a:extLst>
              <a:ext uri="{FF2B5EF4-FFF2-40B4-BE49-F238E27FC236}">
                <a16:creationId xmlns:a16="http://schemas.microsoft.com/office/drawing/2014/main" id="{B35DD699-8016-8545-BD41-A7D5D0BB8BA1}"/>
              </a:ext>
            </a:extLst>
          </p:cNvPr>
          <p:cNvPicPr>
            <a:picLocks noChangeAspect="1"/>
          </p:cNvPicPr>
          <p:nvPr/>
        </p:nvPicPr>
        <p:blipFill>
          <a:blip r:embed="rId3"/>
          <a:srcRect/>
          <a:stretch>
            <a:fillRect/>
          </a:stretch>
        </p:blipFill>
        <p:spPr>
          <a:xfrm>
            <a:off x="2024618" y="1292196"/>
            <a:ext cx="6073852" cy="5112159"/>
          </a:xfrm>
          <a:prstGeom prst="rect">
            <a:avLst/>
          </a:prstGeom>
          <a:noFill/>
          <a:ln cap="flat">
            <a:noFill/>
          </a:ln>
          <a:effectLst>
            <a:outerShdw dist="23040" dir="5400000" algn="tl">
              <a:srgbClr val="000000">
                <a:alpha val="35000"/>
              </a:srgbClr>
            </a:outerShdw>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54">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CE45502F-477E-CD4D-ACAC-BB21487502BC}"/>
              </a:ext>
            </a:extLst>
          </p:cNvPr>
          <p:cNvSpPr txBox="1"/>
          <p:nvPr/>
        </p:nvSpPr>
        <p:spPr>
          <a:xfrm>
            <a:off x="760212" y="760572"/>
            <a:ext cx="7741549" cy="345491"/>
          </a:xfrm>
          <a:prstGeom prst="rect">
            <a:avLst/>
          </a:prstGeom>
          <a:solidFill>
            <a:srgbClr val="FFFFFF"/>
          </a:solidFill>
          <a:ln cap="flat">
            <a:noFill/>
          </a:ln>
        </p:spPr>
        <p:txBody>
          <a:bodyPr vert="horz" wrap="square" lIns="0" tIns="0" rIns="0" bIns="0" anchor="t" anchorCtr="0" compatLnSpc="0">
            <a:normAutofit/>
          </a:bodyPr>
          <a:lstStyle/>
          <a:p>
            <a:pPr hangingPunct="0">
              <a:lnSpc>
                <a:spcPct val="85000"/>
              </a:lnSpc>
              <a:spcBef>
                <a:spcPts val="545"/>
              </a:spcBef>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effectLst>
                  <a:outerShdw dist="17961" dir="2700000">
                    <a:scrgbClr r="0" g="0" b="0"/>
                  </a:outerShdw>
                </a:effectLst>
                <a:latin typeface="Arial Regular"/>
                <a:ea typeface="ＭＳ Ｐゴシック" pitchFamily="2"/>
                <a:cs typeface="MS Gothic" pitchFamily="2"/>
              </a:rPr>
              <a:t>Additive Synthese einer Rechteckschwingung (Fourier)</a:t>
            </a:r>
          </a:p>
        </p:txBody>
      </p:sp>
      <p:pic>
        <p:nvPicPr>
          <p:cNvPr id="3" name="Bild 1">
            <a:extLst>
              <a:ext uri="{FF2B5EF4-FFF2-40B4-BE49-F238E27FC236}">
                <a16:creationId xmlns:a16="http://schemas.microsoft.com/office/drawing/2014/main" id="{D8564784-8A13-DC4C-A75B-2920DAC6D0C7}"/>
              </a:ext>
            </a:extLst>
          </p:cNvPr>
          <p:cNvPicPr>
            <a:picLocks noChangeAspect="1"/>
          </p:cNvPicPr>
          <p:nvPr/>
        </p:nvPicPr>
        <p:blipFill>
          <a:blip r:embed="rId3"/>
          <a:srcRect/>
          <a:stretch>
            <a:fillRect/>
          </a:stretch>
        </p:blipFill>
        <p:spPr>
          <a:xfrm>
            <a:off x="2612083" y="1286319"/>
            <a:ext cx="4442402" cy="4871491"/>
          </a:xfrm>
          <a:prstGeom prst="rect">
            <a:avLst/>
          </a:prstGeom>
          <a:noFill/>
          <a:ln cap="flat">
            <a:noFill/>
          </a:ln>
          <a:effectLst>
            <a:outerShdw dist="23040" dir="5400000" algn="tl">
              <a:srgbClr val="000000">
                <a:alpha val="35000"/>
              </a:srgbClr>
            </a:outerShdw>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7DFE2B35-C996-A647-9A84-F5EA71EA6843}"/>
              </a:ext>
            </a:extLst>
          </p:cNvPr>
          <p:cNvSpPr txBox="1"/>
          <p:nvPr/>
        </p:nvSpPr>
        <p:spPr>
          <a:xfrm>
            <a:off x="1259632" y="980728"/>
            <a:ext cx="7741549" cy="345491"/>
          </a:xfrm>
          <a:prstGeom prst="rect">
            <a:avLst/>
          </a:prstGeom>
          <a:solidFill>
            <a:srgbClr val="FFFFFF"/>
          </a:solidFill>
          <a:ln cap="flat">
            <a:noFill/>
          </a:ln>
        </p:spPr>
        <p:txBody>
          <a:bodyPr vert="horz" wrap="square" lIns="0" tIns="0" rIns="0" bIns="0" anchor="t" anchorCtr="0" compatLnSpc="0">
            <a:normAutofit/>
          </a:bodyPr>
          <a:lstStyle/>
          <a:p>
            <a:pPr hangingPunct="0">
              <a:lnSpc>
                <a:spcPct val="85000"/>
              </a:lnSpc>
              <a:spcBef>
                <a:spcPts val="545"/>
              </a:spcBef>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000" dirty="0" err="1">
                <a:solidFill>
                  <a:srgbClr val="000000"/>
                </a:solidFill>
                <a:effectLst>
                  <a:outerShdw dist="17961" dir="2700000">
                    <a:scrgbClr r="0" g="0" b="0"/>
                  </a:outerShdw>
                </a:effectLst>
                <a:latin typeface="Arial Regular"/>
                <a:ea typeface="ＭＳ Ｐゴシック" pitchFamily="2"/>
                <a:cs typeface="MS Gothic" pitchFamily="2"/>
              </a:rPr>
              <a:t>Equalisation</a:t>
            </a:r>
            <a:r>
              <a:rPr lang="de-DE" sz="2000" dirty="0">
                <a:solidFill>
                  <a:srgbClr val="000000"/>
                </a:solidFill>
                <a:effectLst>
                  <a:outerShdw dist="17961" dir="2700000">
                    <a:scrgbClr r="0" g="0" b="0"/>
                  </a:outerShdw>
                </a:effectLst>
                <a:latin typeface="Arial Regular"/>
                <a:ea typeface="ＭＳ Ｐゴシック" pitchFamily="2"/>
                <a:cs typeface="MS Gothic" pitchFamily="2"/>
              </a:rPr>
              <a:t> (EQ)</a:t>
            </a:r>
          </a:p>
        </p:txBody>
      </p:sp>
      <p:sp>
        <p:nvSpPr>
          <p:cNvPr id="4" name="Textfeld 3">
            <a:extLst>
              <a:ext uri="{FF2B5EF4-FFF2-40B4-BE49-F238E27FC236}">
                <a16:creationId xmlns:a16="http://schemas.microsoft.com/office/drawing/2014/main" id="{5701688A-B167-3DFC-E623-B569A75CBD5F}"/>
              </a:ext>
            </a:extLst>
          </p:cNvPr>
          <p:cNvSpPr txBox="1"/>
          <p:nvPr/>
        </p:nvSpPr>
        <p:spPr>
          <a:xfrm>
            <a:off x="1187624" y="1628800"/>
            <a:ext cx="6768752" cy="5201424"/>
          </a:xfrm>
          <a:prstGeom prst="rect">
            <a:avLst/>
          </a:prstGeom>
          <a:noFill/>
        </p:spPr>
        <p:txBody>
          <a:bodyPr wrap="square">
            <a:spAutoFit/>
          </a:bodyPr>
          <a:lstStyle/>
          <a:p>
            <a:pPr algn="just"/>
            <a:r>
              <a:rPr lang="de-DE" sz="2000" dirty="0" err="1"/>
              <a:t>Equalisation</a:t>
            </a:r>
            <a:r>
              <a:rPr lang="de-DE" sz="2000" dirty="0"/>
              <a:t> (EQ) bezieht sich auf die klangliche Entzerrung und umfasst geringfügige Absenkungen oder Anhebungen der Amplitude im gesamten Frequenzspektrum, um den Frequenzgang des Signals technisch oder subjektiv zu ‚verbessern‘. Die Entzerrung besteht in der Regel aus Filterstufen, die einen </a:t>
            </a:r>
            <a:r>
              <a:rPr lang="de-DE" sz="2000" dirty="0" err="1"/>
              <a:t>Shelf</a:t>
            </a:r>
            <a:r>
              <a:rPr lang="de-DE" sz="2000" dirty="0"/>
              <a:t>- oder glockenförmigen Anstieg aufweisen, der normalerweise 6 dB pro Oktave und selten mehr als 12 dB pro Oktave beträgt. Einfache EQs verfügen lediglich über einen Cut/Boost-Regler für jedes Frequenzband. Komplexere Designs bieten darüber hinaus einstellbare Umschaltfrequenzen und möglicherweise auch eine Anpassung von Q oder Bandbreite. Die flexibelste Form des Equalizers ist der parametrische EQ, der Frequenz-, Bandbreiten- und Absenkungs-/Anhebungsregler bietet.</a:t>
            </a:r>
          </a:p>
          <a:p>
            <a:pPr algn="just"/>
            <a:endParaRPr lang="de-DE" sz="2000" dirty="0"/>
          </a:p>
          <a:p>
            <a:pPr algn="just"/>
            <a:r>
              <a:rPr lang="de-DE" sz="1200" dirty="0"/>
              <a:t>https://</a:t>
            </a:r>
            <a:r>
              <a:rPr lang="de-DE" sz="1200" dirty="0" err="1"/>
              <a:t>www.soundonsound.com</a:t>
            </a:r>
            <a:r>
              <a:rPr lang="de-DE" sz="1200" dirty="0"/>
              <a:t>/sound-</a:t>
            </a:r>
            <a:r>
              <a:rPr lang="de-DE" sz="1200" dirty="0" err="1"/>
              <a:t>advice</a:t>
            </a:r>
            <a:r>
              <a:rPr lang="de-DE" sz="1200" dirty="0"/>
              <a:t>/</a:t>
            </a:r>
            <a:r>
              <a:rPr lang="de-DE" sz="1200" dirty="0" err="1"/>
              <a:t>q</a:t>
            </a:r>
            <a:r>
              <a:rPr lang="de-DE" sz="1200" dirty="0"/>
              <a:t>-</a:t>
            </a:r>
            <a:r>
              <a:rPr lang="de-DE" sz="1200" dirty="0" err="1"/>
              <a:t>whats</a:t>
            </a:r>
            <a:r>
              <a:rPr lang="de-DE" sz="1200" dirty="0"/>
              <a:t>-</a:t>
            </a:r>
            <a:r>
              <a:rPr lang="de-DE" sz="1200" dirty="0" err="1"/>
              <a:t>difference</a:t>
            </a:r>
            <a:r>
              <a:rPr lang="de-DE" sz="1200" dirty="0"/>
              <a:t>-</a:t>
            </a:r>
            <a:r>
              <a:rPr lang="de-DE" sz="1200" dirty="0" err="1"/>
              <a:t>between</a:t>
            </a:r>
            <a:r>
              <a:rPr lang="de-DE" sz="1200" dirty="0"/>
              <a:t>-</a:t>
            </a:r>
            <a:r>
              <a:rPr lang="de-DE" sz="1200" dirty="0" err="1"/>
              <a:t>filtering</a:t>
            </a:r>
            <a:r>
              <a:rPr lang="de-DE" sz="1200" dirty="0"/>
              <a:t>-and-</a:t>
            </a:r>
            <a:r>
              <a:rPr lang="de-DE" sz="1200" dirty="0" err="1"/>
              <a:t>eq</a:t>
            </a:r>
            <a:r>
              <a:rPr lang="de-DE" sz="1200" dirty="0"/>
              <a:t> </a:t>
            </a:r>
          </a:p>
          <a:p>
            <a:pPr algn="just"/>
            <a:endParaRPr lang="de-DE" sz="2000" dirty="0"/>
          </a:p>
        </p:txBody>
      </p:sp>
    </p:spTree>
    <p:extLst>
      <p:ext uri="{BB962C8B-B14F-4D97-AF65-F5344CB8AC3E}">
        <p14:creationId xmlns:p14="http://schemas.microsoft.com/office/powerpoint/2010/main" val="7514408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F4AA4-211B-8971-671E-5CDDEED336F5}"/>
            </a:ext>
          </a:extLst>
        </p:cNvPr>
        <p:cNvGrpSpPr/>
        <p:nvPr/>
      </p:nvGrpSpPr>
      <p:grpSpPr>
        <a:xfrm>
          <a:off x="0" y="0"/>
          <a:ext cx="0" cy="0"/>
          <a:chOff x="0" y="0"/>
          <a:chExt cx="0" cy="0"/>
        </a:xfrm>
      </p:grpSpPr>
      <p:sp>
        <p:nvSpPr>
          <p:cNvPr id="2" name="Text Box 1">
            <a:extLst>
              <a:ext uri="{FF2B5EF4-FFF2-40B4-BE49-F238E27FC236}">
                <a16:creationId xmlns:a16="http://schemas.microsoft.com/office/drawing/2014/main" id="{ADF6AB80-34FD-A1CC-6F29-E78284DDEDA1}"/>
              </a:ext>
            </a:extLst>
          </p:cNvPr>
          <p:cNvSpPr txBox="1"/>
          <p:nvPr/>
        </p:nvSpPr>
        <p:spPr>
          <a:xfrm>
            <a:off x="1187624" y="520219"/>
            <a:ext cx="7741549" cy="345491"/>
          </a:xfrm>
          <a:prstGeom prst="rect">
            <a:avLst/>
          </a:prstGeom>
          <a:solidFill>
            <a:srgbClr val="FFFFFF"/>
          </a:solidFill>
          <a:ln cap="flat">
            <a:noFill/>
          </a:ln>
        </p:spPr>
        <p:txBody>
          <a:bodyPr vert="horz" wrap="square" lIns="0" tIns="0" rIns="0" bIns="0" anchor="t" anchorCtr="0" compatLnSpc="0">
            <a:normAutofit/>
          </a:bodyPr>
          <a:lstStyle/>
          <a:p>
            <a:pPr hangingPunct="0">
              <a:lnSpc>
                <a:spcPct val="85000"/>
              </a:lnSpc>
              <a:spcBef>
                <a:spcPts val="545"/>
              </a:spcBef>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000" dirty="0">
                <a:solidFill>
                  <a:srgbClr val="000000"/>
                </a:solidFill>
                <a:effectLst>
                  <a:outerShdw dist="17961" dir="2700000">
                    <a:scrgbClr r="0" g="0" b="0"/>
                  </a:outerShdw>
                </a:effectLst>
                <a:latin typeface="Arial Regular"/>
                <a:ea typeface="ＭＳ Ｐゴシック" pitchFamily="2"/>
                <a:cs typeface="MS Gothic" pitchFamily="2"/>
              </a:rPr>
              <a:t>Filter</a:t>
            </a:r>
          </a:p>
        </p:txBody>
      </p:sp>
      <p:sp>
        <p:nvSpPr>
          <p:cNvPr id="4" name="Textfeld 3">
            <a:extLst>
              <a:ext uri="{FF2B5EF4-FFF2-40B4-BE49-F238E27FC236}">
                <a16:creationId xmlns:a16="http://schemas.microsoft.com/office/drawing/2014/main" id="{6ABA1837-75F1-75C4-0E02-7A5C7640017F}"/>
              </a:ext>
            </a:extLst>
          </p:cNvPr>
          <p:cNvSpPr txBox="1"/>
          <p:nvPr/>
        </p:nvSpPr>
        <p:spPr>
          <a:xfrm>
            <a:off x="1043608" y="1268760"/>
            <a:ext cx="7200800" cy="4585871"/>
          </a:xfrm>
          <a:prstGeom prst="rect">
            <a:avLst/>
          </a:prstGeom>
          <a:noFill/>
        </p:spPr>
        <p:txBody>
          <a:bodyPr wrap="square">
            <a:spAutoFit/>
          </a:bodyPr>
          <a:lstStyle/>
          <a:p>
            <a:pPr algn="just"/>
            <a:r>
              <a:rPr lang="de-DE" sz="2000" dirty="0"/>
              <a:t>Filter sind Geräte, die einen Teil des Frequenzspektrums entfernen sollen. Es gibt sie in drei Varianten: Hochpass, Tiefpass und </a:t>
            </a:r>
            <a:r>
              <a:rPr lang="de-DE" sz="2000" dirty="0" err="1"/>
              <a:t>Bandpass</a:t>
            </a:r>
            <a:r>
              <a:rPr lang="de-DE" sz="2000" dirty="0"/>
              <a:t>. Die meisten Filter haben eine Flankensteilheit von 12 dB pro Oktave oder mehr, wobei die steilste Flankensteilheit in Audiosystemen im Allgemeinen 24 dB pro Oktave beträgt. Die Flankensteilheit des Filters ist manchmal so ausgelegt, dass unmittelbar vor der steilen </a:t>
            </a:r>
            <a:r>
              <a:rPr lang="de-DE" sz="2000" dirty="0" err="1"/>
              <a:t>Cutoff</a:t>
            </a:r>
            <a:r>
              <a:rPr lang="de-DE" sz="2000" dirty="0"/>
              <a:t>-Flanke eine Spitze im Amplitudengang auftritt, was dazu führt, dass der Frequenzbereich in der Nähe des </a:t>
            </a:r>
            <a:r>
              <a:rPr lang="de-DE" sz="2000" dirty="0" err="1"/>
              <a:t>Cutoff</a:t>
            </a:r>
            <a:r>
              <a:rPr lang="de-DE" sz="2000" dirty="0"/>
              <a:t>-Bereichs mit einer Art „Resonanz“ betont wird. Lässt man das Filter übermäßig mitschwingen, gerät es in Selbstoszillation, d. h. es erzeugt einen reinen Ton mit einer Tonhöhe, die mit der </a:t>
            </a:r>
            <a:r>
              <a:rPr lang="de-DE" sz="2000" dirty="0" err="1"/>
              <a:t>Cutoff</a:t>
            </a:r>
            <a:r>
              <a:rPr lang="de-DE" sz="2000" dirty="0"/>
              <a:t>-Frequenz zusammenhängt - eine Funktion, die in vielen VCF-Sektionen von Synthesizern zu finden ist.</a:t>
            </a:r>
          </a:p>
          <a:p>
            <a:pPr algn="just"/>
            <a:endParaRPr lang="de-DE" sz="2000" dirty="0"/>
          </a:p>
          <a:p>
            <a:pPr algn="just"/>
            <a:r>
              <a:rPr lang="de-DE" sz="1200" dirty="0"/>
              <a:t>https://</a:t>
            </a:r>
            <a:r>
              <a:rPr lang="de-DE" sz="1200" dirty="0" err="1"/>
              <a:t>www.soundonsound.com</a:t>
            </a:r>
            <a:r>
              <a:rPr lang="de-DE" sz="1200" dirty="0"/>
              <a:t>/sound-</a:t>
            </a:r>
            <a:r>
              <a:rPr lang="de-DE" sz="1200" dirty="0" err="1"/>
              <a:t>advice</a:t>
            </a:r>
            <a:r>
              <a:rPr lang="de-DE" sz="1200" dirty="0"/>
              <a:t>/</a:t>
            </a:r>
            <a:r>
              <a:rPr lang="de-DE" sz="1200" dirty="0" err="1"/>
              <a:t>q</a:t>
            </a:r>
            <a:r>
              <a:rPr lang="de-DE" sz="1200" dirty="0"/>
              <a:t>-</a:t>
            </a:r>
            <a:r>
              <a:rPr lang="de-DE" sz="1200" dirty="0" err="1"/>
              <a:t>whats</a:t>
            </a:r>
            <a:r>
              <a:rPr lang="de-DE" sz="1200" dirty="0"/>
              <a:t>-</a:t>
            </a:r>
            <a:r>
              <a:rPr lang="de-DE" sz="1200" dirty="0" err="1"/>
              <a:t>difference</a:t>
            </a:r>
            <a:r>
              <a:rPr lang="de-DE" sz="1200" dirty="0"/>
              <a:t>-</a:t>
            </a:r>
            <a:r>
              <a:rPr lang="de-DE" sz="1200" dirty="0" err="1"/>
              <a:t>between</a:t>
            </a:r>
            <a:r>
              <a:rPr lang="de-DE" sz="1200" dirty="0"/>
              <a:t>-</a:t>
            </a:r>
            <a:r>
              <a:rPr lang="de-DE" sz="1200" dirty="0" err="1"/>
              <a:t>filtering</a:t>
            </a:r>
            <a:r>
              <a:rPr lang="de-DE" sz="1200" dirty="0"/>
              <a:t>-and-</a:t>
            </a:r>
            <a:r>
              <a:rPr lang="de-DE" sz="1200" dirty="0" err="1"/>
              <a:t>eq</a:t>
            </a:r>
            <a:r>
              <a:rPr lang="de-DE" sz="1200" dirty="0"/>
              <a:t> </a:t>
            </a:r>
          </a:p>
        </p:txBody>
      </p:sp>
    </p:spTree>
    <p:extLst>
      <p:ext uri="{BB962C8B-B14F-4D97-AF65-F5344CB8AC3E}">
        <p14:creationId xmlns:p14="http://schemas.microsoft.com/office/powerpoint/2010/main" val="24138599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6FBA3-56ED-4BD0-2842-5026522A232D}"/>
            </a:ext>
          </a:extLst>
        </p:cNvPr>
        <p:cNvGrpSpPr/>
        <p:nvPr/>
      </p:nvGrpSpPr>
      <p:grpSpPr>
        <a:xfrm>
          <a:off x="0" y="0"/>
          <a:ext cx="0" cy="0"/>
          <a:chOff x="0" y="0"/>
          <a:chExt cx="0" cy="0"/>
        </a:xfrm>
      </p:grpSpPr>
      <p:sp>
        <p:nvSpPr>
          <p:cNvPr id="2" name="Text Box 1">
            <a:extLst>
              <a:ext uri="{FF2B5EF4-FFF2-40B4-BE49-F238E27FC236}">
                <a16:creationId xmlns:a16="http://schemas.microsoft.com/office/drawing/2014/main" id="{710153E2-E1BC-F00E-7457-299E807BC99C}"/>
              </a:ext>
            </a:extLst>
          </p:cNvPr>
          <p:cNvSpPr txBox="1"/>
          <p:nvPr/>
        </p:nvSpPr>
        <p:spPr>
          <a:xfrm>
            <a:off x="1259632" y="980728"/>
            <a:ext cx="7741549" cy="345491"/>
          </a:xfrm>
          <a:prstGeom prst="rect">
            <a:avLst/>
          </a:prstGeom>
          <a:solidFill>
            <a:srgbClr val="FFFFFF"/>
          </a:solidFill>
          <a:ln cap="flat">
            <a:noFill/>
          </a:ln>
        </p:spPr>
        <p:txBody>
          <a:bodyPr vert="horz" wrap="square" lIns="0" tIns="0" rIns="0" bIns="0" anchor="t" anchorCtr="0" compatLnSpc="0">
            <a:normAutofit/>
          </a:bodyPr>
          <a:lstStyle/>
          <a:p>
            <a:pPr hangingPunct="0">
              <a:lnSpc>
                <a:spcPct val="85000"/>
              </a:lnSpc>
              <a:spcBef>
                <a:spcPts val="545"/>
              </a:spcBef>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000" dirty="0">
                <a:solidFill>
                  <a:srgbClr val="000000"/>
                </a:solidFill>
                <a:effectLst>
                  <a:outerShdw dist="17961" dir="2700000">
                    <a:scrgbClr r="0" g="0" b="0"/>
                  </a:outerShdw>
                </a:effectLst>
                <a:latin typeface="Arial Regular"/>
                <a:ea typeface="ＭＳ Ｐゴシック" pitchFamily="2"/>
                <a:cs typeface="MS Gothic" pitchFamily="2"/>
              </a:rPr>
              <a:t>Filter – </a:t>
            </a:r>
            <a:r>
              <a:rPr lang="de-DE" sz="2000" dirty="0" err="1">
                <a:solidFill>
                  <a:srgbClr val="000000"/>
                </a:solidFill>
                <a:effectLst>
                  <a:outerShdw dist="17961" dir="2700000">
                    <a:scrgbClr r="0" g="0" b="0"/>
                  </a:outerShdw>
                </a:effectLst>
                <a:latin typeface="Arial Regular"/>
                <a:ea typeface="ＭＳ Ｐゴシック" pitchFamily="2"/>
                <a:cs typeface="MS Gothic" pitchFamily="2"/>
              </a:rPr>
              <a:t>Cutoff</a:t>
            </a:r>
            <a:r>
              <a:rPr lang="de-DE" sz="2000" dirty="0">
                <a:solidFill>
                  <a:srgbClr val="000000"/>
                </a:solidFill>
                <a:effectLst>
                  <a:outerShdw dist="17961" dir="2700000">
                    <a:scrgbClr r="0" g="0" b="0"/>
                  </a:outerShdw>
                </a:effectLst>
                <a:latin typeface="Arial Regular"/>
                <a:ea typeface="ＭＳ Ｐゴシック" pitchFamily="2"/>
                <a:cs typeface="MS Gothic" pitchFamily="2"/>
              </a:rPr>
              <a:t>- (oder Eck-Frequenz</a:t>
            </a:r>
          </a:p>
        </p:txBody>
      </p:sp>
      <p:pic>
        <p:nvPicPr>
          <p:cNvPr id="9" name="Grafik 8">
            <a:extLst>
              <a:ext uri="{FF2B5EF4-FFF2-40B4-BE49-F238E27FC236}">
                <a16:creationId xmlns:a16="http://schemas.microsoft.com/office/drawing/2014/main" id="{FFB570C8-1718-F9FC-9A2F-A4C223D0BA34}"/>
              </a:ext>
            </a:extLst>
          </p:cNvPr>
          <p:cNvPicPr>
            <a:picLocks noChangeAspect="1"/>
          </p:cNvPicPr>
          <p:nvPr/>
        </p:nvPicPr>
        <p:blipFill>
          <a:blip r:embed="rId3"/>
          <a:stretch>
            <a:fillRect/>
          </a:stretch>
        </p:blipFill>
        <p:spPr>
          <a:xfrm>
            <a:off x="1691680" y="1700808"/>
            <a:ext cx="5976664" cy="4793783"/>
          </a:xfrm>
          <a:prstGeom prst="rect">
            <a:avLst/>
          </a:prstGeom>
        </p:spPr>
      </p:pic>
    </p:spTree>
    <p:extLst>
      <p:ext uri="{BB962C8B-B14F-4D97-AF65-F5344CB8AC3E}">
        <p14:creationId xmlns:p14="http://schemas.microsoft.com/office/powerpoint/2010/main" val="15627855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7DFE2B35-C996-A647-9A84-F5EA71EA6843}"/>
              </a:ext>
            </a:extLst>
          </p:cNvPr>
          <p:cNvSpPr txBox="1"/>
          <p:nvPr/>
        </p:nvSpPr>
        <p:spPr>
          <a:xfrm>
            <a:off x="1259632" y="980728"/>
            <a:ext cx="7741549" cy="345491"/>
          </a:xfrm>
          <a:prstGeom prst="rect">
            <a:avLst/>
          </a:prstGeom>
          <a:solidFill>
            <a:srgbClr val="FFFFFF"/>
          </a:solidFill>
          <a:ln cap="flat">
            <a:noFill/>
          </a:ln>
        </p:spPr>
        <p:txBody>
          <a:bodyPr vert="horz" wrap="square" lIns="0" tIns="0" rIns="0" bIns="0" anchor="t" anchorCtr="0" compatLnSpc="0">
            <a:noAutofit/>
          </a:bodyPr>
          <a:lstStyle/>
          <a:p>
            <a:pPr hangingPunct="0">
              <a:lnSpc>
                <a:spcPct val="85000"/>
              </a:lnSpc>
              <a:spcBef>
                <a:spcPts val="545"/>
              </a:spcBef>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000" dirty="0">
                <a:solidFill>
                  <a:srgbClr val="000000"/>
                </a:solidFill>
                <a:effectLst>
                  <a:outerShdw dist="17961" dir="2700000">
                    <a:scrgbClr r="0" g="0" b="0"/>
                  </a:outerShdw>
                </a:effectLst>
                <a:latin typeface="Arial" panose="020B0604020202020204" pitchFamily="34" charset="0"/>
                <a:ea typeface="ＭＳ Ｐゴシック" pitchFamily="2"/>
                <a:cs typeface="Arial" panose="020B0604020202020204" pitchFamily="34" charset="0"/>
              </a:rPr>
              <a:t>Filter – </a:t>
            </a:r>
            <a:r>
              <a:rPr lang="de-DE" sz="2000" b="1" dirty="0">
                <a:latin typeface="Arial" panose="020B0604020202020204" pitchFamily="34" charset="0"/>
                <a:cs typeface="Arial" panose="020B0604020202020204" pitchFamily="34" charset="0"/>
              </a:rPr>
              <a:t>Flankensteilheit</a:t>
            </a:r>
          </a:p>
          <a:p>
            <a:pPr hangingPunct="0">
              <a:lnSpc>
                <a:spcPct val="85000"/>
              </a:lnSpc>
              <a:spcBef>
                <a:spcPts val="545"/>
              </a:spcBef>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endParaRPr lang="de-DE" sz="2000" dirty="0">
              <a:solidFill>
                <a:srgbClr val="000000"/>
              </a:solidFill>
              <a:effectLst>
                <a:outerShdw dist="17961" dir="2700000">
                  <a:scrgbClr r="0" g="0" b="0"/>
                </a:outerShdw>
              </a:effectLst>
              <a:latin typeface="Arial" panose="020B0604020202020204" pitchFamily="34" charset="0"/>
              <a:ea typeface="ＭＳ Ｐゴシック" pitchFamily="2"/>
              <a:cs typeface="Arial" panose="020B0604020202020204" pitchFamily="34" charset="0"/>
            </a:endParaRPr>
          </a:p>
        </p:txBody>
      </p:sp>
      <p:pic>
        <p:nvPicPr>
          <p:cNvPr id="3" name="Grafik 2">
            <a:extLst>
              <a:ext uri="{FF2B5EF4-FFF2-40B4-BE49-F238E27FC236}">
                <a16:creationId xmlns:a16="http://schemas.microsoft.com/office/drawing/2014/main" id="{21CF9C9D-ED5F-3B45-91A8-DF068C9A9F68}"/>
              </a:ext>
            </a:extLst>
          </p:cNvPr>
          <p:cNvPicPr>
            <a:picLocks noChangeAspect="1"/>
          </p:cNvPicPr>
          <p:nvPr/>
        </p:nvPicPr>
        <p:blipFill>
          <a:blip r:embed="rId3"/>
          <a:stretch>
            <a:fillRect/>
          </a:stretch>
        </p:blipFill>
        <p:spPr>
          <a:xfrm>
            <a:off x="1286474" y="1700807"/>
            <a:ext cx="6309862" cy="5061035"/>
          </a:xfrm>
          <a:prstGeom prst="rect">
            <a:avLst/>
          </a:prstGeom>
        </p:spPr>
      </p:pic>
    </p:spTree>
    <p:extLst>
      <p:ext uri="{BB962C8B-B14F-4D97-AF65-F5344CB8AC3E}">
        <p14:creationId xmlns:p14="http://schemas.microsoft.com/office/powerpoint/2010/main" val="38379665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41461CC4-14F2-B948-9F79-B477F9F56E6D}"/>
              </a:ext>
            </a:extLst>
          </p:cNvPr>
          <p:cNvPicPr>
            <a:picLocks noChangeAspect="1"/>
          </p:cNvPicPr>
          <p:nvPr/>
        </p:nvPicPr>
        <p:blipFill>
          <a:blip r:embed="rId3"/>
          <a:stretch>
            <a:fillRect/>
          </a:stretch>
        </p:blipFill>
        <p:spPr>
          <a:xfrm>
            <a:off x="107504" y="2116401"/>
            <a:ext cx="5911604" cy="4741599"/>
          </a:xfrm>
          <a:prstGeom prst="rect">
            <a:avLst/>
          </a:prstGeom>
        </p:spPr>
      </p:pic>
      <p:pic>
        <p:nvPicPr>
          <p:cNvPr id="3" name="Grafik 2">
            <a:extLst>
              <a:ext uri="{FF2B5EF4-FFF2-40B4-BE49-F238E27FC236}">
                <a16:creationId xmlns:a16="http://schemas.microsoft.com/office/drawing/2014/main" id="{ED36F8AD-B6A8-8BEF-899F-7E3AC3AC6B3F}"/>
              </a:ext>
            </a:extLst>
          </p:cNvPr>
          <p:cNvPicPr>
            <a:picLocks noChangeAspect="1"/>
          </p:cNvPicPr>
          <p:nvPr/>
        </p:nvPicPr>
        <p:blipFill>
          <a:blip r:embed="rId4"/>
          <a:stretch>
            <a:fillRect/>
          </a:stretch>
        </p:blipFill>
        <p:spPr>
          <a:xfrm>
            <a:off x="4347568" y="260648"/>
            <a:ext cx="5172689" cy="2607035"/>
          </a:xfrm>
          <a:prstGeom prst="rect">
            <a:avLst/>
          </a:prstGeom>
        </p:spPr>
      </p:pic>
      <p:sp>
        <p:nvSpPr>
          <p:cNvPr id="2" name="Text Box 1">
            <a:extLst>
              <a:ext uri="{FF2B5EF4-FFF2-40B4-BE49-F238E27FC236}">
                <a16:creationId xmlns:a16="http://schemas.microsoft.com/office/drawing/2014/main" id="{7DFE2B35-C996-A647-9A84-F5EA71EA6843}"/>
              </a:ext>
            </a:extLst>
          </p:cNvPr>
          <p:cNvSpPr txBox="1"/>
          <p:nvPr/>
        </p:nvSpPr>
        <p:spPr>
          <a:xfrm>
            <a:off x="1043608" y="748324"/>
            <a:ext cx="3312368" cy="345491"/>
          </a:xfrm>
          <a:prstGeom prst="rect">
            <a:avLst/>
          </a:prstGeom>
          <a:solidFill>
            <a:srgbClr val="FFFFFF"/>
          </a:solidFill>
          <a:ln cap="flat">
            <a:noFill/>
          </a:ln>
        </p:spPr>
        <p:txBody>
          <a:bodyPr vert="horz" wrap="square" lIns="0" tIns="0" rIns="0" bIns="0" anchor="t" anchorCtr="0" compatLnSpc="0">
            <a:normAutofit/>
          </a:bodyPr>
          <a:lstStyle/>
          <a:p>
            <a:pPr hangingPunct="0">
              <a:lnSpc>
                <a:spcPct val="85000"/>
              </a:lnSpc>
              <a:spcBef>
                <a:spcPts val="545"/>
              </a:spcBef>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000" dirty="0">
                <a:solidFill>
                  <a:srgbClr val="000000"/>
                </a:solidFill>
                <a:effectLst>
                  <a:outerShdw dist="17961" dir="2700000">
                    <a:scrgbClr r="0" g="0" b="0"/>
                  </a:outerShdw>
                </a:effectLst>
                <a:latin typeface="Arial" panose="020B0604020202020204" pitchFamily="34" charset="0"/>
                <a:ea typeface="ＭＳ Ｐゴシック" pitchFamily="2"/>
                <a:cs typeface="Arial" panose="020B0604020202020204" pitchFamily="34" charset="0"/>
              </a:rPr>
              <a:t>Filter – </a:t>
            </a:r>
            <a:r>
              <a:rPr lang="de-DE" sz="2000" b="1" dirty="0">
                <a:latin typeface="Arial" panose="020B0604020202020204" pitchFamily="34" charset="0"/>
                <a:cs typeface="Arial" panose="020B0604020202020204" pitchFamily="34" charset="0"/>
              </a:rPr>
              <a:t>Resonanz (Filter Q)</a:t>
            </a:r>
            <a:endParaRPr lang="de-DE" sz="2000" dirty="0">
              <a:solidFill>
                <a:srgbClr val="000000"/>
              </a:solidFill>
              <a:effectLst>
                <a:outerShdw dist="17961" dir="2700000">
                  <a:scrgbClr r="0" g="0" b="0"/>
                </a:outerShdw>
              </a:effectLst>
              <a:latin typeface="Arial" panose="020B0604020202020204" pitchFamily="34" charset="0"/>
              <a:ea typeface="ＭＳ Ｐゴシック" pitchFamily="2"/>
              <a:cs typeface="Arial" panose="020B0604020202020204" pitchFamily="34" charset="0"/>
            </a:endParaRPr>
          </a:p>
        </p:txBody>
      </p:sp>
      <p:sp>
        <p:nvSpPr>
          <p:cNvPr id="5" name="Rechteck 4">
            <a:extLst>
              <a:ext uri="{FF2B5EF4-FFF2-40B4-BE49-F238E27FC236}">
                <a16:creationId xmlns:a16="http://schemas.microsoft.com/office/drawing/2014/main" id="{A04C4F66-9447-38EC-BD81-FF615A404A79}"/>
              </a:ext>
            </a:extLst>
          </p:cNvPr>
          <p:cNvSpPr/>
          <p:nvPr/>
        </p:nvSpPr>
        <p:spPr>
          <a:xfrm>
            <a:off x="8388424" y="116632"/>
            <a:ext cx="1368152" cy="63169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spTree>
    <p:extLst>
      <p:ext uri="{BB962C8B-B14F-4D97-AF65-F5344CB8AC3E}">
        <p14:creationId xmlns:p14="http://schemas.microsoft.com/office/powerpoint/2010/main" val="19102667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55">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7DFE2B35-C996-A647-9A84-F5EA71EA6843}"/>
              </a:ext>
            </a:extLst>
          </p:cNvPr>
          <p:cNvSpPr txBox="1"/>
          <p:nvPr/>
        </p:nvSpPr>
        <p:spPr>
          <a:xfrm>
            <a:off x="760212" y="760572"/>
            <a:ext cx="7741549" cy="345491"/>
          </a:xfrm>
          <a:prstGeom prst="rect">
            <a:avLst/>
          </a:prstGeom>
          <a:solidFill>
            <a:srgbClr val="FFFFFF"/>
          </a:solidFill>
          <a:ln cap="flat">
            <a:noFill/>
          </a:ln>
        </p:spPr>
        <p:txBody>
          <a:bodyPr vert="horz" wrap="square" lIns="0" tIns="0" rIns="0" bIns="0" anchor="t" anchorCtr="0" compatLnSpc="0">
            <a:normAutofit/>
          </a:bodyPr>
          <a:lstStyle/>
          <a:p>
            <a:pPr hangingPunct="0">
              <a:lnSpc>
                <a:spcPct val="85000"/>
              </a:lnSpc>
              <a:spcBef>
                <a:spcPts val="545"/>
              </a:spcBef>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effectLst>
                  <a:outerShdw dist="17961" dir="2700000">
                    <a:scrgbClr r="0" g="0" b="0"/>
                  </a:outerShdw>
                </a:effectLst>
                <a:latin typeface="Arial Regular"/>
                <a:ea typeface="ＭＳ Ｐゴシック" pitchFamily="2"/>
                <a:cs typeface="MS Gothic" pitchFamily="2"/>
              </a:rPr>
              <a:t>Subtraktive Synthese</a:t>
            </a:r>
          </a:p>
        </p:txBody>
      </p:sp>
      <p:sp>
        <p:nvSpPr>
          <p:cNvPr id="3" name="Rechteck 2">
            <a:extLst>
              <a:ext uri="{FF2B5EF4-FFF2-40B4-BE49-F238E27FC236}">
                <a16:creationId xmlns:a16="http://schemas.microsoft.com/office/drawing/2014/main" id="{68965871-1372-E14C-9981-D40976834EF6}"/>
              </a:ext>
            </a:extLst>
          </p:cNvPr>
          <p:cNvSpPr/>
          <p:nvPr/>
        </p:nvSpPr>
        <p:spPr>
          <a:xfrm>
            <a:off x="391535" y="1469188"/>
            <a:ext cx="5877921" cy="4255986"/>
          </a:xfrm>
          <a:prstGeom prst="rect">
            <a:avLst/>
          </a:prstGeom>
          <a:noFill/>
          <a:ln cap="flat">
            <a:noFill/>
            <a:prstDash val="solid"/>
          </a:ln>
        </p:spPr>
        <p:txBody>
          <a:bodyPr vert="horz" wrap="square" lIns="82944" tIns="41472" rIns="82944" bIns="41472" anchor="t" anchorCtr="0" compatLnSpc="0">
            <a:spAutoFit/>
          </a:bodyPr>
          <a:lstStyle/>
          <a:p>
            <a:pPr hangingPunct="0"/>
            <a:r>
              <a:rPr lang="en-US" sz="2177" dirty="0" err="1">
                <a:solidFill>
                  <a:srgbClr val="000000"/>
                </a:solidFill>
                <a:latin typeface="Arial Regular"/>
                <a:ea typeface="ＭＳ Ｐゴシック" pitchFamily="34"/>
                <a:cs typeface="MS Gothic" pitchFamily="2"/>
              </a:rPr>
              <a:t>Tiefpass</a:t>
            </a:r>
            <a:r>
              <a:rPr lang="en-US" sz="2177" dirty="0">
                <a:solidFill>
                  <a:srgbClr val="000000"/>
                </a:solidFill>
                <a:latin typeface="Arial Regular"/>
                <a:ea typeface="ＭＳ Ｐゴシック" pitchFamily="34"/>
                <a:cs typeface="MS Gothic" pitchFamily="2"/>
              </a:rPr>
              <a:t>-Filter  (</a:t>
            </a:r>
            <a:r>
              <a:rPr lang="en-US" sz="2177" dirty="0" err="1">
                <a:solidFill>
                  <a:srgbClr val="000000"/>
                </a:solidFill>
                <a:latin typeface="Arial Regular"/>
                <a:ea typeface="ＭＳ Ｐゴシック" pitchFamily="34"/>
                <a:cs typeface="MS Gothic" pitchFamily="2"/>
              </a:rPr>
              <a:t>englisch</a:t>
            </a:r>
            <a:r>
              <a:rPr lang="en-US" sz="2177" dirty="0">
                <a:solidFill>
                  <a:srgbClr val="000000"/>
                </a:solidFill>
                <a:latin typeface="Arial Regular"/>
                <a:ea typeface="ＭＳ Ｐゴシック" pitchFamily="34"/>
                <a:cs typeface="MS Gothic" pitchFamily="2"/>
              </a:rPr>
              <a:t>: low pass filter)</a:t>
            </a:r>
          </a:p>
          <a:p>
            <a:pPr hangingPunct="0"/>
            <a:endParaRPr lang="en-US" sz="2177" dirty="0">
              <a:solidFill>
                <a:srgbClr val="000000"/>
              </a:solidFill>
              <a:latin typeface="Arial Regular"/>
              <a:ea typeface="ＭＳ Ｐゴシック" pitchFamily="34"/>
              <a:cs typeface="MS Gothic" pitchFamily="2"/>
            </a:endParaRPr>
          </a:p>
          <a:p>
            <a:pPr hangingPunct="0"/>
            <a:r>
              <a:rPr lang="en-US" sz="2177" dirty="0" err="1">
                <a:solidFill>
                  <a:srgbClr val="000000"/>
                </a:solidFill>
                <a:latin typeface="Arial Regular"/>
                <a:ea typeface="ＭＳ Ｐゴシック" pitchFamily="34"/>
                <a:cs typeface="MS Gothic" pitchFamily="2"/>
              </a:rPr>
              <a:t>Alle</a:t>
            </a:r>
            <a:r>
              <a:rPr lang="en-US" sz="2177" dirty="0">
                <a:solidFill>
                  <a:srgbClr val="000000"/>
                </a:solidFill>
                <a:latin typeface="Arial Regular"/>
                <a:ea typeface="ＭＳ Ｐゴシック" pitchFamily="34"/>
                <a:cs typeface="MS Gothic" pitchFamily="2"/>
              </a:rPr>
              <a:t> </a:t>
            </a:r>
            <a:r>
              <a:rPr lang="en-US" sz="2177" dirty="0" err="1">
                <a:solidFill>
                  <a:srgbClr val="000000"/>
                </a:solidFill>
                <a:latin typeface="Arial Regular"/>
                <a:ea typeface="ＭＳ Ｐゴシック" pitchFamily="34"/>
                <a:cs typeface="MS Gothic" pitchFamily="2"/>
              </a:rPr>
              <a:t>Töne</a:t>
            </a:r>
            <a:r>
              <a:rPr lang="en-US" sz="2177" dirty="0">
                <a:solidFill>
                  <a:srgbClr val="000000"/>
                </a:solidFill>
                <a:latin typeface="Arial Regular"/>
                <a:ea typeface="ＭＳ Ｐゴシック" pitchFamily="34"/>
                <a:cs typeface="MS Gothic" pitchFamily="2"/>
              </a:rPr>
              <a:t> </a:t>
            </a:r>
            <a:r>
              <a:rPr lang="en-US" sz="2177" dirty="0" err="1">
                <a:solidFill>
                  <a:srgbClr val="000000"/>
                </a:solidFill>
                <a:latin typeface="Arial Regular"/>
                <a:ea typeface="ＭＳ Ｐゴシック" pitchFamily="34"/>
                <a:cs typeface="MS Gothic" pitchFamily="2"/>
              </a:rPr>
              <a:t>oberhalb</a:t>
            </a:r>
            <a:r>
              <a:rPr lang="en-US" sz="2177" dirty="0">
                <a:solidFill>
                  <a:srgbClr val="000000"/>
                </a:solidFill>
                <a:latin typeface="Arial Regular"/>
                <a:ea typeface="ＭＳ Ｐゴシック" pitchFamily="34"/>
                <a:cs typeface="MS Gothic" pitchFamily="2"/>
              </a:rPr>
              <a:t> </a:t>
            </a:r>
            <a:r>
              <a:rPr lang="en-US" sz="2177" dirty="0" err="1">
                <a:solidFill>
                  <a:srgbClr val="000000"/>
                </a:solidFill>
                <a:latin typeface="Arial Regular"/>
                <a:ea typeface="ＭＳ Ｐゴシック" pitchFamily="34"/>
                <a:cs typeface="MS Gothic" pitchFamily="2"/>
              </a:rPr>
              <a:t>einer</a:t>
            </a:r>
            <a:r>
              <a:rPr lang="en-US" sz="2177" dirty="0">
                <a:solidFill>
                  <a:srgbClr val="000000"/>
                </a:solidFill>
                <a:latin typeface="Arial Regular"/>
                <a:ea typeface="ＭＳ Ｐゴシック" pitchFamily="34"/>
                <a:cs typeface="MS Gothic" pitchFamily="2"/>
              </a:rPr>
              <a:t> </a:t>
            </a:r>
            <a:r>
              <a:rPr lang="en-US" sz="2177" dirty="0" err="1">
                <a:solidFill>
                  <a:srgbClr val="000000"/>
                </a:solidFill>
                <a:latin typeface="Arial Regular"/>
                <a:ea typeface="ＭＳ Ｐゴシック" pitchFamily="34"/>
                <a:cs typeface="MS Gothic" pitchFamily="2"/>
              </a:rPr>
              <a:t>bestimmten</a:t>
            </a:r>
            <a:r>
              <a:rPr lang="en-US" sz="2177" dirty="0">
                <a:solidFill>
                  <a:srgbClr val="000000"/>
                </a:solidFill>
                <a:latin typeface="Arial Regular"/>
                <a:ea typeface="ＭＳ Ｐゴシック" pitchFamily="34"/>
                <a:cs typeface="MS Gothic" pitchFamily="2"/>
              </a:rPr>
              <a:t> </a:t>
            </a:r>
            <a:r>
              <a:rPr lang="en-US" sz="2177" dirty="0" err="1">
                <a:solidFill>
                  <a:srgbClr val="000000"/>
                </a:solidFill>
                <a:latin typeface="Arial Regular"/>
                <a:ea typeface="ＭＳ Ｐゴシック" pitchFamily="34"/>
                <a:cs typeface="MS Gothic" pitchFamily="2"/>
              </a:rPr>
              <a:t>Frequenz</a:t>
            </a:r>
            <a:r>
              <a:rPr lang="en-US" sz="2177" dirty="0">
                <a:solidFill>
                  <a:srgbClr val="000000"/>
                </a:solidFill>
                <a:latin typeface="Arial Regular"/>
                <a:ea typeface="ＭＳ Ｐゴシック" pitchFamily="34"/>
                <a:cs typeface="MS Gothic" pitchFamily="2"/>
              </a:rPr>
              <a:t>, der </a:t>
            </a:r>
            <a:r>
              <a:rPr lang="en-US" sz="2177" dirty="0" err="1">
                <a:solidFill>
                  <a:srgbClr val="000000"/>
                </a:solidFill>
                <a:latin typeface="Arial Regular"/>
                <a:ea typeface="ＭＳ Ｐゴシック" pitchFamily="34"/>
                <a:cs typeface="MS Gothic" pitchFamily="2"/>
              </a:rPr>
              <a:t>Eckfrequenz</a:t>
            </a:r>
            <a:r>
              <a:rPr lang="en-US" sz="2177" dirty="0">
                <a:solidFill>
                  <a:srgbClr val="000000"/>
                </a:solidFill>
                <a:latin typeface="Arial Regular"/>
                <a:ea typeface="ＭＳ Ｐゴシック" pitchFamily="34"/>
                <a:cs typeface="MS Gothic" pitchFamily="2"/>
              </a:rPr>
              <a:t>, </a:t>
            </a:r>
            <a:r>
              <a:rPr lang="en-US" sz="2177" dirty="0" err="1">
                <a:solidFill>
                  <a:srgbClr val="000000"/>
                </a:solidFill>
                <a:latin typeface="Arial Regular"/>
                <a:ea typeface="ＭＳ Ｐゴシック" pitchFamily="34"/>
                <a:cs typeface="MS Gothic" pitchFamily="2"/>
              </a:rPr>
              <a:t>werden</a:t>
            </a:r>
            <a:r>
              <a:rPr lang="en-US" sz="2177" dirty="0">
                <a:solidFill>
                  <a:srgbClr val="000000"/>
                </a:solidFill>
                <a:latin typeface="Arial Regular"/>
                <a:ea typeface="ＭＳ Ｐゴシック" pitchFamily="34"/>
                <a:cs typeface="MS Gothic" pitchFamily="2"/>
              </a:rPr>
              <a:t> </a:t>
            </a:r>
            <a:r>
              <a:rPr lang="en-US" sz="2177" dirty="0" err="1">
                <a:solidFill>
                  <a:srgbClr val="000000"/>
                </a:solidFill>
                <a:latin typeface="Arial Regular"/>
                <a:ea typeface="ＭＳ Ｐゴシック" pitchFamily="34"/>
                <a:cs typeface="MS Gothic" pitchFamily="2"/>
              </a:rPr>
              <a:t>weggefiltert</a:t>
            </a:r>
            <a:r>
              <a:rPr lang="en-US" sz="2177" dirty="0">
                <a:solidFill>
                  <a:srgbClr val="000000"/>
                </a:solidFill>
                <a:latin typeface="Arial Regular"/>
                <a:ea typeface="ＭＳ Ｐゴシック" pitchFamily="34"/>
                <a:cs typeface="MS Gothic" pitchFamily="2"/>
              </a:rPr>
              <a:t>, die </a:t>
            </a:r>
            <a:r>
              <a:rPr lang="en-US" sz="2177" dirty="0" err="1">
                <a:solidFill>
                  <a:srgbClr val="000000"/>
                </a:solidFill>
                <a:latin typeface="Arial Regular"/>
                <a:ea typeface="ＭＳ Ｐゴシック" pitchFamily="34"/>
                <a:cs typeface="MS Gothic" pitchFamily="2"/>
              </a:rPr>
              <a:t>tiefen</a:t>
            </a:r>
            <a:r>
              <a:rPr lang="en-US" sz="2177" dirty="0">
                <a:solidFill>
                  <a:srgbClr val="000000"/>
                </a:solidFill>
                <a:latin typeface="Arial Regular"/>
                <a:ea typeface="ＭＳ Ｐゴシック" pitchFamily="34"/>
                <a:cs typeface="MS Gothic" pitchFamily="2"/>
              </a:rPr>
              <a:t> </a:t>
            </a:r>
            <a:r>
              <a:rPr lang="en-US" sz="2177" dirty="0" err="1">
                <a:solidFill>
                  <a:srgbClr val="000000"/>
                </a:solidFill>
                <a:latin typeface="Arial Regular"/>
                <a:ea typeface="ＭＳ Ｐゴシック" pitchFamily="34"/>
                <a:cs typeface="MS Gothic" pitchFamily="2"/>
              </a:rPr>
              <a:t>Töne</a:t>
            </a:r>
            <a:r>
              <a:rPr lang="en-US" sz="2177" dirty="0">
                <a:solidFill>
                  <a:srgbClr val="000000"/>
                </a:solidFill>
                <a:latin typeface="Arial Regular"/>
                <a:ea typeface="ＭＳ Ｐゴシック" pitchFamily="34"/>
                <a:cs typeface="MS Gothic" pitchFamily="2"/>
              </a:rPr>
              <a:t> </a:t>
            </a:r>
            <a:r>
              <a:rPr lang="en-US" sz="2177" dirty="0" err="1">
                <a:solidFill>
                  <a:srgbClr val="000000"/>
                </a:solidFill>
                <a:latin typeface="Arial Regular"/>
                <a:ea typeface="ＭＳ Ｐゴシック" pitchFamily="34"/>
                <a:cs typeface="MS Gothic" pitchFamily="2"/>
              </a:rPr>
              <a:t>können</a:t>
            </a:r>
            <a:r>
              <a:rPr lang="en-US" sz="2177" dirty="0">
                <a:solidFill>
                  <a:srgbClr val="000000"/>
                </a:solidFill>
                <a:latin typeface="Arial Regular"/>
                <a:ea typeface="ＭＳ Ｐゴシック" pitchFamily="34"/>
                <a:cs typeface="MS Gothic" pitchFamily="2"/>
              </a:rPr>
              <a:t> </a:t>
            </a:r>
            <a:r>
              <a:rPr lang="en-US" sz="2177" dirty="0" err="1">
                <a:solidFill>
                  <a:srgbClr val="000000"/>
                </a:solidFill>
                <a:latin typeface="Arial Regular"/>
                <a:ea typeface="ＭＳ Ｐゴシック" pitchFamily="34"/>
                <a:cs typeface="MS Gothic" pitchFamily="2"/>
              </a:rPr>
              <a:t>passieren</a:t>
            </a:r>
            <a:r>
              <a:rPr lang="en-US" sz="2177" dirty="0">
                <a:solidFill>
                  <a:srgbClr val="000000"/>
                </a:solidFill>
                <a:latin typeface="Arial Regular"/>
                <a:ea typeface="ＭＳ Ｐゴシック" pitchFamily="34"/>
                <a:cs typeface="MS Gothic" pitchFamily="2"/>
              </a:rPr>
              <a:t>.</a:t>
            </a:r>
          </a:p>
          <a:p>
            <a:pPr hangingPunct="0"/>
            <a:endParaRPr lang="en-US" sz="2177" dirty="0">
              <a:solidFill>
                <a:srgbClr val="000000"/>
              </a:solidFill>
              <a:latin typeface="Arial Regular"/>
              <a:ea typeface="ＭＳ Ｐゴシック" pitchFamily="34"/>
              <a:cs typeface="MS Gothic" pitchFamily="2"/>
            </a:endParaRPr>
          </a:p>
          <a:p>
            <a:pPr hangingPunct="0"/>
            <a:r>
              <a:rPr lang="en-US" sz="2177" dirty="0" err="1">
                <a:solidFill>
                  <a:srgbClr val="000000"/>
                </a:solidFill>
                <a:latin typeface="Arial Regular"/>
                <a:ea typeface="ＭＳ Ｐゴシック" pitchFamily="34"/>
                <a:cs typeface="MS Gothic" pitchFamily="2"/>
              </a:rPr>
              <a:t>Hochpass</a:t>
            </a:r>
            <a:r>
              <a:rPr lang="en-US" sz="2177" dirty="0">
                <a:solidFill>
                  <a:srgbClr val="000000"/>
                </a:solidFill>
                <a:latin typeface="Arial Regular"/>
                <a:ea typeface="ＭＳ Ｐゴシック" pitchFamily="34"/>
                <a:cs typeface="MS Gothic" pitchFamily="2"/>
              </a:rPr>
              <a:t>-Filter  (</a:t>
            </a:r>
            <a:r>
              <a:rPr lang="en-US" sz="2177" dirty="0" err="1">
                <a:solidFill>
                  <a:srgbClr val="000000"/>
                </a:solidFill>
                <a:latin typeface="Arial Regular"/>
                <a:ea typeface="ＭＳ Ｐゴシック" pitchFamily="34"/>
                <a:cs typeface="MS Gothic" pitchFamily="2"/>
              </a:rPr>
              <a:t>englisch</a:t>
            </a:r>
            <a:r>
              <a:rPr lang="en-US" sz="2177" dirty="0">
                <a:solidFill>
                  <a:srgbClr val="000000"/>
                </a:solidFill>
                <a:latin typeface="Arial Regular"/>
                <a:ea typeface="ＭＳ Ｐゴシック" pitchFamily="34"/>
                <a:cs typeface="MS Gothic" pitchFamily="2"/>
              </a:rPr>
              <a:t>: high pass filter)</a:t>
            </a:r>
          </a:p>
          <a:p>
            <a:pPr hangingPunct="0"/>
            <a:endParaRPr lang="en-US" sz="2177" dirty="0">
              <a:solidFill>
                <a:srgbClr val="000000"/>
              </a:solidFill>
              <a:latin typeface="Arial Regular"/>
              <a:ea typeface="ＭＳ Ｐゴシック" pitchFamily="34"/>
              <a:cs typeface="MS Gothic" pitchFamily="2"/>
            </a:endParaRPr>
          </a:p>
          <a:p>
            <a:pPr hangingPunct="0"/>
            <a:r>
              <a:rPr lang="en-US" sz="2177" dirty="0" err="1">
                <a:solidFill>
                  <a:srgbClr val="000000"/>
                </a:solidFill>
                <a:latin typeface="Arial Regular"/>
                <a:ea typeface="ＭＳ Ｐゴシック" pitchFamily="34"/>
                <a:cs typeface="MS Gothic" pitchFamily="2"/>
              </a:rPr>
              <a:t>Alle</a:t>
            </a:r>
            <a:r>
              <a:rPr lang="en-US" sz="2177" dirty="0">
                <a:solidFill>
                  <a:srgbClr val="000000"/>
                </a:solidFill>
                <a:latin typeface="Arial Regular"/>
                <a:ea typeface="ＭＳ Ｐゴシック" pitchFamily="34"/>
                <a:cs typeface="MS Gothic" pitchFamily="2"/>
              </a:rPr>
              <a:t> </a:t>
            </a:r>
            <a:r>
              <a:rPr lang="en-US" sz="2177" dirty="0" err="1">
                <a:solidFill>
                  <a:srgbClr val="000000"/>
                </a:solidFill>
                <a:latin typeface="Arial Regular"/>
                <a:ea typeface="ＭＳ Ｐゴシック" pitchFamily="34"/>
                <a:cs typeface="MS Gothic" pitchFamily="2"/>
              </a:rPr>
              <a:t>Töne</a:t>
            </a:r>
            <a:r>
              <a:rPr lang="en-US" sz="2177" dirty="0">
                <a:solidFill>
                  <a:srgbClr val="000000"/>
                </a:solidFill>
                <a:latin typeface="Arial Regular"/>
                <a:ea typeface="ＭＳ Ｐゴシック" pitchFamily="34"/>
                <a:cs typeface="MS Gothic" pitchFamily="2"/>
              </a:rPr>
              <a:t> </a:t>
            </a:r>
            <a:r>
              <a:rPr lang="en-US" sz="2177" dirty="0" err="1">
                <a:solidFill>
                  <a:srgbClr val="000000"/>
                </a:solidFill>
                <a:latin typeface="Arial Regular"/>
                <a:ea typeface="ＭＳ Ｐゴシック" pitchFamily="34"/>
                <a:cs typeface="MS Gothic" pitchFamily="2"/>
              </a:rPr>
              <a:t>unterhalb</a:t>
            </a:r>
            <a:r>
              <a:rPr lang="en-US" sz="2177" dirty="0">
                <a:solidFill>
                  <a:srgbClr val="000000"/>
                </a:solidFill>
                <a:latin typeface="Arial Regular"/>
                <a:ea typeface="ＭＳ Ｐゴシック" pitchFamily="34"/>
                <a:cs typeface="MS Gothic" pitchFamily="2"/>
              </a:rPr>
              <a:t> der </a:t>
            </a:r>
            <a:r>
              <a:rPr lang="en-US" sz="2177" dirty="0" err="1">
                <a:solidFill>
                  <a:srgbClr val="000000"/>
                </a:solidFill>
                <a:latin typeface="Arial Regular"/>
                <a:ea typeface="ＭＳ Ｐゴシック" pitchFamily="34"/>
                <a:cs typeface="MS Gothic" pitchFamily="2"/>
              </a:rPr>
              <a:t>Eckfrequenz</a:t>
            </a:r>
            <a:r>
              <a:rPr lang="en-US" sz="2177" dirty="0">
                <a:solidFill>
                  <a:srgbClr val="000000"/>
                </a:solidFill>
                <a:latin typeface="Arial Regular"/>
                <a:ea typeface="ＭＳ Ｐゴシック" pitchFamily="34"/>
                <a:cs typeface="MS Gothic" pitchFamily="2"/>
              </a:rPr>
              <a:t> </a:t>
            </a:r>
            <a:r>
              <a:rPr lang="en-US" sz="2177" dirty="0" err="1">
                <a:solidFill>
                  <a:srgbClr val="000000"/>
                </a:solidFill>
                <a:latin typeface="Arial Regular"/>
                <a:ea typeface="ＭＳ Ｐゴシック" pitchFamily="34"/>
                <a:cs typeface="MS Gothic" pitchFamily="2"/>
              </a:rPr>
              <a:t>werden</a:t>
            </a:r>
            <a:r>
              <a:rPr lang="en-US" sz="2177" dirty="0">
                <a:solidFill>
                  <a:srgbClr val="000000"/>
                </a:solidFill>
                <a:latin typeface="Arial Regular"/>
                <a:ea typeface="ＭＳ Ｐゴシック" pitchFamily="34"/>
                <a:cs typeface="MS Gothic" pitchFamily="2"/>
              </a:rPr>
              <a:t> </a:t>
            </a:r>
            <a:r>
              <a:rPr lang="en-US" sz="2177" dirty="0" err="1">
                <a:solidFill>
                  <a:srgbClr val="000000"/>
                </a:solidFill>
                <a:latin typeface="Arial Regular"/>
                <a:ea typeface="ＭＳ Ｐゴシック" pitchFamily="34"/>
                <a:cs typeface="MS Gothic" pitchFamily="2"/>
              </a:rPr>
              <a:t>ausgefiltert</a:t>
            </a:r>
            <a:r>
              <a:rPr lang="en-US" sz="2177" dirty="0">
                <a:solidFill>
                  <a:srgbClr val="000000"/>
                </a:solidFill>
                <a:latin typeface="Arial Regular"/>
                <a:ea typeface="ＭＳ Ｐゴシック" pitchFamily="34"/>
                <a:cs typeface="MS Gothic" pitchFamily="2"/>
              </a:rPr>
              <a:t>, die </a:t>
            </a:r>
            <a:r>
              <a:rPr lang="en-US" sz="2177" dirty="0" err="1">
                <a:solidFill>
                  <a:srgbClr val="000000"/>
                </a:solidFill>
                <a:latin typeface="Arial Regular"/>
                <a:ea typeface="ＭＳ Ｐゴシック" pitchFamily="34"/>
                <a:cs typeface="MS Gothic" pitchFamily="2"/>
              </a:rPr>
              <a:t>hohen</a:t>
            </a:r>
            <a:r>
              <a:rPr lang="en-US" sz="2177" dirty="0">
                <a:solidFill>
                  <a:srgbClr val="000000"/>
                </a:solidFill>
                <a:latin typeface="Arial Regular"/>
                <a:ea typeface="ＭＳ Ｐゴシック" pitchFamily="34"/>
                <a:cs typeface="MS Gothic" pitchFamily="2"/>
              </a:rPr>
              <a:t> </a:t>
            </a:r>
            <a:r>
              <a:rPr lang="en-US" sz="2177" dirty="0" err="1">
                <a:solidFill>
                  <a:srgbClr val="000000"/>
                </a:solidFill>
                <a:latin typeface="Arial Regular"/>
                <a:ea typeface="ＭＳ Ｐゴシック" pitchFamily="34"/>
                <a:cs typeface="MS Gothic" pitchFamily="2"/>
              </a:rPr>
              <a:t>können</a:t>
            </a:r>
            <a:r>
              <a:rPr lang="en-US" sz="2177" dirty="0">
                <a:solidFill>
                  <a:srgbClr val="000000"/>
                </a:solidFill>
                <a:latin typeface="Arial Regular"/>
                <a:ea typeface="ＭＳ Ｐゴシック" pitchFamily="34"/>
                <a:cs typeface="MS Gothic" pitchFamily="2"/>
              </a:rPr>
              <a:t> </a:t>
            </a:r>
            <a:r>
              <a:rPr lang="en-US" sz="2177" dirty="0" err="1">
                <a:solidFill>
                  <a:srgbClr val="000000"/>
                </a:solidFill>
                <a:latin typeface="Arial Regular"/>
                <a:ea typeface="ＭＳ Ｐゴシック" pitchFamily="34"/>
                <a:cs typeface="MS Gothic" pitchFamily="2"/>
              </a:rPr>
              <a:t>passieren</a:t>
            </a:r>
            <a:r>
              <a:rPr lang="en-US" sz="2177" dirty="0">
                <a:solidFill>
                  <a:srgbClr val="000000"/>
                </a:solidFill>
                <a:latin typeface="Arial Regular"/>
                <a:ea typeface="ＭＳ Ｐゴシック" pitchFamily="34"/>
                <a:cs typeface="MS Gothic" pitchFamily="2"/>
              </a:rPr>
              <a:t>.</a:t>
            </a:r>
          </a:p>
          <a:p>
            <a:pPr hangingPunct="0"/>
            <a:endParaRPr lang="en-US" sz="2177" dirty="0">
              <a:solidFill>
                <a:srgbClr val="000000"/>
              </a:solidFill>
              <a:latin typeface="Arial Regular"/>
              <a:ea typeface="ＭＳ Ｐゴシック" pitchFamily="34"/>
              <a:cs typeface="MS Gothic" pitchFamily="2"/>
            </a:endParaRPr>
          </a:p>
          <a:p>
            <a:pPr hangingPunct="0"/>
            <a:endParaRPr lang="en-US" sz="2177" dirty="0">
              <a:solidFill>
                <a:srgbClr val="000000"/>
              </a:solidFill>
              <a:latin typeface="Arial Regular"/>
              <a:ea typeface="ＭＳ Ｐゴシック" pitchFamily="34"/>
              <a:cs typeface="MS Gothic" pitchFamily="2"/>
            </a:endParaRPr>
          </a:p>
        </p:txBody>
      </p:sp>
      <p:pic>
        <p:nvPicPr>
          <p:cNvPr id="4" name="Bild 3">
            <a:extLst>
              <a:ext uri="{FF2B5EF4-FFF2-40B4-BE49-F238E27FC236}">
                <a16:creationId xmlns:a16="http://schemas.microsoft.com/office/drawing/2014/main" id="{7A19D8A1-E82E-9C4C-B9F9-F66702AF35D5}"/>
              </a:ext>
            </a:extLst>
          </p:cNvPr>
          <p:cNvPicPr>
            <a:picLocks noChangeAspect="1"/>
          </p:cNvPicPr>
          <p:nvPr/>
        </p:nvPicPr>
        <p:blipFill>
          <a:blip r:embed="rId7"/>
          <a:srcRect/>
          <a:stretch>
            <a:fillRect/>
          </a:stretch>
        </p:blipFill>
        <p:spPr>
          <a:xfrm>
            <a:off x="5290456" y="2187600"/>
            <a:ext cx="3447401" cy="1110274"/>
          </a:xfrm>
          <a:prstGeom prst="rect">
            <a:avLst/>
          </a:prstGeom>
          <a:noFill/>
          <a:ln cap="flat">
            <a:noFill/>
          </a:ln>
          <a:effectLst>
            <a:outerShdw dist="23040" dir="5400000" algn="tl">
              <a:srgbClr val="000000">
                <a:alpha val="35000"/>
              </a:srgbClr>
            </a:outerShdw>
          </a:effectLst>
        </p:spPr>
      </p:pic>
      <p:pic>
        <p:nvPicPr>
          <p:cNvPr id="5" name="Bild 4">
            <a:extLst>
              <a:ext uri="{FF2B5EF4-FFF2-40B4-BE49-F238E27FC236}">
                <a16:creationId xmlns:a16="http://schemas.microsoft.com/office/drawing/2014/main" id="{2A49F265-195D-A640-9205-6D94C0A11BE3}"/>
              </a:ext>
            </a:extLst>
          </p:cNvPr>
          <p:cNvPicPr>
            <a:picLocks noChangeAspect="1"/>
          </p:cNvPicPr>
          <p:nvPr/>
        </p:nvPicPr>
        <p:blipFill>
          <a:blip r:embed="rId8"/>
          <a:srcRect/>
          <a:stretch>
            <a:fillRect/>
          </a:stretch>
        </p:blipFill>
        <p:spPr>
          <a:xfrm>
            <a:off x="5159510" y="5257834"/>
            <a:ext cx="3504873" cy="1152073"/>
          </a:xfrm>
          <a:prstGeom prst="rect">
            <a:avLst/>
          </a:prstGeom>
          <a:noFill/>
          <a:ln cap="flat">
            <a:noFill/>
          </a:ln>
          <a:effectLst>
            <a:outerShdw dist="23040" dir="5400000" algn="tl">
              <a:srgbClr val="000000">
                <a:alpha val="35000"/>
              </a:srgbClr>
            </a:outerShdw>
          </a:effectLst>
        </p:spPr>
      </p:pic>
      <p:pic>
        <p:nvPicPr>
          <p:cNvPr id="6" name="lpf">
            <a:hlinkClick r:id="" action="ppaction://media"/>
            <a:extLst>
              <a:ext uri="{FF2B5EF4-FFF2-40B4-BE49-F238E27FC236}">
                <a16:creationId xmlns:a16="http://schemas.microsoft.com/office/drawing/2014/main" id="{D131F18E-312D-9A40-B575-5206929CE935}"/>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7596336" y="2143905"/>
            <a:ext cx="812800" cy="812800"/>
          </a:xfrm>
          <a:prstGeom prst="rect">
            <a:avLst/>
          </a:prstGeom>
        </p:spPr>
      </p:pic>
      <p:pic>
        <p:nvPicPr>
          <p:cNvPr id="7" name="hpf">
            <a:hlinkClick r:id="" action="ppaction://media"/>
            <a:extLst>
              <a:ext uri="{FF2B5EF4-FFF2-40B4-BE49-F238E27FC236}">
                <a16:creationId xmlns:a16="http://schemas.microsoft.com/office/drawing/2014/main" id="{B0DE441C-6686-9D4A-BE23-58F489D85131}"/>
              </a:ext>
            </a:extLst>
          </p:cNvPr>
          <p:cNvPicPr>
            <a:picLocks noChangeAspect="1"/>
          </p:cNvPicPr>
          <p:nvPr>
            <a:audioFile r:link="rId4"/>
            <p:extLst>
              <p:ext uri="{DAA4B4D4-6D71-4841-9C94-3DE7FCFB9230}">
                <p14:media xmlns:p14="http://schemas.microsoft.com/office/powerpoint/2010/main" r:embed="rId3"/>
              </p:ext>
            </p:extLst>
          </p:nvPr>
        </p:nvPicPr>
        <p:blipFill>
          <a:blip r:embed="rId9"/>
          <a:stretch>
            <a:fillRect/>
          </a:stretch>
        </p:blipFill>
        <p:spPr>
          <a:xfrm>
            <a:off x="7189936" y="4221088"/>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8050" fill="hold"/>
                                        <p:tgtEl>
                                          <p:spTgt spid="6"/>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805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1" fill="hold" display="0">
                  <p:stCondLst>
                    <p:cond delay="indefinite"/>
                  </p:stCondLst>
                  <p:endCondLst>
                    <p:cond evt="onStopAudio" delay="0">
                      <p:tgtEl>
                        <p:sldTgt/>
                      </p:tgtEl>
                    </p:cond>
                  </p:endCondLst>
                </p:cTn>
                <p:tgtEl>
                  <p:spTgt spid="6"/>
                </p:tgtEl>
              </p:cMediaNode>
            </p:audio>
            <p:audio>
              <p:cMediaNode vol="80000">
                <p:cTn id="12" fill="hold" display="0">
                  <p:stCondLst>
                    <p:cond delay="indefinite"/>
                  </p:stCondLst>
                  <p:endCondLst>
                    <p:cond evt="onStopAudio" delay="0">
                      <p:tgtEl>
                        <p:sldTgt/>
                      </p:tgtEl>
                    </p:cond>
                  </p:endCondLst>
                </p:cTn>
                <p:tgtEl>
                  <p:spTgt spid="7"/>
                </p:tgtEl>
              </p:cMediaNode>
            </p:audio>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name="Slide56">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7A88D1A0-6916-1849-A04A-942306B7A53E}"/>
              </a:ext>
            </a:extLst>
          </p:cNvPr>
          <p:cNvSpPr txBox="1"/>
          <p:nvPr/>
        </p:nvSpPr>
        <p:spPr>
          <a:xfrm>
            <a:off x="760212" y="760572"/>
            <a:ext cx="7741549" cy="345491"/>
          </a:xfrm>
          <a:prstGeom prst="rect">
            <a:avLst/>
          </a:prstGeom>
          <a:solidFill>
            <a:srgbClr val="FFFFFF"/>
          </a:solidFill>
          <a:ln cap="flat">
            <a:noFill/>
          </a:ln>
        </p:spPr>
        <p:txBody>
          <a:bodyPr vert="horz" wrap="square" lIns="0" tIns="0" rIns="0" bIns="0" anchor="t" anchorCtr="0" compatLnSpc="0">
            <a:normAutofit/>
          </a:bodyPr>
          <a:lstStyle/>
          <a:p>
            <a:pPr hangingPunct="0">
              <a:lnSpc>
                <a:spcPct val="85000"/>
              </a:lnSpc>
              <a:spcBef>
                <a:spcPts val="545"/>
              </a:spcBef>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effectLst>
                  <a:outerShdw dist="17961" dir="2700000">
                    <a:scrgbClr r="0" g="0" b="0"/>
                  </a:outerShdw>
                </a:effectLst>
                <a:latin typeface="Arial Regular"/>
                <a:ea typeface="ＭＳ Ｐゴシック" pitchFamily="2"/>
                <a:cs typeface="MS Gothic" pitchFamily="2"/>
              </a:rPr>
              <a:t>Subtraktive Synthese</a:t>
            </a:r>
          </a:p>
        </p:txBody>
      </p:sp>
      <p:sp>
        <p:nvSpPr>
          <p:cNvPr id="3" name="Rechteck 2">
            <a:extLst>
              <a:ext uri="{FF2B5EF4-FFF2-40B4-BE49-F238E27FC236}">
                <a16:creationId xmlns:a16="http://schemas.microsoft.com/office/drawing/2014/main" id="{73CC09F2-DF24-DB46-8344-E8C7EFA21EB3}"/>
              </a:ext>
            </a:extLst>
          </p:cNvPr>
          <p:cNvSpPr/>
          <p:nvPr/>
        </p:nvSpPr>
        <p:spPr>
          <a:xfrm>
            <a:off x="391535" y="1469188"/>
            <a:ext cx="5877921" cy="4577292"/>
          </a:xfrm>
          <a:prstGeom prst="rect">
            <a:avLst/>
          </a:prstGeom>
          <a:noFill/>
          <a:ln cap="flat">
            <a:noFill/>
            <a:prstDash val="solid"/>
          </a:ln>
        </p:spPr>
        <p:txBody>
          <a:bodyPr vert="horz" wrap="square" lIns="82944" tIns="41472" rIns="82944" bIns="41472" anchor="t" anchorCtr="0" compatLnSpc="0">
            <a:spAutoFit/>
          </a:bodyPr>
          <a:lstStyle/>
          <a:p>
            <a:pPr hangingPunct="0"/>
            <a:r>
              <a:rPr lang="de-DE" sz="2177" dirty="0" err="1">
                <a:solidFill>
                  <a:srgbClr val="000000"/>
                </a:solidFill>
                <a:latin typeface="Arial Regular"/>
                <a:ea typeface="ＭＳ Ｐゴシック" pitchFamily="34"/>
                <a:cs typeface="MS Gothic" pitchFamily="2"/>
              </a:rPr>
              <a:t>Bandpass</a:t>
            </a:r>
            <a:r>
              <a:rPr lang="de-DE" sz="2177" dirty="0">
                <a:solidFill>
                  <a:srgbClr val="000000"/>
                </a:solidFill>
                <a:latin typeface="Arial Regular"/>
                <a:ea typeface="ＭＳ Ｐゴシック" pitchFamily="34"/>
                <a:cs typeface="MS Gothic" pitchFamily="2"/>
              </a:rPr>
              <a:t> (englisch: band pass)</a:t>
            </a:r>
          </a:p>
          <a:p>
            <a:pPr hangingPunct="0"/>
            <a:br>
              <a:rPr lang="de-DE" sz="2177" dirty="0">
                <a:solidFill>
                  <a:srgbClr val="000000"/>
                </a:solidFill>
                <a:latin typeface="Arial Regular"/>
                <a:ea typeface="ＭＳ Ｐゴシック" pitchFamily="34"/>
                <a:cs typeface="MS Gothic" pitchFamily="2"/>
              </a:rPr>
            </a:br>
            <a:r>
              <a:rPr lang="de-DE" sz="2177" dirty="0" err="1">
                <a:solidFill>
                  <a:srgbClr val="000000"/>
                </a:solidFill>
                <a:latin typeface="Arial Regular"/>
                <a:ea typeface="ＭＳ Ｐゴシック" pitchFamily="34"/>
                <a:cs typeface="MS Gothic" pitchFamily="2"/>
              </a:rPr>
              <a:t>Bandpass</a:t>
            </a:r>
            <a:r>
              <a:rPr lang="de-DE" sz="2177" dirty="0">
                <a:solidFill>
                  <a:srgbClr val="000000"/>
                </a:solidFill>
                <a:latin typeface="Arial Regular"/>
                <a:ea typeface="ＭＳ Ｐゴシック" pitchFamily="34"/>
                <a:cs typeface="MS Gothic" pitchFamily="2"/>
              </a:rPr>
              <a:t> </a:t>
            </a:r>
            <a:r>
              <a:rPr lang="de-DE" sz="2177" dirty="0" err="1">
                <a:solidFill>
                  <a:srgbClr val="000000"/>
                </a:solidFill>
                <a:latin typeface="Arial Regular"/>
                <a:ea typeface="ＭＳ Ｐゴシック" pitchFamily="34"/>
                <a:cs typeface="MS Gothic" pitchFamily="2"/>
              </a:rPr>
              <a:t>läßt</a:t>
            </a:r>
            <a:r>
              <a:rPr lang="de-DE" sz="2177" dirty="0">
                <a:solidFill>
                  <a:srgbClr val="000000"/>
                </a:solidFill>
                <a:latin typeface="Arial Regular"/>
                <a:ea typeface="ＭＳ Ｐゴシック" pitchFamily="34"/>
                <a:cs typeface="MS Gothic" pitchFamily="2"/>
              </a:rPr>
              <a:t> alle Töne rund um die Arbeitsfrequenz passieren.</a:t>
            </a:r>
          </a:p>
          <a:p>
            <a:pPr hangingPunct="0"/>
            <a:br>
              <a:rPr lang="de-DE" sz="2177" dirty="0">
                <a:solidFill>
                  <a:srgbClr val="000000"/>
                </a:solidFill>
                <a:latin typeface="Arial Regular"/>
                <a:ea typeface="ＭＳ Ｐゴシック" pitchFamily="34"/>
                <a:cs typeface="MS Gothic" pitchFamily="2"/>
              </a:rPr>
            </a:br>
            <a:endParaRPr lang="de-DE" sz="2177" dirty="0">
              <a:solidFill>
                <a:srgbClr val="000000"/>
              </a:solidFill>
              <a:latin typeface="Arial Regular"/>
              <a:ea typeface="ＭＳ Ｐゴシック" pitchFamily="34"/>
              <a:cs typeface="MS Gothic" pitchFamily="2"/>
            </a:endParaRPr>
          </a:p>
          <a:p>
            <a:pPr hangingPunct="0"/>
            <a:r>
              <a:rPr lang="de-DE" sz="2177" dirty="0">
                <a:solidFill>
                  <a:srgbClr val="000000"/>
                </a:solidFill>
                <a:latin typeface="Arial Regular"/>
                <a:ea typeface="ＭＳ Ｐゴシック" pitchFamily="34"/>
                <a:cs typeface="MS Gothic" pitchFamily="2"/>
              </a:rPr>
              <a:t>Bandsperre oder </a:t>
            </a:r>
            <a:r>
              <a:rPr lang="de-DE" sz="2177" dirty="0" err="1">
                <a:solidFill>
                  <a:srgbClr val="000000"/>
                </a:solidFill>
                <a:latin typeface="Arial Regular"/>
                <a:ea typeface="ＭＳ Ｐゴシック" pitchFamily="34"/>
                <a:cs typeface="MS Gothic" pitchFamily="2"/>
              </a:rPr>
              <a:t>Kerbfliter</a:t>
            </a:r>
            <a:endParaRPr lang="de-DE" sz="2177" dirty="0">
              <a:solidFill>
                <a:srgbClr val="000000"/>
              </a:solidFill>
              <a:latin typeface="Arial Regular"/>
              <a:ea typeface="ＭＳ Ｐゴシック" pitchFamily="34"/>
              <a:cs typeface="MS Gothic" pitchFamily="2"/>
            </a:endParaRPr>
          </a:p>
          <a:p>
            <a:pPr hangingPunct="0"/>
            <a:r>
              <a:rPr lang="de-DE" sz="2177" dirty="0">
                <a:solidFill>
                  <a:srgbClr val="000000"/>
                </a:solidFill>
                <a:latin typeface="Arial Regular"/>
                <a:ea typeface="ＭＳ Ｐゴシック" pitchFamily="34"/>
                <a:cs typeface="MS Gothic" pitchFamily="2"/>
              </a:rPr>
              <a:t>(englisch: </a:t>
            </a:r>
            <a:r>
              <a:rPr lang="de-DE" sz="2177" dirty="0" err="1">
                <a:solidFill>
                  <a:srgbClr val="000000"/>
                </a:solidFill>
                <a:latin typeface="Arial Regular"/>
                <a:ea typeface="ＭＳ Ｐゴシック" pitchFamily="34"/>
                <a:cs typeface="MS Gothic" pitchFamily="2"/>
              </a:rPr>
              <a:t>notch</a:t>
            </a:r>
            <a:r>
              <a:rPr lang="de-DE" sz="2177" dirty="0">
                <a:solidFill>
                  <a:srgbClr val="000000"/>
                </a:solidFill>
                <a:latin typeface="Arial Regular"/>
                <a:ea typeface="ＭＳ Ｐゴシック" pitchFamily="34"/>
                <a:cs typeface="MS Gothic" pitchFamily="2"/>
              </a:rPr>
              <a:t> </a:t>
            </a:r>
            <a:r>
              <a:rPr lang="de-DE" sz="2177" dirty="0" err="1">
                <a:solidFill>
                  <a:srgbClr val="000000"/>
                </a:solidFill>
                <a:latin typeface="Arial Regular"/>
                <a:ea typeface="ＭＳ Ｐゴシック" pitchFamily="34"/>
                <a:cs typeface="MS Gothic" pitchFamily="2"/>
              </a:rPr>
              <a:t>filter</a:t>
            </a:r>
            <a:r>
              <a:rPr lang="de-DE" sz="2177" dirty="0">
                <a:solidFill>
                  <a:srgbClr val="000000"/>
                </a:solidFill>
                <a:latin typeface="Arial Regular"/>
                <a:ea typeface="ＭＳ Ｐゴシック" pitchFamily="34"/>
                <a:cs typeface="MS Gothic" pitchFamily="2"/>
              </a:rPr>
              <a:t>, band </a:t>
            </a:r>
            <a:r>
              <a:rPr lang="de-DE" sz="2177" dirty="0" err="1">
                <a:solidFill>
                  <a:srgbClr val="000000"/>
                </a:solidFill>
                <a:latin typeface="Arial Regular"/>
                <a:ea typeface="ＭＳ Ｐゴシック" pitchFamily="34"/>
                <a:cs typeface="MS Gothic" pitchFamily="2"/>
              </a:rPr>
              <a:t>reject</a:t>
            </a:r>
            <a:r>
              <a:rPr lang="de-DE" sz="2177" dirty="0">
                <a:solidFill>
                  <a:srgbClr val="000000"/>
                </a:solidFill>
                <a:latin typeface="Arial Regular"/>
                <a:ea typeface="ＭＳ Ｐゴシック" pitchFamily="34"/>
                <a:cs typeface="MS Gothic" pitchFamily="2"/>
              </a:rPr>
              <a:t> </a:t>
            </a:r>
            <a:r>
              <a:rPr lang="de-DE" sz="2177" dirty="0" err="1">
                <a:solidFill>
                  <a:srgbClr val="000000"/>
                </a:solidFill>
                <a:latin typeface="Arial Regular"/>
                <a:ea typeface="ＭＳ Ｐゴシック" pitchFamily="34"/>
                <a:cs typeface="MS Gothic" pitchFamily="2"/>
              </a:rPr>
              <a:t>filter</a:t>
            </a:r>
            <a:r>
              <a:rPr lang="de-DE" sz="2177" dirty="0">
                <a:solidFill>
                  <a:srgbClr val="000000"/>
                </a:solidFill>
                <a:latin typeface="Arial Regular"/>
                <a:ea typeface="ＭＳ Ｐゴシック" pitchFamily="34"/>
                <a:cs typeface="MS Gothic" pitchFamily="2"/>
              </a:rPr>
              <a:t>)</a:t>
            </a:r>
            <a:br>
              <a:rPr lang="de-DE" sz="2177" dirty="0">
                <a:solidFill>
                  <a:srgbClr val="000000"/>
                </a:solidFill>
                <a:latin typeface="Arial Regular"/>
                <a:ea typeface="ＭＳ Ｐゴシック" pitchFamily="34"/>
                <a:cs typeface="MS Gothic" pitchFamily="2"/>
              </a:rPr>
            </a:br>
            <a:endParaRPr lang="de-DE" sz="2177" dirty="0">
              <a:solidFill>
                <a:srgbClr val="000000"/>
              </a:solidFill>
              <a:latin typeface="Arial Regular"/>
              <a:ea typeface="ＭＳ Ｐゴシック" pitchFamily="34"/>
              <a:cs typeface="MS Gothic" pitchFamily="2"/>
            </a:endParaRPr>
          </a:p>
          <a:p>
            <a:pPr hangingPunct="0"/>
            <a:endParaRPr lang="de-DE" sz="2177" dirty="0">
              <a:solidFill>
                <a:srgbClr val="000000"/>
              </a:solidFill>
              <a:latin typeface="Arial Regular"/>
              <a:ea typeface="ＭＳ Ｐゴシック" pitchFamily="34"/>
              <a:cs typeface="MS Gothic" pitchFamily="2"/>
            </a:endParaRPr>
          </a:p>
          <a:p>
            <a:pPr hangingPunct="0"/>
            <a:r>
              <a:rPr lang="de-DE" sz="2177" dirty="0">
                <a:solidFill>
                  <a:srgbClr val="000000"/>
                </a:solidFill>
                <a:latin typeface="Arial Regular"/>
                <a:ea typeface="ＭＳ Ｐゴシック" pitchFamily="34"/>
                <a:cs typeface="MS Gothic" pitchFamily="2"/>
              </a:rPr>
              <a:t>Kerbfilter sperrt alle Töne rund um die Arbeitsfrequenz.</a:t>
            </a:r>
          </a:p>
          <a:p>
            <a:pPr hangingPunct="0"/>
            <a:br>
              <a:rPr lang="de-DE" sz="2177" dirty="0">
                <a:solidFill>
                  <a:srgbClr val="000000"/>
                </a:solidFill>
                <a:latin typeface="Arial Regular"/>
                <a:ea typeface="ＭＳ Ｐゴシック" pitchFamily="34"/>
                <a:cs typeface="MS Gothic" pitchFamily="2"/>
              </a:rPr>
            </a:br>
            <a:endParaRPr lang="de-DE" sz="2177" dirty="0">
              <a:solidFill>
                <a:srgbClr val="000000"/>
              </a:solidFill>
              <a:latin typeface="Arial Regular"/>
              <a:ea typeface="ＭＳ Ｐゴシック" pitchFamily="34"/>
              <a:cs typeface="MS Gothic" pitchFamily="2"/>
            </a:endParaRPr>
          </a:p>
        </p:txBody>
      </p:sp>
      <p:pic>
        <p:nvPicPr>
          <p:cNvPr id="4" name="Bild 1">
            <a:extLst>
              <a:ext uri="{FF2B5EF4-FFF2-40B4-BE49-F238E27FC236}">
                <a16:creationId xmlns:a16="http://schemas.microsoft.com/office/drawing/2014/main" id="{6C7B24E5-6CB7-584A-9400-4C9C81EAA137}"/>
              </a:ext>
            </a:extLst>
          </p:cNvPr>
          <p:cNvPicPr>
            <a:picLocks noChangeAspect="1"/>
          </p:cNvPicPr>
          <p:nvPr/>
        </p:nvPicPr>
        <p:blipFill>
          <a:blip r:embed="rId5"/>
          <a:srcRect/>
          <a:stretch>
            <a:fillRect/>
          </a:stretch>
        </p:blipFill>
        <p:spPr>
          <a:xfrm>
            <a:off x="5225799" y="1665118"/>
            <a:ext cx="3574103" cy="1176564"/>
          </a:xfrm>
          <a:prstGeom prst="rect">
            <a:avLst/>
          </a:prstGeom>
          <a:noFill/>
          <a:ln cap="flat">
            <a:noFill/>
          </a:ln>
          <a:effectLst>
            <a:outerShdw dist="23040" dir="5400000" algn="tl">
              <a:srgbClr val="000000">
                <a:alpha val="35000"/>
              </a:srgbClr>
            </a:outerShdw>
          </a:effectLst>
        </p:spPr>
      </p:pic>
      <p:pic>
        <p:nvPicPr>
          <p:cNvPr id="5" name="Bild 5">
            <a:extLst>
              <a:ext uri="{FF2B5EF4-FFF2-40B4-BE49-F238E27FC236}">
                <a16:creationId xmlns:a16="http://schemas.microsoft.com/office/drawing/2014/main" id="{D74A4F61-C833-E04F-9317-EC98ED157740}"/>
              </a:ext>
            </a:extLst>
          </p:cNvPr>
          <p:cNvPicPr>
            <a:picLocks noChangeAspect="1"/>
          </p:cNvPicPr>
          <p:nvPr/>
        </p:nvPicPr>
        <p:blipFill>
          <a:blip r:embed="rId6"/>
          <a:srcRect/>
          <a:stretch>
            <a:fillRect/>
          </a:stretch>
        </p:blipFill>
        <p:spPr>
          <a:xfrm>
            <a:off x="5225799" y="4539095"/>
            <a:ext cx="3574103" cy="1176564"/>
          </a:xfrm>
          <a:prstGeom prst="rect">
            <a:avLst/>
          </a:prstGeom>
          <a:noFill/>
          <a:ln cap="flat">
            <a:noFill/>
          </a:ln>
          <a:effectLst>
            <a:outerShdw dist="23040" dir="5400000" algn="tl">
              <a:srgbClr val="000000">
                <a:alpha val="35000"/>
              </a:srgbClr>
            </a:outerShdw>
          </a:effectLst>
        </p:spPr>
      </p:pic>
      <p:pic>
        <p:nvPicPr>
          <p:cNvPr id="6" name="bpf">
            <a:hlinkClick r:id="" action="ppaction://media"/>
            <a:extLst>
              <a:ext uri="{FF2B5EF4-FFF2-40B4-BE49-F238E27FC236}">
                <a16:creationId xmlns:a16="http://schemas.microsoft.com/office/drawing/2014/main" id="{25BC80E4-823E-F945-9DBA-AB123491FC4A}"/>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7643174" y="1489539"/>
            <a:ext cx="812800" cy="812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132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name="Slide57">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2126A854-E7DC-7446-939F-9CE050E62619}"/>
              </a:ext>
            </a:extLst>
          </p:cNvPr>
          <p:cNvSpPr txBox="1"/>
          <p:nvPr/>
        </p:nvSpPr>
        <p:spPr>
          <a:xfrm>
            <a:off x="760212" y="760572"/>
            <a:ext cx="7741549" cy="345491"/>
          </a:xfrm>
          <a:prstGeom prst="rect">
            <a:avLst/>
          </a:prstGeom>
          <a:solidFill>
            <a:srgbClr val="FFFFFF"/>
          </a:solidFill>
          <a:ln cap="flat">
            <a:noFill/>
          </a:ln>
        </p:spPr>
        <p:txBody>
          <a:bodyPr vert="horz" wrap="square" lIns="0" tIns="0" rIns="0" bIns="0" anchor="t" anchorCtr="0" compatLnSpc="0">
            <a:normAutofit/>
          </a:bodyPr>
          <a:lstStyle/>
          <a:p>
            <a:pPr hangingPunct="0">
              <a:lnSpc>
                <a:spcPct val="85000"/>
              </a:lnSpc>
              <a:spcBef>
                <a:spcPts val="545"/>
              </a:spcBef>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effectLst>
                  <a:outerShdw dist="17961" dir="2700000">
                    <a:scrgbClr r="0" g="0" b="0"/>
                  </a:outerShdw>
                </a:effectLst>
                <a:latin typeface="Arial Regular"/>
                <a:ea typeface="ＭＳ Ｐゴシック" pitchFamily="2"/>
                <a:cs typeface="MS Gothic" pitchFamily="2"/>
              </a:rPr>
              <a:t>Amplitudenmodulation</a:t>
            </a:r>
          </a:p>
        </p:txBody>
      </p:sp>
      <p:pic>
        <p:nvPicPr>
          <p:cNvPr id="3" name="Bild 3">
            <a:extLst>
              <a:ext uri="{FF2B5EF4-FFF2-40B4-BE49-F238E27FC236}">
                <a16:creationId xmlns:a16="http://schemas.microsoft.com/office/drawing/2014/main" id="{66F752C4-7D42-0C40-A085-739A4B7601DC}"/>
              </a:ext>
            </a:extLst>
          </p:cNvPr>
          <p:cNvPicPr>
            <a:picLocks noChangeAspect="1"/>
          </p:cNvPicPr>
          <p:nvPr/>
        </p:nvPicPr>
        <p:blipFill>
          <a:blip r:embed="rId3"/>
          <a:srcRect/>
          <a:stretch>
            <a:fillRect/>
          </a:stretch>
        </p:blipFill>
        <p:spPr>
          <a:xfrm>
            <a:off x="760212" y="1207709"/>
            <a:ext cx="3260287" cy="2119644"/>
          </a:xfrm>
          <a:prstGeom prst="rect">
            <a:avLst/>
          </a:prstGeom>
          <a:noFill/>
          <a:ln cap="flat">
            <a:noFill/>
          </a:ln>
          <a:effectLst>
            <a:outerShdw dist="23040" dir="5400000" algn="tl">
              <a:srgbClr val="000000">
                <a:alpha val="35000"/>
              </a:srgbClr>
            </a:outerShdw>
          </a:effectLst>
        </p:spPr>
      </p:pic>
      <p:pic>
        <p:nvPicPr>
          <p:cNvPr id="4" name="Bild 4">
            <a:extLst>
              <a:ext uri="{FF2B5EF4-FFF2-40B4-BE49-F238E27FC236}">
                <a16:creationId xmlns:a16="http://schemas.microsoft.com/office/drawing/2014/main" id="{C81DD51C-8749-7D45-9FA2-F8DE5779A29A}"/>
              </a:ext>
            </a:extLst>
          </p:cNvPr>
          <p:cNvPicPr>
            <a:picLocks noChangeAspect="1"/>
          </p:cNvPicPr>
          <p:nvPr/>
        </p:nvPicPr>
        <p:blipFill>
          <a:blip r:embed="rId4"/>
          <a:srcRect/>
          <a:stretch>
            <a:fillRect/>
          </a:stretch>
        </p:blipFill>
        <p:spPr>
          <a:xfrm>
            <a:off x="4798234" y="1207709"/>
            <a:ext cx="3260287" cy="2119644"/>
          </a:xfrm>
          <a:prstGeom prst="rect">
            <a:avLst/>
          </a:prstGeom>
          <a:noFill/>
          <a:ln cap="flat">
            <a:noFill/>
          </a:ln>
          <a:effectLst>
            <a:outerShdw dist="23040" dir="5400000" algn="tl">
              <a:srgbClr val="000000">
                <a:alpha val="35000"/>
              </a:srgbClr>
            </a:outerShdw>
          </a:effectLst>
        </p:spPr>
      </p:pic>
      <p:pic>
        <p:nvPicPr>
          <p:cNvPr id="5" name="Bild 6">
            <a:extLst>
              <a:ext uri="{FF2B5EF4-FFF2-40B4-BE49-F238E27FC236}">
                <a16:creationId xmlns:a16="http://schemas.microsoft.com/office/drawing/2014/main" id="{73BBAB39-2CB6-7643-8D74-AEABFD7CD3F0}"/>
              </a:ext>
            </a:extLst>
          </p:cNvPr>
          <p:cNvPicPr>
            <a:picLocks noChangeAspect="1"/>
          </p:cNvPicPr>
          <p:nvPr/>
        </p:nvPicPr>
        <p:blipFill>
          <a:blip r:embed="rId5"/>
          <a:srcRect/>
          <a:stretch>
            <a:fillRect/>
          </a:stretch>
        </p:blipFill>
        <p:spPr>
          <a:xfrm>
            <a:off x="2808014" y="4147560"/>
            <a:ext cx="4031927" cy="2200302"/>
          </a:xfrm>
          <a:prstGeom prst="rect">
            <a:avLst/>
          </a:prstGeom>
          <a:noFill/>
          <a:ln cap="flat">
            <a:noFill/>
          </a:ln>
          <a:effectLst>
            <a:outerShdw dist="23040" dir="5400000" algn="tl">
              <a:srgbClr val="000000">
                <a:alpha val="35000"/>
              </a:srgbClr>
            </a:outerShdw>
          </a:effectLst>
        </p:spPr>
      </p:pic>
      <p:pic>
        <p:nvPicPr>
          <p:cNvPr id="7" name="Grafik 6">
            <a:extLst>
              <a:ext uri="{FF2B5EF4-FFF2-40B4-BE49-F238E27FC236}">
                <a16:creationId xmlns:a16="http://schemas.microsoft.com/office/drawing/2014/main" id="{3F64A07A-3BDE-B756-B61D-FE70FAAF2DDB}"/>
              </a:ext>
            </a:extLst>
          </p:cNvPr>
          <p:cNvPicPr>
            <a:picLocks noChangeAspect="1"/>
          </p:cNvPicPr>
          <p:nvPr/>
        </p:nvPicPr>
        <p:blipFill>
          <a:blip r:embed="rId6"/>
          <a:stretch>
            <a:fillRect/>
          </a:stretch>
        </p:blipFill>
        <p:spPr>
          <a:xfrm>
            <a:off x="971600" y="3531273"/>
            <a:ext cx="6743700" cy="32004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58">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D83C9E7F-BF61-9547-B1AB-EB11AFAC18C4}"/>
              </a:ext>
            </a:extLst>
          </p:cNvPr>
          <p:cNvSpPr txBox="1"/>
          <p:nvPr/>
        </p:nvSpPr>
        <p:spPr>
          <a:xfrm>
            <a:off x="760212" y="760572"/>
            <a:ext cx="7741549" cy="345491"/>
          </a:xfrm>
          <a:prstGeom prst="rect">
            <a:avLst/>
          </a:prstGeom>
          <a:solidFill>
            <a:srgbClr val="FFFFFF"/>
          </a:solidFill>
          <a:ln cap="flat">
            <a:noFill/>
          </a:ln>
        </p:spPr>
        <p:txBody>
          <a:bodyPr vert="horz" wrap="square" lIns="0" tIns="0" rIns="0" bIns="0" anchor="t" anchorCtr="0" compatLnSpc="0">
            <a:normAutofit/>
          </a:bodyPr>
          <a:lstStyle/>
          <a:p>
            <a:pPr hangingPunct="0">
              <a:lnSpc>
                <a:spcPct val="85000"/>
              </a:lnSpc>
              <a:spcBef>
                <a:spcPts val="545"/>
              </a:spcBef>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effectLst>
                  <a:outerShdw dist="17961" dir="2700000">
                    <a:scrgbClr r="0" g="0" b="0"/>
                  </a:outerShdw>
                </a:effectLst>
                <a:latin typeface="Arial Regular"/>
                <a:ea typeface="ＭＳ Ｐゴシック" pitchFamily="2"/>
                <a:cs typeface="MS Gothic" pitchFamily="2"/>
              </a:rPr>
              <a:t>Amplitudenmodulation</a:t>
            </a:r>
          </a:p>
        </p:txBody>
      </p:sp>
      <p:pic>
        <p:nvPicPr>
          <p:cNvPr id="4" name="Amplitude_Modulation">
            <a:hlinkClick r:id="" action="ppaction://media"/>
            <a:extLst>
              <a:ext uri="{FF2B5EF4-FFF2-40B4-BE49-F238E27FC236}">
                <a16:creationId xmlns:a16="http://schemas.microsoft.com/office/drawing/2014/main" id="{7E779D0C-CB7C-2C4D-9E57-C7EE990A1FD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3818186" y="526917"/>
            <a:ext cx="812800" cy="812800"/>
          </a:xfrm>
          <a:prstGeom prst="rect">
            <a:avLst/>
          </a:prstGeom>
        </p:spPr>
      </p:pic>
      <p:pic>
        <p:nvPicPr>
          <p:cNvPr id="6" name="Grafik 5">
            <a:extLst>
              <a:ext uri="{FF2B5EF4-FFF2-40B4-BE49-F238E27FC236}">
                <a16:creationId xmlns:a16="http://schemas.microsoft.com/office/drawing/2014/main" id="{596A71BB-B1CF-9140-BB8B-5EEA5630AC50}"/>
              </a:ext>
            </a:extLst>
          </p:cNvPr>
          <p:cNvPicPr>
            <a:picLocks noChangeAspect="1"/>
          </p:cNvPicPr>
          <p:nvPr/>
        </p:nvPicPr>
        <p:blipFill>
          <a:blip r:embed="rId6"/>
          <a:stretch>
            <a:fillRect/>
          </a:stretch>
        </p:blipFill>
        <p:spPr>
          <a:xfrm>
            <a:off x="727049" y="3879584"/>
            <a:ext cx="3655381" cy="2668428"/>
          </a:xfrm>
          <a:prstGeom prst="rect">
            <a:avLst/>
          </a:prstGeom>
        </p:spPr>
      </p:pic>
      <p:pic>
        <p:nvPicPr>
          <p:cNvPr id="7" name="Grafik 6">
            <a:extLst>
              <a:ext uri="{FF2B5EF4-FFF2-40B4-BE49-F238E27FC236}">
                <a16:creationId xmlns:a16="http://schemas.microsoft.com/office/drawing/2014/main" id="{749838C4-C78B-7449-9F11-0342DFBEC2F9}"/>
              </a:ext>
            </a:extLst>
          </p:cNvPr>
          <p:cNvPicPr>
            <a:picLocks noChangeAspect="1"/>
          </p:cNvPicPr>
          <p:nvPr/>
        </p:nvPicPr>
        <p:blipFill>
          <a:blip r:embed="rId7"/>
          <a:stretch>
            <a:fillRect/>
          </a:stretch>
        </p:blipFill>
        <p:spPr>
          <a:xfrm>
            <a:off x="4630986" y="260647"/>
            <a:ext cx="4356142" cy="6287365"/>
          </a:xfrm>
          <a:prstGeom prst="rect">
            <a:avLst/>
          </a:prstGeom>
        </p:spPr>
      </p:pic>
      <p:pic>
        <p:nvPicPr>
          <p:cNvPr id="3" name="Grafik 2">
            <a:extLst>
              <a:ext uri="{FF2B5EF4-FFF2-40B4-BE49-F238E27FC236}">
                <a16:creationId xmlns:a16="http://schemas.microsoft.com/office/drawing/2014/main" id="{A48301A7-32EE-E247-F6A1-4BE272AA1C17}"/>
              </a:ext>
            </a:extLst>
          </p:cNvPr>
          <p:cNvPicPr>
            <a:picLocks noChangeAspect="1"/>
          </p:cNvPicPr>
          <p:nvPr/>
        </p:nvPicPr>
        <p:blipFill>
          <a:blip r:embed="rId8"/>
          <a:stretch>
            <a:fillRect/>
          </a:stretch>
        </p:blipFill>
        <p:spPr>
          <a:xfrm>
            <a:off x="582528" y="1339717"/>
            <a:ext cx="3884775" cy="244794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06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D83C9E7F-BF61-9547-B1AB-EB11AFAC18C4}"/>
              </a:ext>
            </a:extLst>
          </p:cNvPr>
          <p:cNvSpPr txBox="1"/>
          <p:nvPr/>
        </p:nvSpPr>
        <p:spPr>
          <a:xfrm>
            <a:off x="760212" y="760572"/>
            <a:ext cx="7741549" cy="345491"/>
          </a:xfrm>
          <a:prstGeom prst="rect">
            <a:avLst/>
          </a:prstGeom>
          <a:solidFill>
            <a:srgbClr val="FFFFFF"/>
          </a:solidFill>
          <a:ln cap="flat">
            <a:noFill/>
          </a:ln>
        </p:spPr>
        <p:txBody>
          <a:bodyPr vert="horz" wrap="square" lIns="0" tIns="0" rIns="0" bIns="0" anchor="t" anchorCtr="0" compatLnSpc="0">
            <a:normAutofit/>
          </a:bodyPr>
          <a:lstStyle/>
          <a:p>
            <a:pPr hangingPunct="0">
              <a:lnSpc>
                <a:spcPct val="85000"/>
              </a:lnSpc>
              <a:spcBef>
                <a:spcPts val="545"/>
              </a:spcBef>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effectLst>
                  <a:outerShdw dist="17961" dir="2700000">
                    <a:scrgbClr r="0" g="0" b="0"/>
                  </a:outerShdw>
                </a:effectLst>
                <a:latin typeface="Arial Regular"/>
                <a:ea typeface="ＭＳ Ｐゴシック" pitchFamily="2"/>
                <a:cs typeface="MS Gothic" pitchFamily="2"/>
              </a:rPr>
              <a:t>Ringmodulation</a:t>
            </a:r>
          </a:p>
        </p:txBody>
      </p:sp>
      <p:pic>
        <p:nvPicPr>
          <p:cNvPr id="5" name="Ring_Modulation">
            <a:hlinkClick r:id="" action="ppaction://media"/>
            <a:extLst>
              <a:ext uri="{FF2B5EF4-FFF2-40B4-BE49-F238E27FC236}">
                <a16:creationId xmlns:a16="http://schemas.microsoft.com/office/drawing/2014/main" id="{920C8B5F-116E-1E4B-B4D8-108834E78B8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6156176" y="2616200"/>
            <a:ext cx="812800" cy="812800"/>
          </a:xfrm>
          <a:prstGeom prst="rect">
            <a:avLst/>
          </a:prstGeom>
        </p:spPr>
      </p:pic>
      <p:pic>
        <p:nvPicPr>
          <p:cNvPr id="7" name="Grafik 6">
            <a:extLst>
              <a:ext uri="{FF2B5EF4-FFF2-40B4-BE49-F238E27FC236}">
                <a16:creationId xmlns:a16="http://schemas.microsoft.com/office/drawing/2014/main" id="{90A90802-C5E2-AF40-80F5-8AF32A21DB13}"/>
              </a:ext>
            </a:extLst>
          </p:cNvPr>
          <p:cNvPicPr>
            <a:picLocks noChangeAspect="1"/>
          </p:cNvPicPr>
          <p:nvPr/>
        </p:nvPicPr>
        <p:blipFill>
          <a:blip r:embed="rId6"/>
          <a:stretch>
            <a:fillRect/>
          </a:stretch>
        </p:blipFill>
        <p:spPr>
          <a:xfrm>
            <a:off x="2098080" y="1185590"/>
            <a:ext cx="3231312" cy="5316978"/>
          </a:xfrm>
          <a:prstGeom prst="rect">
            <a:avLst/>
          </a:prstGeom>
        </p:spPr>
      </p:pic>
      <p:pic>
        <p:nvPicPr>
          <p:cNvPr id="8" name="Grafik 7">
            <a:extLst>
              <a:ext uri="{FF2B5EF4-FFF2-40B4-BE49-F238E27FC236}">
                <a16:creationId xmlns:a16="http://schemas.microsoft.com/office/drawing/2014/main" id="{DD657691-D56B-8944-8313-714EA6DC19E7}"/>
              </a:ext>
            </a:extLst>
          </p:cNvPr>
          <p:cNvPicPr>
            <a:picLocks noChangeAspect="1"/>
          </p:cNvPicPr>
          <p:nvPr/>
        </p:nvPicPr>
        <p:blipFill>
          <a:blip r:embed="rId7"/>
          <a:stretch>
            <a:fillRect/>
          </a:stretch>
        </p:blipFill>
        <p:spPr>
          <a:xfrm>
            <a:off x="5878968" y="4137466"/>
            <a:ext cx="6530064" cy="2736304"/>
          </a:xfrm>
          <a:prstGeom prst="rect">
            <a:avLst/>
          </a:prstGeom>
        </p:spPr>
      </p:pic>
    </p:spTree>
    <p:extLst>
      <p:ext uri="{BB962C8B-B14F-4D97-AF65-F5344CB8AC3E}">
        <p14:creationId xmlns:p14="http://schemas.microsoft.com/office/powerpoint/2010/main" val="4056441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1033"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name="Slide59">
    <p:spTree>
      <p:nvGrpSpPr>
        <p:cNvPr id="1" name=""/>
        <p:cNvGrpSpPr/>
        <p:nvPr/>
      </p:nvGrpSpPr>
      <p:grpSpPr>
        <a:xfrm>
          <a:off x="0" y="0"/>
          <a:ext cx="0" cy="0"/>
          <a:chOff x="0" y="0"/>
          <a:chExt cx="0" cy="0"/>
        </a:xfrm>
      </p:grpSpPr>
      <p:pic>
        <p:nvPicPr>
          <p:cNvPr id="4" name="fm">
            <a:hlinkClick r:id="" action="ppaction://media"/>
            <a:extLst>
              <a:ext uri="{FF2B5EF4-FFF2-40B4-BE49-F238E27FC236}">
                <a16:creationId xmlns:a16="http://schemas.microsoft.com/office/drawing/2014/main" id="{010C07E7-F73F-B04C-8019-B127AA042753}"/>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2555776" y="332656"/>
            <a:ext cx="812800" cy="812800"/>
          </a:xfrm>
          <a:prstGeom prst="rect">
            <a:avLst/>
          </a:prstGeom>
        </p:spPr>
      </p:pic>
      <p:pic>
        <p:nvPicPr>
          <p:cNvPr id="7" name="FM1">
            <a:hlinkClick r:id="" action="ppaction://media"/>
            <a:extLst>
              <a:ext uri="{FF2B5EF4-FFF2-40B4-BE49-F238E27FC236}">
                <a16:creationId xmlns:a16="http://schemas.microsoft.com/office/drawing/2014/main" id="{726A05E1-57A5-6D40-A4DE-F2E1AB2B9B44}"/>
              </a:ext>
            </a:extLst>
          </p:cNvPr>
          <p:cNvPicPr>
            <a:picLocks noChangeAspect="1"/>
          </p:cNvPicPr>
          <p:nvPr>
            <a:audioFile r:link="rId4"/>
            <p:extLst>
              <p:ext uri="{DAA4B4D4-6D71-4841-9C94-3DE7FCFB9230}">
                <p14:media xmlns:p14="http://schemas.microsoft.com/office/powerpoint/2010/main" r:embed="rId3"/>
              </p:ext>
            </p:extLst>
          </p:nvPr>
        </p:nvPicPr>
        <p:blipFill>
          <a:blip r:embed="rId7"/>
          <a:stretch>
            <a:fillRect/>
          </a:stretch>
        </p:blipFill>
        <p:spPr>
          <a:xfrm>
            <a:off x="1325847" y="332656"/>
            <a:ext cx="812800" cy="812800"/>
          </a:xfrm>
          <a:prstGeom prst="rect">
            <a:avLst/>
          </a:prstGeom>
        </p:spPr>
      </p:pic>
      <p:pic>
        <p:nvPicPr>
          <p:cNvPr id="6" name="Grafik 5">
            <a:extLst>
              <a:ext uri="{FF2B5EF4-FFF2-40B4-BE49-F238E27FC236}">
                <a16:creationId xmlns:a16="http://schemas.microsoft.com/office/drawing/2014/main" id="{1DC71F21-4CF3-FC71-EB5E-ED6536276793}"/>
              </a:ext>
            </a:extLst>
          </p:cNvPr>
          <p:cNvPicPr>
            <a:picLocks noChangeAspect="1"/>
          </p:cNvPicPr>
          <p:nvPr/>
        </p:nvPicPr>
        <p:blipFill>
          <a:blip r:embed="rId8"/>
          <a:stretch>
            <a:fillRect/>
          </a:stretch>
        </p:blipFill>
        <p:spPr>
          <a:xfrm>
            <a:off x="1472759" y="1256835"/>
            <a:ext cx="6198481" cy="529195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034" fill="hold"/>
                                        <p:tgtEl>
                                          <p:spTgt spid="7"/>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7442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1" fill="hold" display="0">
                  <p:stCondLst>
                    <p:cond delay="indefinite"/>
                  </p:stCondLst>
                  <p:endCondLst>
                    <p:cond evt="onStopAudio" delay="0">
                      <p:tgtEl>
                        <p:sldTgt/>
                      </p:tgtEl>
                    </p:cond>
                  </p:endCondLst>
                </p:cTn>
                <p:tgtEl>
                  <p:spTgt spid="4"/>
                </p:tgtEl>
              </p:cMediaNode>
            </p:audio>
            <p:audio>
              <p:cMediaNode vol="80000">
                <p:cTn id="12" fill="hold" display="0">
                  <p:stCondLst>
                    <p:cond delay="indefinite"/>
                  </p:stCondLst>
                  <p:endCondLst>
                    <p:cond evt="onStopAudio" delay="0">
                      <p:tgtEl>
                        <p:sldTgt/>
                      </p:tgtEl>
                    </p:cond>
                  </p:endCondLst>
                </p:cTn>
                <p:tgtEl>
                  <p:spTgt spid="7"/>
                </p:tgtEl>
              </p:cMediaNode>
            </p:audio>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name="Slide61">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CAF39EC1-626C-F848-945B-11A03D088B80}"/>
              </a:ext>
            </a:extLst>
          </p:cNvPr>
          <p:cNvSpPr txBox="1"/>
          <p:nvPr/>
        </p:nvSpPr>
        <p:spPr>
          <a:xfrm>
            <a:off x="760212" y="760572"/>
            <a:ext cx="7741549" cy="345491"/>
          </a:xfrm>
          <a:prstGeom prst="rect">
            <a:avLst/>
          </a:prstGeom>
          <a:solidFill>
            <a:srgbClr val="FFFFFF"/>
          </a:solidFill>
          <a:ln cap="flat">
            <a:noFill/>
          </a:ln>
        </p:spPr>
        <p:txBody>
          <a:bodyPr vert="horz" wrap="square" lIns="0" tIns="0" rIns="0" bIns="0" anchor="t" anchorCtr="0" compatLnSpc="0">
            <a:normAutofit/>
          </a:bodyPr>
          <a:lstStyle/>
          <a:p>
            <a:pPr hangingPunct="0">
              <a:lnSpc>
                <a:spcPct val="85000"/>
              </a:lnSpc>
              <a:spcBef>
                <a:spcPts val="545"/>
              </a:spcBef>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effectLst>
                  <a:outerShdw dist="17961" dir="2700000">
                    <a:scrgbClr r="0" g="0" b="0"/>
                  </a:outerShdw>
                </a:effectLst>
                <a:latin typeface="Arial Regular"/>
                <a:ea typeface="ＭＳ Ｐゴシック" pitchFamily="2"/>
                <a:cs typeface="MS Gothic" pitchFamily="2"/>
              </a:rPr>
              <a:t>Frequenzmodulation</a:t>
            </a:r>
          </a:p>
        </p:txBody>
      </p:sp>
      <p:pic>
        <p:nvPicPr>
          <p:cNvPr id="3" name="Bild 5" descr="fm_mod3.gif">
            <a:extLst>
              <a:ext uri="{FF2B5EF4-FFF2-40B4-BE49-F238E27FC236}">
                <a16:creationId xmlns:a16="http://schemas.microsoft.com/office/drawing/2014/main" id="{D275393D-B199-8049-A31A-EFA2747E4D8D}"/>
              </a:ext>
            </a:extLst>
          </p:cNvPr>
          <p:cNvPicPr>
            <a:picLocks noChangeAspect="1"/>
          </p:cNvPicPr>
          <p:nvPr/>
        </p:nvPicPr>
        <p:blipFill>
          <a:blip r:embed="rId3"/>
          <a:srcRect/>
          <a:stretch>
            <a:fillRect/>
          </a:stretch>
        </p:blipFill>
        <p:spPr>
          <a:xfrm>
            <a:off x="652450" y="1338240"/>
            <a:ext cx="7718364" cy="5068727"/>
          </a:xfrm>
          <a:prstGeom prst="rect">
            <a:avLst/>
          </a:prstGeom>
          <a:noFill/>
          <a:ln cap="flat">
            <a:noFill/>
          </a:ln>
          <a:effectLst>
            <a:outerShdw dist="23040" dir="5400000" algn="tl">
              <a:srgbClr val="000000">
                <a:alpha val="35000"/>
              </a:srgbClr>
            </a:outerShdw>
          </a:effec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60">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9D9879F1-E8D2-1642-8EF2-97C666CEC775}"/>
              </a:ext>
            </a:extLst>
          </p:cNvPr>
          <p:cNvSpPr txBox="1"/>
          <p:nvPr/>
        </p:nvSpPr>
        <p:spPr>
          <a:xfrm>
            <a:off x="760212" y="760572"/>
            <a:ext cx="7741549" cy="345491"/>
          </a:xfrm>
          <a:prstGeom prst="rect">
            <a:avLst/>
          </a:prstGeom>
          <a:solidFill>
            <a:srgbClr val="FFFFFF"/>
          </a:solidFill>
          <a:ln cap="flat">
            <a:noFill/>
          </a:ln>
        </p:spPr>
        <p:txBody>
          <a:bodyPr vert="horz" wrap="square" lIns="0" tIns="0" rIns="0" bIns="0" anchor="t" anchorCtr="0" compatLnSpc="0">
            <a:normAutofit/>
          </a:bodyPr>
          <a:lstStyle/>
          <a:p>
            <a:pPr hangingPunct="0">
              <a:lnSpc>
                <a:spcPct val="85000"/>
              </a:lnSpc>
              <a:spcBef>
                <a:spcPts val="545"/>
              </a:spcBef>
              <a:tabLst>
                <a:tab pos="0" algn="l"/>
                <a:tab pos="406236" algn="l"/>
                <a:tab pos="813450" algn="l"/>
                <a:tab pos="1220993" algn="l"/>
                <a:tab pos="1628535" algn="l"/>
                <a:tab pos="2036077" algn="l"/>
                <a:tab pos="2443619" algn="l"/>
                <a:tab pos="2851160" algn="l"/>
                <a:tab pos="3258702" algn="l"/>
                <a:tab pos="3666243" algn="l"/>
                <a:tab pos="4073786" algn="l"/>
                <a:tab pos="4481328" algn="l"/>
                <a:tab pos="4888870" algn="l"/>
                <a:tab pos="5296412" algn="l"/>
                <a:tab pos="5703954" algn="l"/>
                <a:tab pos="6111496" algn="l"/>
                <a:tab pos="6519037" algn="l"/>
                <a:tab pos="6926579" algn="l"/>
                <a:tab pos="7334121" algn="l"/>
                <a:tab pos="7741663" algn="l"/>
                <a:tab pos="8149205" algn="l"/>
              </a:tabLst>
            </a:pPr>
            <a:r>
              <a:rPr lang="de-DE" sz="2177" dirty="0">
                <a:solidFill>
                  <a:srgbClr val="000000"/>
                </a:solidFill>
                <a:effectLst>
                  <a:outerShdw dist="17961" dir="2700000">
                    <a:scrgbClr r="0" g="0" b="0"/>
                  </a:outerShdw>
                </a:effectLst>
                <a:latin typeface="Arial Regular"/>
                <a:ea typeface="ＭＳ Ｐゴシック" pitchFamily="2"/>
                <a:cs typeface="MS Gothic" pitchFamily="2"/>
              </a:rPr>
              <a:t>Vergleich Amplitudenmodulation - Frequenzmodulation</a:t>
            </a:r>
          </a:p>
        </p:txBody>
      </p:sp>
      <p:pic>
        <p:nvPicPr>
          <p:cNvPr id="5" name="Grafik 4">
            <a:extLst>
              <a:ext uri="{FF2B5EF4-FFF2-40B4-BE49-F238E27FC236}">
                <a16:creationId xmlns:a16="http://schemas.microsoft.com/office/drawing/2014/main" id="{EDB73C72-4AE0-C837-126F-8D0DA07725CF}"/>
              </a:ext>
            </a:extLst>
          </p:cNvPr>
          <p:cNvPicPr>
            <a:picLocks noChangeAspect="1"/>
          </p:cNvPicPr>
          <p:nvPr/>
        </p:nvPicPr>
        <p:blipFill>
          <a:blip r:embed="rId3"/>
          <a:stretch>
            <a:fillRect/>
          </a:stretch>
        </p:blipFill>
        <p:spPr>
          <a:xfrm>
            <a:off x="1259632" y="1412776"/>
            <a:ext cx="6186927" cy="4833537"/>
          </a:xfrm>
          <a:prstGeom prst="rect">
            <a:avLst/>
          </a:prstGeom>
        </p:spPr>
      </p:pic>
      <p:sp>
        <p:nvSpPr>
          <p:cNvPr id="6" name="Textfeld 5">
            <a:extLst>
              <a:ext uri="{FF2B5EF4-FFF2-40B4-BE49-F238E27FC236}">
                <a16:creationId xmlns:a16="http://schemas.microsoft.com/office/drawing/2014/main" id="{99A63CF6-E889-D858-6094-9B82B118419A}"/>
              </a:ext>
            </a:extLst>
          </p:cNvPr>
          <p:cNvSpPr txBox="1"/>
          <p:nvPr/>
        </p:nvSpPr>
        <p:spPr>
          <a:xfrm>
            <a:off x="5677862" y="1116635"/>
            <a:ext cx="1759777" cy="343620"/>
          </a:xfrm>
          <a:prstGeom prst="rect">
            <a:avLst/>
          </a:prstGeom>
          <a:noFill/>
        </p:spPr>
        <p:txBody>
          <a:bodyPr wrap="none" rtlCol="0">
            <a:spAutoFit/>
          </a:bodyPr>
          <a:lstStyle/>
          <a:p>
            <a:r>
              <a:rPr lang="de-DE" dirty="0"/>
              <a:t>s. auch PD Tutorial</a:t>
            </a:r>
          </a:p>
        </p:txBody>
      </p:sp>
    </p:spTree>
  </p:cSld>
  <p:clrMapOvr>
    <a:masterClrMapping/>
  </p:clrMapOvr>
</p:sld>
</file>

<file path=ppt/theme/theme1.xml><?xml version="1.0" encoding="utf-8"?>
<a:theme xmlns:a="http://schemas.openxmlformats.org/drawingml/2006/main" name="Office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4486</Words>
  <Application>Microsoft Macintosh PowerPoint</Application>
  <PresentationFormat>Bildschirmpräsentation (4:3)</PresentationFormat>
  <Paragraphs>263</Paragraphs>
  <Slides>67</Slides>
  <Notes>66</Notes>
  <HiddenSlides>0</HiddenSlides>
  <MMClips>19</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67</vt:i4>
      </vt:variant>
    </vt:vector>
  </HeadingPairs>
  <TitlesOfParts>
    <vt:vector size="73" baseType="lpstr">
      <vt:lpstr>-webkit-standard</vt:lpstr>
      <vt:lpstr>Arial</vt:lpstr>
      <vt:lpstr>Arial Regular</vt:lpstr>
      <vt:lpstr>Studio Pro</vt:lpstr>
      <vt:lpstr>Studio Pro Bold</vt:lpstr>
      <vt:lpstr>Office Design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Analogien: Film - Elektronische Musik</dc:title>
  <dc:creator>Achim Bornhoeft</dc:creator>
  <cp:lastModifiedBy>Achim BORNHÖFT</cp:lastModifiedBy>
  <cp:revision>400</cp:revision>
  <cp:lastPrinted>1601-01-01T00:00:00Z</cp:lastPrinted>
  <dcterms:created xsi:type="dcterms:W3CDTF">2010-10-14T08:13:50Z</dcterms:created>
  <dcterms:modified xsi:type="dcterms:W3CDTF">2026-10-13T12:50:28Z</dcterms:modified>
</cp:coreProperties>
</file>